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68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59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，我们的期末汇报项目是智能物流小车。这个项目的目标不是只做一台能动的小车，而是把全向底盘、视觉识别、二维码任务、机械臂动作组和上位机调度整合成一个小型智能搬运系统。今天的汇报会尽量用产品发布的方式讲清楚它的价值，同时也如实说明哪些部分已经可用，哪些部分还需要继续联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接下来我会按一条完整的技术链路来展开：先说明项目定位，再讲系统架构，然后进入关键技术原理。中间部分会重点解释麦克纳姆轮底盘、Modbus 电机通信、双串口调度、视觉与二维码任务识别。最后回到成果、问题、展望和可能的商业应用，形成从工程实现到应用价值的闭环。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先看系统架构。我们把整车拆成三层：树莓派负责决策和任务调度，底盘 STM32 负责实时运动控制，机械臂 STM32 负责抓取、放置和复位动作组。这样拆分的好处是，上位机不用直接处理所有实时细节，两个 STM32 也能在各自边界内保持稳定，系统复杂度被拆成了更可控的模块。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硬件平台的组织原则是按职责分工，而不是简单堆叠器件。树莓派四 B 和摄像头承担视觉识别、二维码扫描和上位机调度；STM32F103C8T6 负责底盘控制、传感器接口和电机指令；四个 ZDT-X42 电机通过 RS485 通信，配合麦克纳姆轮实现横移、旋转和全向对位。JY61P IMU 目前为后续航向闭环提供基础数据。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整车运行逻辑看，二维码解决的是“搬什么”和“按什么顺序搬”的问题，视觉识别解决的是“目标在哪里”的问题。任务被解析后，树莓派触发底盘移动到抓取点，再让机械臂执行抓取动作组；随后底盘移动到投放区，机械臂执行放置动作组。这个流程让搬运任务从感知、决策到执行形成了清晰链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底盘控制的核心，是把一个抽象速度指令转换成四个电机的同步运动。软件层面通过 Mecanum_SetVelocity 输入 vx、vy 和 wz，再由麦轮逆运动学计算四个轮子的目标速度；随后进行转速限幅和加速度限制，避免指令变化过快。最后由 MotorManager 封装电机命令，通过 ZDT-X42 的 Modbus 帧下发到 RS485 总线。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在整车协同里，树莓派相当于调度中心，但它不直接承担底盘和机械臂的实时控制。一路串口发给底盘 STM32，内容包括速度、停止、路线和状态查询；另一路串口发给机械臂 STM32，内容包括动作组编号、启动、停止和复位。当前口径上，相关代码和脚本已经具备，但完整链路仍需要实车联调验证，所以这里不把它描述成已经完全闭环。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视觉与任务识别这部分，我们采用的是二维码和 YOLO 的组合思路。二维码用于解析任务或搬运顺序，YOLO 用于检测不同颜色的球和桶，然后树莓派把识别结果和任务进行匹配。需要强调的是，目前资料中没有可验证的模型准确率和训练集信息，所以汇报里只讲流程和接口，不虚构识别指标，相关截图和类别表属于后续可补充素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这个项目里真正有价值的地方，也包括对问题的拆解和收敛。比如 USART 分配错误通过工程审查迁移到与 PCB 一致的 USART1；RS485 只发不收的问题，则先采用开环控制策略进行工程取舍。路线误差、机械臂实时控制复杂、文档和临时代码残留这些问题，也分别对应了低速开环兜底、动作组固化和统一资料口径的处理方式。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成果总览看，底盘运动控制是目前成熟度最高的部分，完成度评估为百分之九十。传感器系统、通信链路、路线执行和功能调试也都有阶段性成果，但它们的状态并不完全相同：有的是可用能力，有的是代码就绪，有的仍然需要实车联调。这里的百分比来自项目资料评估，用来表达阶段成熟度，不代表新增的实测性能指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接下来最重要的不是继续堆功能，而是让系统从可运行走向可闭环。P0 阶段先补齐整车联动流程图、机械臂动作组编号和 YOLO 展示素材，保证汇报与验收有清晰证据。P1 阶段统一树莓派与 STM32 的串口协议，并恢复 IMU yaw 闭环；P2 阶段再恢复测距安全或替代传感方案，建立完整任务状态机。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应用价值。智能物流小车可以作为教育实训平台，覆盖嵌入式、视觉、运动控制、机械结构与系统集成；也可以用于轻量仓储试验，验证固定路线和定点搬运。进一步扩展后，它还可以成为工业辅助中的视觉定位、扫码分拣和柔性投放单元，也可以服务科研竞赛中的导航闭环、机器人抓取和调度算法验证。我们的结论是，真实记录当前边界，持续迭代，才能让这台小车从课程项目逐步走向可用系统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95312" y="884635"/>
            <a:ext cx="5772000" cy="5186451"/>
            <a:chOff x="595312" y="884635"/>
            <a:chExt cx="5772000" cy="5186451"/>
          </a:xfrm>
        </p:grpSpPr>
        <p:sp>
          <p:nvSpPr>
            <p:cNvPr id="4" name="TextBox 4"/>
            <p:cNvSpPr txBox="1"/>
            <p:nvPr/>
          </p:nvSpPr>
          <p:spPr>
            <a:xfrm>
              <a:off x="595312" y="884635"/>
              <a:ext cx="22570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个性化实践项目期末汇报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41390" y="5824865"/>
              <a:ext cx="1025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2026.07.0</a:t>
              </a:r>
              <a:r>
                <a:rPr lang="en-US" altLang="zh-CN" sz="160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7</a:t>
              </a:r>
              <a:endParaRPr lang="zh-CN" sz="1600" b="1" dirty="0">
                <a:solidFill>
                  <a:srgbClr val="6E6E7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1495" y="1145858"/>
            <a:ext cx="5669911" cy="1568767"/>
            <a:chOff x="531495" y="1145858"/>
            <a:chExt cx="5669911" cy="1568767"/>
          </a:xfrm>
        </p:grpSpPr>
        <p:sp>
          <p:nvSpPr>
            <p:cNvPr id="7" name="TextBox 7"/>
            <p:cNvSpPr txBox="1"/>
            <p:nvPr/>
          </p:nvSpPr>
          <p:spPr>
            <a:xfrm>
              <a:off x="531495" y="1145858"/>
              <a:ext cx="5322856" cy="1249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1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智能物流小车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2935" y="2132648"/>
              <a:ext cx="55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基于 STM32、树莓派与机械臂的智能搬运系统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2667000"/>
              <a:ext cx="3238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1E3"/>
                </a:gs>
                <a:gs pos="100000">
                  <a:srgbClr val="34C759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" name="Rectangle 26">
            <a:extLst>
              <a:ext uri="{FF2B5EF4-FFF2-40B4-BE49-F238E27FC236}">
                <a16:creationId xmlns:a16="http://schemas.microsoft.com/office/drawing/2014/main" id="{4A772A8E-6895-A350-07B3-0F7ED7C10C23}"/>
              </a:ext>
            </a:extLst>
          </p:cNvPr>
          <p:cNvSpPr/>
          <p:nvPr/>
        </p:nvSpPr>
        <p:spPr>
          <a:xfrm>
            <a:off x="2655923" y="3202183"/>
            <a:ext cx="1512493" cy="4870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 26">
            <a:extLst>
              <a:ext uri="{FF2B5EF4-FFF2-40B4-BE49-F238E27FC236}">
                <a16:creationId xmlns:a16="http://schemas.microsoft.com/office/drawing/2014/main" id="{D624F5E2-AE53-1BBE-BCCD-0C336FCC75CE}"/>
              </a:ext>
            </a:extLst>
          </p:cNvPr>
          <p:cNvSpPr/>
          <p:nvPr/>
        </p:nvSpPr>
        <p:spPr>
          <a:xfrm>
            <a:off x="4664147" y="3202181"/>
            <a:ext cx="1512493" cy="4870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Group 32"/>
          <p:cNvGrpSpPr/>
          <p:nvPr/>
        </p:nvGrpSpPr>
        <p:grpSpPr>
          <a:xfrm>
            <a:off x="647699" y="3202183"/>
            <a:ext cx="5413895" cy="487051"/>
            <a:chOff x="647699" y="3030733"/>
            <a:chExt cx="5413895" cy="487051"/>
          </a:xfrm>
        </p:grpSpPr>
        <p:sp>
          <p:nvSpPr>
            <p:cNvPr id="26" name="Rectangle 26"/>
            <p:cNvSpPr/>
            <p:nvPr/>
          </p:nvSpPr>
          <p:spPr>
            <a:xfrm>
              <a:off x="647699" y="3030733"/>
              <a:ext cx="1512493" cy="48705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005" y="3120369"/>
              <a:ext cx="102592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全向底盘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99208" y="3103661"/>
              <a:ext cx="102592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视觉识别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79192" y="3120369"/>
              <a:ext cx="1282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动作组搬运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202257" y="62274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4F834BB2-07E7-ACFE-40A6-29B0CA6FD6D8}"/>
              </a:ext>
            </a:extLst>
          </p:cNvPr>
          <p:cNvSpPr txBox="1"/>
          <p:nvPr/>
        </p:nvSpPr>
        <p:spPr>
          <a:xfrm>
            <a:off x="3220615" y="5006635"/>
            <a:ext cx="574516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6E6E73"/>
                </a:solidFill>
                <a:latin typeface="Arial"/>
                <a:ea typeface="Microsoft YaHei"/>
                <a:cs typeface="Arial"/>
              </a:rPr>
              <a:t>小组成员：陈聪荣、刘传硕、李世航</a:t>
            </a:r>
            <a:endParaRPr lang="zh-CN" sz="2800" b="1" dirty="0">
              <a:solidFill>
                <a:srgbClr val="6E6E73"/>
              </a:solidFill>
              <a:latin typeface="Arial"/>
              <a:ea typeface="Microsoft YaHei"/>
              <a:cs typeface="Arial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BFE3240-AC1A-65B8-774B-81F62FC5D9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r="59036"/>
          <a:stretch>
            <a:fillRect/>
          </a:stretch>
        </p:blipFill>
        <p:spPr>
          <a:xfrm>
            <a:off x="7819792" y="367967"/>
            <a:ext cx="2953154" cy="4055141"/>
          </a:xfrm>
          <a:prstGeom prst="rect">
            <a:avLst/>
          </a:prstGeom>
        </p:spPr>
      </p:pic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57E596DF-381D-56BD-0BD9-22C0A6686D8A}"/>
              </a:ext>
            </a:extLst>
          </p:cNvPr>
          <p:cNvSpPr/>
          <p:nvPr/>
        </p:nvSpPr>
        <p:spPr>
          <a:xfrm>
            <a:off x="7819792" y="1568605"/>
            <a:ext cx="1285677" cy="2854504"/>
          </a:xfrm>
          <a:prstGeom prst="triangle">
            <a:avLst>
              <a:gd name="adj" fmla="val 0"/>
            </a:avLst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等腰三角形 50">
            <a:extLst>
              <a:ext uri="{FF2B5EF4-FFF2-40B4-BE49-F238E27FC236}">
                <a16:creationId xmlns:a16="http://schemas.microsoft.com/office/drawing/2014/main" id="{E6FC17EA-7C41-7BEA-7233-306466316F27}"/>
              </a:ext>
            </a:extLst>
          </p:cNvPr>
          <p:cNvSpPr/>
          <p:nvPr/>
        </p:nvSpPr>
        <p:spPr>
          <a:xfrm>
            <a:off x="7819791" y="367966"/>
            <a:ext cx="1716285" cy="4055142"/>
          </a:xfrm>
          <a:prstGeom prst="triangle">
            <a:avLst>
              <a:gd name="adj" fmla="val 0"/>
            </a:avLst>
          </a:prstGeom>
          <a:gradFill flip="none" rotWithShape="1">
            <a:gsLst>
              <a:gs pos="46000">
                <a:schemeClr val="accent1">
                  <a:tint val="100000"/>
                  <a:shade val="100000"/>
                  <a:satMod val="130000"/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51485"/>
            <a:ext cx="7629525" cy="722471"/>
            <a:chOff x="575310" y="451485"/>
            <a:chExt cx="7629525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5148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从一台能跑的小车，到一套可扩展的搬运系统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45356"/>
              <a:ext cx="44391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本次汇报按产品发布节奏展开：定位、架构、原理、成果、应用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14425" y="1685925"/>
            <a:ext cx="9610725" cy="4562475"/>
            <a:chOff x="1114425" y="1685925"/>
            <a:chExt cx="9610725" cy="4562475"/>
          </a:xfrm>
        </p:grpSpPr>
        <p:sp>
          <p:nvSpPr>
            <p:cNvPr id="10" name="Line 10"/>
            <p:cNvSpPr/>
            <p:nvPr/>
          </p:nvSpPr>
          <p:spPr>
            <a:xfrm>
              <a:off x="1352550" y="169545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0071E3"/>
                  </a:gs>
                  <a:gs pos="100000">
                    <a:srgbClr val="34C759"/>
                  </a:gs>
                </a:gsLst>
                <a:lin ang="5400000" scaled="1"/>
              </a:gra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114425" y="1685925"/>
              <a:ext cx="9610725" cy="600075"/>
              <a:chOff x="1114425" y="1685925"/>
              <a:chExt cx="9610725" cy="600075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114425" y="1685925"/>
                <a:ext cx="476250" cy="476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65901" y="1870710"/>
                <a:ext cx="17329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71E3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44040" y="16916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项目定位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51660" y="2042160"/>
                <a:ext cx="46710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面向物流搬运任务，说明项目要解决什么问题、当前做到哪一步。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9601200" y="177165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09500" y="1866424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背景与目标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114425" y="2676525"/>
              <a:ext cx="9610725" cy="600075"/>
              <a:chOff x="1114425" y="2676525"/>
              <a:chExt cx="9610725" cy="60007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114425" y="2676525"/>
                <a:ext cx="476250" cy="476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44898" y="2861310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71E3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44040" y="26822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系统架构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51660" y="3032760"/>
                <a:ext cx="39989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树莓派上位机、底盘 STM32、机械臂 STM32 三层分工。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601200" y="276225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809500" y="2857024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分布式控制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114425" y="3667125"/>
              <a:ext cx="9610725" cy="600075"/>
              <a:chOff x="1114425" y="3667125"/>
              <a:chExt cx="9610725" cy="6000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114425" y="3667125"/>
                <a:ext cx="476250" cy="476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44898" y="3851910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71E3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44040" y="36728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关键技术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51660" y="4023360"/>
                <a:ext cx="44790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麦轮运动学、Modbus 电机通信、视觉识别、二维码和动作组。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9601200" y="375285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77758" y="38476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技术原理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114425" y="4657725"/>
              <a:ext cx="9610725" cy="600075"/>
              <a:chOff x="1114425" y="4657725"/>
              <a:chExt cx="9610725" cy="60007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114425" y="4657725"/>
                <a:ext cx="476250" cy="476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44898" y="4842510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4C759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844040" y="46634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当前成果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51660" y="5013960"/>
                <a:ext cx="37109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固定路线可演示，模块化代码与联调脚本形成基础。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601200" y="474345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77758" y="48382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真实口径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114425" y="5648325"/>
              <a:ext cx="9610725" cy="600075"/>
              <a:chOff x="1114425" y="5648325"/>
              <a:chExt cx="9610725" cy="600075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114425" y="5648325"/>
                <a:ext cx="476250" cy="476250"/>
              </a:xfrm>
              <a:prstGeom prst="ellipse">
                <a:avLst/>
              </a:prstGeom>
              <a:solidFill>
                <a:srgbClr val="34C759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244898" y="5833110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844040" y="565404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展望与应用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851660" y="6004560"/>
                <a:ext cx="37109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闭环增强、任务状态机、教育实训与轻量仓储试验。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9601200" y="573405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877758" y="582882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未来价值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1172254" y="64941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6117336" cy="722471"/>
            <a:chOff x="575310" y="413385"/>
            <a:chExt cx="6117336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61173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三层分工，让复杂任务拆成可控模块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57067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树莓派负责“看见与决策”，两块 STM32 分别负责“底盘实时控制”和“机械动作执行”。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1447800"/>
            <a:ext cx="9353550" cy="1162050"/>
            <a:chOff x="876300" y="1447800"/>
            <a:chExt cx="9353550" cy="1162050"/>
          </a:xfrm>
        </p:grpSpPr>
        <p:sp>
          <p:nvSpPr>
            <p:cNvPr id="6" name="Rectangle 6"/>
            <p:cNvSpPr/>
            <p:nvPr/>
          </p:nvSpPr>
          <p:spPr>
            <a:xfrm>
              <a:off x="876300" y="1447800"/>
              <a:ext cx="9353550" cy="1162050"/>
            </a:xfrm>
            <a:prstGeom prst="roundRect">
              <a:avLst>
                <a:gd name="adj" fmla="val 19672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876300" y="1447800"/>
              <a:ext cx="114300" cy="1162050"/>
            </a:xfrm>
            <a:prstGeom prst="roundRect">
              <a:avLst>
                <a:gd name="adj" fmla="val 50000"/>
              </a:avLst>
            </a:prstGeom>
            <a:solidFill>
              <a:srgbClr val="0071E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314450" y="1847850"/>
              <a:ext cx="342900" cy="342900"/>
              <a:chOff x="1314450" y="1847850"/>
              <a:chExt cx="342900" cy="3429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352550" y="18859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47650" y="0"/>
                    </a:lnTo>
                    <a:cubicBezTo>
                      <a:pt x="258171" y="0"/>
                      <a:pt x="266700" y="8529"/>
                      <a:pt x="266700" y="19050"/>
                    </a:cubicBezTo>
                    <a:lnTo>
                      <a:pt x="266700" y="247650"/>
                    </a:lnTo>
                    <a:cubicBezTo>
                      <a:pt x="266700" y="258171"/>
                      <a:pt x="258171" y="266700"/>
                      <a:pt x="247650" y="266700"/>
                    </a:cubicBezTo>
                    <a:lnTo>
                      <a:pt x="19050" y="266700"/>
                    </a:lnTo>
                    <a:cubicBezTo>
                      <a:pt x="8529" y="266700"/>
                      <a:pt x="0" y="258171"/>
                      <a:pt x="0" y="2476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428750" y="1962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314450" y="19812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314450" y="2057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447800" y="18478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524000" y="18478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619250" y="19812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619250" y="2057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524000" y="2152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447800" y="2152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939290" y="1653540"/>
              <a:ext cx="184774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上位机 / 决策层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5005" y="2025968"/>
              <a:ext cx="58670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Raspberry Pi 4B：YOLO 视觉识别、二维码扫描、任务调度、双串口管理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0" y="1790700"/>
              <a:ext cx="1809750" cy="43815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0082" y="1946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任务级调度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6300" y="2914650"/>
            <a:ext cx="9353550" cy="1162050"/>
            <a:chOff x="876300" y="2914650"/>
            <a:chExt cx="9353550" cy="1162050"/>
          </a:xfrm>
        </p:grpSpPr>
        <p:sp>
          <p:nvSpPr>
            <p:cNvPr id="24" name="Rectangle 24"/>
            <p:cNvSpPr/>
            <p:nvPr/>
          </p:nvSpPr>
          <p:spPr>
            <a:xfrm>
              <a:off x="876300" y="2914650"/>
              <a:ext cx="9353550" cy="1162050"/>
            </a:xfrm>
            <a:prstGeom prst="roundRect">
              <a:avLst>
                <a:gd name="adj" fmla="val 19672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6300" y="2914650"/>
              <a:ext cx="114300" cy="1162050"/>
            </a:xfrm>
            <a:prstGeom prst="roundRect">
              <a:avLst>
                <a:gd name="adj" fmla="val 50000"/>
              </a:avLst>
            </a:prstGeom>
            <a:solidFill>
              <a:srgbClr val="1D1D1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295400" y="3352800"/>
              <a:ext cx="381000" cy="266700"/>
              <a:chOff x="1295400" y="3352800"/>
              <a:chExt cx="381000" cy="2667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352550" y="33528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1295400" y="3486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571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1619250" y="3486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1447800" y="34480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0"/>
                    </a:lnTo>
                    <a:lnTo>
                      <a:pt x="38100" y="38100"/>
                    </a:lnTo>
                    <a:lnTo>
                      <a:pt x="76200" y="0"/>
                    </a:ln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939290" y="31203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实时底盘层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5005" y="3492818"/>
              <a:ext cx="6047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底盘 STM32：麦轮运动控制、ZDT-X42 电机通信、固定路线执行、状态接口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3257550"/>
              <a:ext cx="1809750" cy="43815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7265" y="3413760"/>
              <a:ext cx="1156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20ms 控制周期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76300" y="4381500"/>
            <a:ext cx="9353550" cy="1162050"/>
            <a:chOff x="876300" y="4381500"/>
            <a:chExt cx="9353550" cy="1162050"/>
          </a:xfrm>
        </p:grpSpPr>
        <p:sp>
          <p:nvSpPr>
            <p:cNvPr id="36" name="Rectangle 36"/>
            <p:cNvSpPr/>
            <p:nvPr/>
          </p:nvSpPr>
          <p:spPr>
            <a:xfrm>
              <a:off x="876300" y="4381500"/>
              <a:ext cx="9353550" cy="1162050"/>
            </a:xfrm>
            <a:prstGeom prst="roundRect">
              <a:avLst>
                <a:gd name="adj" fmla="val 19672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6300" y="4381500"/>
              <a:ext cx="114300" cy="1162050"/>
            </a:xfrm>
            <a:prstGeom prst="roundRect">
              <a:avLst>
                <a:gd name="adj" fmla="val 50000"/>
              </a:avLst>
            </a:pr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352550" y="4762500"/>
              <a:ext cx="266700" cy="361950"/>
              <a:chOff x="1352550" y="4762500"/>
              <a:chExt cx="266700" cy="3619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371600" y="480060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14300"/>
                    </a:lnTo>
                    <a:cubicBezTo>
                      <a:pt x="228600" y="135342"/>
                      <a:pt x="211542" y="152400"/>
                      <a:pt x="1905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1485900" y="4762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1428750" y="49530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1543050" y="49530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1352550" y="49911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1543050" y="49911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0"/>
                    </a:move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1428750" y="50673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1447800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1524000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939290" y="45872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机械执行层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45005" y="4959668"/>
              <a:ext cx="54799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机械臂 STM32：预设抓取、放置、复位动作组，接收树莓派串口触发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810500" y="4724400"/>
              <a:ext cx="1809750" cy="43815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0082" y="48806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动作组复用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496550" y="1447800"/>
            <a:ext cx="1085850" cy="4095750"/>
            <a:chOff x="10496550" y="1447800"/>
            <a:chExt cx="1085850" cy="4095750"/>
          </a:xfrm>
        </p:grpSpPr>
        <p:sp>
          <p:nvSpPr>
            <p:cNvPr id="53" name="Rectangle 53"/>
            <p:cNvSpPr/>
            <p:nvPr/>
          </p:nvSpPr>
          <p:spPr>
            <a:xfrm>
              <a:off x="10496550" y="1447800"/>
              <a:ext cx="1085850" cy="4095750"/>
            </a:xfrm>
            <a:prstGeom prst="roundRect">
              <a:avLst>
                <a:gd name="adj" fmla="val 2807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88193" y="18516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整车能力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1039475" y="2247900"/>
              <a:ext cx="9525" cy="2562225"/>
            </a:xfrm>
            <a:custGeom>
              <a:avLst/>
              <a:gdLst/>
              <a:ahLst/>
              <a:cxnLst/>
              <a:rect l="l" t="t" r="r" b="b"/>
              <a:pathLst>
                <a:path w="9525" h="2562225">
                  <a:moveTo>
                    <a:pt x="0" y="0"/>
                  </a:moveTo>
                  <a:lnTo>
                    <a:pt x="0" y="2562225"/>
                  </a:lnTo>
                </a:path>
              </a:pathLst>
            </a:custGeom>
            <a:noFill/>
            <a:ln w="9525">
              <a:solidFill>
                <a:srgbClr val="FFFFFF">
                  <a:alpha val="22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67668" y="2602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67668" y="31170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67668" y="36314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抓取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67668" y="41457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67668" y="46601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投放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0" y="2609850"/>
            <a:ext cx="1" cy="1752600"/>
            <a:chOff x="5524500" y="2609850"/>
            <a:chExt cx="1" cy="1752600"/>
          </a:xfrm>
        </p:grpSpPr>
        <p:sp>
          <p:nvSpPr>
            <p:cNvPr id="62" name="Line 62"/>
            <p:cNvSpPr/>
            <p:nvPr/>
          </p:nvSpPr>
          <p:spPr>
            <a:xfrm>
              <a:off x="5524500" y="2609850"/>
              <a:ext cx="1" cy="285750"/>
            </a:xfrm>
            <a:prstGeom prst="line">
              <a:avLst/>
            </a:prstGeom>
            <a:noFill/>
            <a:ln w="28575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3"/>
            <p:cNvSpPr/>
            <p:nvPr/>
          </p:nvSpPr>
          <p:spPr>
            <a:xfrm>
              <a:off x="5524500" y="4076700"/>
              <a:ext cx="1" cy="285750"/>
            </a:xfrm>
            <a:prstGeom prst="line">
              <a:avLst/>
            </a:prstGeom>
            <a:noFill/>
            <a:ln w="28575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5" grpId="0"/>
      <p:bldP spid="52" grpId="0"/>
      <p:bldP spid="61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5361242" cy="722471"/>
            <a:chOff x="575310" y="413385"/>
            <a:chExt cx="5361242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53612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硬件不是堆叠，而是按职责组织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4379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每个模块都对应一个系统任务：感知、决策、运动、执行或扩展。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390650"/>
            <a:ext cx="10972800" cy="4457700"/>
            <a:chOff x="609600" y="1390650"/>
            <a:chExt cx="1097280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390650"/>
              <a:ext cx="10972800" cy="4457700"/>
            </a:xfrm>
            <a:prstGeom prst="roundRect">
              <a:avLst>
                <a:gd name="adj" fmla="val 641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66946" y="1623060"/>
              <a:ext cx="34581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SMART LOGISTICS CART HARDWARE PLATFORM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0600" y="2114550"/>
            <a:ext cx="1962150" cy="2781300"/>
            <a:chOff x="990600" y="2114550"/>
            <a:chExt cx="1962150" cy="2781300"/>
          </a:xfrm>
        </p:grpSpPr>
        <p:sp>
          <p:nvSpPr>
            <p:cNvPr id="9" name="Rectangle 9"/>
            <p:cNvSpPr/>
            <p:nvPr/>
          </p:nvSpPr>
          <p:spPr>
            <a:xfrm>
              <a:off x="990600" y="2114550"/>
              <a:ext cx="1962150" cy="2781300"/>
            </a:xfrm>
            <a:prstGeom prst="roundRect">
              <a:avLst>
                <a:gd name="adj" fmla="val 1068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328738" y="2452688"/>
              <a:ext cx="314324" cy="314325"/>
              <a:chOff x="1328738" y="2452688"/>
              <a:chExt cx="314324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363662" y="2487612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7462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227013" y="0"/>
                    </a:lnTo>
                    <a:cubicBezTo>
                      <a:pt x="236657" y="0"/>
                      <a:pt x="244475" y="7818"/>
                      <a:pt x="244475" y="17462"/>
                    </a:cubicBezTo>
                    <a:lnTo>
                      <a:pt x="244475" y="227012"/>
                    </a:lnTo>
                    <a:cubicBezTo>
                      <a:pt x="244475" y="236657"/>
                      <a:pt x="236657" y="244475"/>
                      <a:pt x="227013" y="244475"/>
                    </a:cubicBezTo>
                    <a:lnTo>
                      <a:pt x="17463" y="244475"/>
                    </a:lnTo>
                    <a:cubicBezTo>
                      <a:pt x="7818" y="244475"/>
                      <a:pt x="0" y="236657"/>
                      <a:pt x="0" y="2270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433512" y="255746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04775"/>
                    </a:lnTo>
                    <a:lnTo>
                      <a:pt x="0" y="1047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328738" y="25749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328738" y="26447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450975" y="245268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520825" y="245268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608137" y="25749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608137" y="26447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520825" y="273208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450975" y="273208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255395" y="2965132"/>
              <a:ext cx="10584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树莓派 4B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62062" y="33456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摄像头输入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62062" y="3593306"/>
              <a:ext cx="913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YOLO 与扫码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62062" y="38409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任务级调度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2062" y="40886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双串口控制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276350" y="4438650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37871" y="452247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上位机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43250" y="2114550"/>
            <a:ext cx="1962150" cy="2781300"/>
            <a:chOff x="3143250" y="2114550"/>
            <a:chExt cx="1962150" cy="2781300"/>
          </a:xfrm>
        </p:grpSpPr>
        <p:sp>
          <p:nvSpPr>
            <p:cNvPr id="29" name="Rectangle 29"/>
            <p:cNvSpPr/>
            <p:nvPr/>
          </p:nvSpPr>
          <p:spPr>
            <a:xfrm>
              <a:off x="3143250" y="2114550"/>
              <a:ext cx="1962150" cy="2781300"/>
            </a:xfrm>
            <a:prstGeom prst="roundRect">
              <a:avLst>
                <a:gd name="adj" fmla="val 1068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3463925" y="2487612"/>
              <a:ext cx="349251" cy="244475"/>
              <a:chOff x="3463925" y="2487612"/>
              <a:chExt cx="349251" cy="2444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3516312" y="2487612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22237"/>
                    </a:moveTo>
                    <a:cubicBezTo>
                      <a:pt x="0" y="189747"/>
                      <a:pt x="54728" y="244475"/>
                      <a:pt x="122237" y="244475"/>
                    </a:cubicBezTo>
                    <a:cubicBezTo>
                      <a:pt x="189747" y="244475"/>
                      <a:pt x="244475" y="189747"/>
                      <a:pt x="244475" y="122237"/>
                    </a:cubicBezTo>
                    <a:cubicBezTo>
                      <a:pt x="244475" y="54728"/>
                      <a:pt x="189747" y="0"/>
                      <a:pt x="122237" y="0"/>
                    </a:cubicBezTo>
                    <a:cubicBezTo>
                      <a:pt x="54728" y="0"/>
                      <a:pt x="0" y="54728"/>
                      <a:pt x="0" y="122237"/>
                    </a:cubicBez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3463925" y="2609850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5238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760788" y="2609850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603625" y="257492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69850"/>
                    </a:moveTo>
                    <a:lnTo>
                      <a:pt x="0" y="0"/>
                    </a:lnTo>
                    <a:lnTo>
                      <a:pt x="34925" y="34925"/>
                    </a:lnTo>
                    <a:lnTo>
                      <a:pt x="69850" y="0"/>
                    </a:lnTo>
                    <a:lnTo>
                      <a:pt x="69850" y="6985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408045" y="2965132"/>
              <a:ext cx="12548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底盘 STM32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14712" y="3345656"/>
              <a:ext cx="1093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STM32F103C8T6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4712" y="35933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麦轮运动学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14712" y="38409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电机指令下发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14712" y="4088606"/>
              <a:ext cx="913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IMU 接口保留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429000" y="4438650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EEEE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27514" y="4522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实时控制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95900" y="2114550"/>
            <a:ext cx="1962150" cy="2781300"/>
            <a:chOff x="5295900" y="2114550"/>
            <a:chExt cx="1962150" cy="2781300"/>
          </a:xfrm>
        </p:grpSpPr>
        <p:sp>
          <p:nvSpPr>
            <p:cNvPr id="43" name="Rectangle 43"/>
            <p:cNvSpPr/>
            <p:nvPr/>
          </p:nvSpPr>
          <p:spPr>
            <a:xfrm>
              <a:off x="5295900" y="2114550"/>
              <a:ext cx="1962150" cy="2781300"/>
            </a:xfrm>
            <a:prstGeom prst="roundRect">
              <a:avLst>
                <a:gd name="adj" fmla="val 1068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5634038" y="2452688"/>
              <a:ext cx="314324" cy="314324"/>
              <a:chOff x="5634038" y="2452688"/>
              <a:chExt cx="314324" cy="3143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34038" y="269716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878512" y="245268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4"/>
                      <a:pt x="15636" y="69850"/>
                      <a:pt x="34925" y="69850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68962" y="2487612"/>
                <a:ext cx="261938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244475">
                    <a:moveTo>
                      <a:pt x="104775" y="244475"/>
                    </a:moveTo>
                    <a:lnTo>
                      <a:pt x="200819" y="244475"/>
                    </a:lnTo>
                    <a:cubicBezTo>
                      <a:pt x="234574" y="244475"/>
                      <a:pt x="261938" y="217111"/>
                      <a:pt x="261938" y="183356"/>
                    </a:cubicBezTo>
                    <a:cubicBezTo>
                      <a:pt x="261938" y="149601"/>
                      <a:pt x="234574" y="122237"/>
                      <a:pt x="200819" y="122237"/>
                    </a:cubicBezTo>
                    <a:lnTo>
                      <a:pt x="61119" y="122237"/>
                    </a:lnTo>
                    <a:cubicBezTo>
                      <a:pt x="27364" y="122237"/>
                      <a:pt x="0" y="94874"/>
                      <a:pt x="0" y="61119"/>
                    </a:cubicBezTo>
                    <a:cubicBezTo>
                      <a:pt x="0" y="27364"/>
                      <a:pt x="27364" y="0"/>
                      <a:pt x="61119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5560695" y="2965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麦轮底盘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67362" y="33456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ZDT-X42 ×4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67362" y="3593306"/>
              <a:ext cx="1138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RS485 / Modbus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67362" y="3840956"/>
              <a:ext cx="7636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75mm 麦轮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67362" y="40886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全向移动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81650" y="4438650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80163" y="4522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运动执行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48550" y="2114550"/>
            <a:ext cx="1962150" cy="2781300"/>
            <a:chOff x="7448550" y="2114550"/>
            <a:chExt cx="1962150" cy="2781300"/>
          </a:xfrm>
        </p:grpSpPr>
        <p:sp>
          <p:nvSpPr>
            <p:cNvPr id="56" name="Rectangle 56"/>
            <p:cNvSpPr/>
            <p:nvPr/>
          </p:nvSpPr>
          <p:spPr>
            <a:xfrm>
              <a:off x="7448550" y="2114550"/>
              <a:ext cx="1962150" cy="2781300"/>
            </a:xfrm>
            <a:prstGeom prst="roundRect">
              <a:avLst>
                <a:gd name="adj" fmla="val 10680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821612" y="2435225"/>
              <a:ext cx="244476" cy="331787"/>
              <a:chOff x="7821612" y="2435225"/>
              <a:chExt cx="244476" cy="331787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839075" y="24701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4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4"/>
                      <a:pt x="193914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4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943850" y="24352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7891462" y="26098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7996238" y="26098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7821612" y="26447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996238" y="26447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7891462" y="2714625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7908925" y="2540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7978775" y="2540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7713345" y="29651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机械臂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20012" y="33456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独立 STM32 控制板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20012" y="35933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动作组保存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20012" y="3840956"/>
              <a:ext cx="8011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抓取 / 放置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20012" y="40886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复位与保护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734300" y="4438650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E9F9E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32813" y="4522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动作执行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601200" y="2114550"/>
            <a:ext cx="1600200" cy="2781300"/>
            <a:chOff x="9601200" y="2114550"/>
            <a:chExt cx="1600200" cy="2781300"/>
          </a:xfrm>
        </p:grpSpPr>
        <p:sp>
          <p:nvSpPr>
            <p:cNvPr id="75" name="Rectangle 75"/>
            <p:cNvSpPr/>
            <p:nvPr/>
          </p:nvSpPr>
          <p:spPr>
            <a:xfrm>
              <a:off x="9601200" y="2114550"/>
              <a:ext cx="1600200" cy="2781300"/>
            </a:xfrm>
            <a:prstGeom prst="roundRect">
              <a:avLst>
                <a:gd name="adj" fmla="val 13095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9939338" y="2470150"/>
              <a:ext cx="323849" cy="296863"/>
              <a:chOff x="9939338" y="2470150"/>
              <a:chExt cx="323849" cy="29686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9939338" y="2470150"/>
                <a:ext cx="31432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79400">
                    <a:moveTo>
                      <a:pt x="122237" y="279400"/>
                    </a:moveTo>
                    <a:lnTo>
                      <a:pt x="34925" y="279400"/>
                    </a:lnTo>
                    <a:cubicBezTo>
                      <a:pt x="15636" y="279400"/>
                      <a:pt x="0" y="263764"/>
                      <a:pt x="0" y="244475"/>
                    </a:cubicBezTo>
                    <a:lnTo>
                      <a:pt x="0" y="87313"/>
                    </a:lnTo>
                    <a:cubicBezTo>
                      <a:pt x="0" y="68024"/>
                      <a:pt x="15636" y="52388"/>
                      <a:pt x="34925" y="52388"/>
                    </a:cubicBezTo>
                    <a:lnTo>
                      <a:pt x="52388" y="52388"/>
                    </a:lnTo>
                    <a:cubicBezTo>
                      <a:pt x="71676" y="52388"/>
                      <a:pt x="87313" y="36751"/>
                      <a:pt x="87313" y="17463"/>
                    </a:cubicBezTo>
                    <a:cubicBezTo>
                      <a:pt x="87313" y="7818"/>
                      <a:pt x="95131" y="0"/>
                      <a:pt x="104775" y="0"/>
                    </a:cubicBezTo>
                    <a:lnTo>
                      <a:pt x="209550" y="0"/>
                    </a:lnTo>
                    <a:cubicBezTo>
                      <a:pt x="219194" y="0"/>
                      <a:pt x="227012" y="7818"/>
                      <a:pt x="227012" y="17463"/>
                    </a:cubicBezTo>
                    <a:cubicBezTo>
                      <a:pt x="227012" y="36751"/>
                      <a:pt x="242649" y="52388"/>
                      <a:pt x="261938" y="52388"/>
                    </a:cubicBezTo>
                    <a:lnTo>
                      <a:pt x="279400" y="52388"/>
                    </a:lnTo>
                    <a:cubicBezTo>
                      <a:pt x="298689" y="52388"/>
                      <a:pt x="314325" y="68024"/>
                      <a:pt x="314325" y="87313"/>
                    </a:cubicBezTo>
                    <a:lnTo>
                      <a:pt x="314325" y="12223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10041077" y="2571637"/>
                <a:ext cx="96669" cy="97812"/>
              </a:xfrm>
              <a:custGeom>
                <a:avLst/>
                <a:gdLst/>
                <a:ahLst/>
                <a:cxnLst/>
                <a:rect l="l" t="t" r="r" b="b"/>
                <a:pathLst>
                  <a:path w="96669" h="97812">
                    <a:moveTo>
                      <a:pt x="96669" y="23370"/>
                    </a:moveTo>
                    <a:cubicBezTo>
                      <a:pt x="84083" y="7297"/>
                      <a:pt x="63307" y="0"/>
                      <a:pt x="43435" y="4671"/>
                    </a:cubicBezTo>
                    <a:cubicBezTo>
                      <a:pt x="23563" y="9343"/>
                      <a:pt x="8214" y="25132"/>
                      <a:pt x="4107" y="45129"/>
                    </a:cubicBezTo>
                    <a:cubicBezTo>
                      <a:pt x="0" y="65125"/>
                      <a:pt x="7883" y="85686"/>
                      <a:pt x="24304" y="97812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10131425" y="2662238"/>
                <a:ext cx="698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04775">
                    <a:moveTo>
                      <a:pt x="0" y="1047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cubicBezTo>
                      <a:pt x="54214" y="0"/>
                      <a:pt x="69850" y="15636"/>
                      <a:pt x="69850" y="34925"/>
                    </a:cubicBezTo>
                    <a:lnTo>
                      <a:pt x="69850" y="1047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10131425" y="2732088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Freeform 80"/>
              <p:cNvSpPr/>
              <p:nvPr/>
            </p:nvSpPr>
            <p:spPr>
              <a:xfrm>
                <a:off x="10253662" y="2662238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" name="TextBox 82"/>
            <p:cNvSpPr txBox="1"/>
            <p:nvPr/>
          </p:nvSpPr>
          <p:spPr>
            <a:xfrm>
              <a:off x="9865995" y="2965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感知扩展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872662" y="334565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摄像头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872662" y="3593306"/>
              <a:ext cx="688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JY61P IMU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872662" y="38409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激光测距接口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872662" y="40886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后续闭环基础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886950" y="4438650"/>
              <a:ext cx="914400" cy="266700"/>
            </a:xfrm>
            <a:prstGeom prst="roundRect">
              <a:avLst>
                <a:gd name="adj" fmla="val 50000"/>
              </a:avLst>
            </a:prstGeom>
            <a:solidFill>
              <a:srgbClr val="FFF1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97900" y="4522470"/>
              <a:ext cx="692498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FF3B30"/>
                  </a:solidFill>
                  <a:latin typeface="Arial"/>
                  <a:ea typeface="Microsoft YaHei"/>
                  <a:cs typeface="Arial"/>
                </a:rPr>
                <a:t>辅助路径修正</a:t>
              </a:r>
              <a:endParaRPr lang="zh-CN" sz="900" b="1" dirty="0">
                <a:solidFill>
                  <a:srgbClr val="FF3B30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952750" y="3505200"/>
            <a:ext cx="6648450" cy="1"/>
            <a:chOff x="2952750" y="3505200"/>
            <a:chExt cx="6648450" cy="1"/>
          </a:xfrm>
        </p:grpSpPr>
        <p:sp>
          <p:nvSpPr>
            <p:cNvPr id="90" name="Line 90"/>
            <p:cNvSpPr/>
            <p:nvPr/>
          </p:nvSpPr>
          <p:spPr>
            <a:xfrm>
              <a:off x="2952750" y="3505200"/>
              <a:ext cx="1905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91"/>
            <p:cNvSpPr/>
            <p:nvPr/>
          </p:nvSpPr>
          <p:spPr>
            <a:xfrm>
              <a:off x="5105400" y="3505200"/>
              <a:ext cx="1905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2"/>
            <p:cNvSpPr/>
            <p:nvPr/>
          </p:nvSpPr>
          <p:spPr>
            <a:xfrm>
              <a:off x="7258050" y="3505200"/>
              <a:ext cx="1905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3"/>
            <p:cNvSpPr/>
            <p:nvPr/>
          </p:nvSpPr>
          <p:spPr>
            <a:xfrm>
              <a:off x="9410700" y="3505200"/>
              <a:ext cx="1905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172254" y="63988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2" grpId="0"/>
      <p:bldP spid="55" grpId="0"/>
      <p:bldP spid="74" grpId="0"/>
      <p:bldP spid="89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75310" y="413385"/>
            <a:ext cx="800757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扫码决定任务，视觉定位目标，动作组完成搬运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2550" y="3238500"/>
            <a:ext cx="9486900" cy="1"/>
            <a:chOff x="1352550" y="3238500"/>
            <a:chExt cx="9486900" cy="1"/>
          </a:xfrm>
        </p:grpSpPr>
        <p:sp>
          <p:nvSpPr>
            <p:cNvPr id="6" name="Line 6"/>
            <p:cNvSpPr/>
            <p:nvPr/>
          </p:nvSpPr>
          <p:spPr>
            <a:xfrm>
              <a:off x="1352550" y="3238500"/>
              <a:ext cx="9486900" cy="1"/>
            </a:xfrm>
            <a:prstGeom prst="line">
              <a:avLst/>
            </a:prstGeom>
            <a:noFill/>
            <a:ln w="38100" cap="rnd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" y="2076450"/>
            <a:ext cx="1600200" cy="2343150"/>
            <a:chOff x="666750" y="2076450"/>
            <a:chExt cx="1600200" cy="2343150"/>
          </a:xfrm>
        </p:grpSpPr>
        <p:sp>
          <p:nvSpPr>
            <p:cNvPr id="8" name="Rectangle 8"/>
            <p:cNvSpPr/>
            <p:nvPr/>
          </p:nvSpPr>
          <p:spPr>
            <a:xfrm>
              <a:off x="66675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1085850" y="2857500"/>
              <a:ext cx="762000" cy="762000"/>
            </a:xfrm>
            <a:prstGeom prst="ellipse">
              <a:avLst/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327150" y="3098800"/>
              <a:ext cx="288925" cy="288925"/>
              <a:chOff x="1327150" y="3098800"/>
              <a:chExt cx="288925" cy="2889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327150" y="30988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3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3"/>
                    </a:cubicBezTo>
                    <a:lnTo>
                      <a:pt x="104775" y="87313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3"/>
                    </a:cubicBez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379538" y="33258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501775" y="30988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3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3"/>
                    </a:cubicBezTo>
                    <a:lnTo>
                      <a:pt x="104775" y="87313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3" y="104775"/>
                    </a:lnTo>
                    <a:cubicBezTo>
                      <a:pt x="7818" y="104775"/>
                      <a:pt x="0" y="96957"/>
                      <a:pt x="0" y="87313"/>
                    </a:cubicBez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379538" y="3151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327150" y="327342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87312"/>
                    </a:lnTo>
                    <a:cubicBezTo>
                      <a:pt x="104775" y="96957"/>
                      <a:pt x="96957" y="104775"/>
                      <a:pt x="87312" y="104775"/>
                    </a:cubicBezTo>
                    <a:lnTo>
                      <a:pt x="17462" y="104775"/>
                    </a:lnTo>
                    <a:cubicBezTo>
                      <a:pt x="7818" y="104775"/>
                      <a:pt x="0" y="96957"/>
                      <a:pt x="0" y="873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554162" y="3151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501775" y="3273425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606550" y="3273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501775" y="3273425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0"/>
                    </a:move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501775" y="3378200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554162" y="3325812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606550" y="3325812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0"/>
                    </a:move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23777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扫码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3480" y="4058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读取任务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514600" y="2076450"/>
            <a:ext cx="1600200" cy="2343150"/>
            <a:chOff x="2514600" y="2076450"/>
            <a:chExt cx="1600200" cy="2343150"/>
          </a:xfrm>
        </p:grpSpPr>
        <p:sp>
          <p:nvSpPr>
            <p:cNvPr id="26" name="Rectangle 26"/>
            <p:cNvSpPr/>
            <p:nvPr/>
          </p:nvSpPr>
          <p:spPr>
            <a:xfrm>
              <a:off x="251460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Ellipse 27"/>
            <p:cNvSpPr/>
            <p:nvPr/>
          </p:nvSpPr>
          <p:spPr>
            <a:xfrm>
              <a:off x="2933700" y="2857500"/>
              <a:ext cx="762000" cy="762000"/>
            </a:xfrm>
            <a:prstGeom prst="ellipse">
              <a:avLst/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157538" y="3098800"/>
              <a:ext cx="323849" cy="296863"/>
              <a:chOff x="3157538" y="3098800"/>
              <a:chExt cx="323849" cy="29686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3157538" y="3098800"/>
                <a:ext cx="31432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79400">
                    <a:moveTo>
                      <a:pt x="122237" y="279400"/>
                    </a:moveTo>
                    <a:lnTo>
                      <a:pt x="34925" y="279400"/>
                    </a:lnTo>
                    <a:cubicBezTo>
                      <a:pt x="15636" y="279400"/>
                      <a:pt x="0" y="263764"/>
                      <a:pt x="0" y="244475"/>
                    </a:cubicBezTo>
                    <a:lnTo>
                      <a:pt x="0" y="87313"/>
                    </a:lnTo>
                    <a:cubicBezTo>
                      <a:pt x="0" y="68024"/>
                      <a:pt x="15636" y="52388"/>
                      <a:pt x="34925" y="52388"/>
                    </a:cubicBezTo>
                    <a:lnTo>
                      <a:pt x="52388" y="52388"/>
                    </a:lnTo>
                    <a:cubicBezTo>
                      <a:pt x="71676" y="52388"/>
                      <a:pt x="87313" y="36751"/>
                      <a:pt x="87313" y="17463"/>
                    </a:cubicBezTo>
                    <a:cubicBezTo>
                      <a:pt x="87313" y="7818"/>
                      <a:pt x="95131" y="0"/>
                      <a:pt x="104775" y="0"/>
                    </a:cubicBezTo>
                    <a:lnTo>
                      <a:pt x="209550" y="0"/>
                    </a:lnTo>
                    <a:cubicBezTo>
                      <a:pt x="219194" y="0"/>
                      <a:pt x="227012" y="7818"/>
                      <a:pt x="227012" y="17463"/>
                    </a:cubicBezTo>
                    <a:cubicBezTo>
                      <a:pt x="227012" y="36751"/>
                      <a:pt x="242649" y="52388"/>
                      <a:pt x="261938" y="52388"/>
                    </a:cubicBezTo>
                    <a:lnTo>
                      <a:pt x="279400" y="52388"/>
                    </a:lnTo>
                    <a:cubicBezTo>
                      <a:pt x="298689" y="52388"/>
                      <a:pt x="314325" y="68024"/>
                      <a:pt x="314325" y="87313"/>
                    </a:cubicBezTo>
                    <a:lnTo>
                      <a:pt x="314325" y="12223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3259277" y="3200287"/>
                <a:ext cx="96669" cy="97812"/>
              </a:xfrm>
              <a:custGeom>
                <a:avLst/>
                <a:gdLst/>
                <a:ahLst/>
                <a:cxnLst/>
                <a:rect l="l" t="t" r="r" b="b"/>
                <a:pathLst>
                  <a:path w="96669" h="97812">
                    <a:moveTo>
                      <a:pt x="96669" y="23370"/>
                    </a:moveTo>
                    <a:cubicBezTo>
                      <a:pt x="84083" y="7297"/>
                      <a:pt x="63307" y="0"/>
                      <a:pt x="43435" y="4671"/>
                    </a:cubicBezTo>
                    <a:cubicBezTo>
                      <a:pt x="23563" y="9343"/>
                      <a:pt x="8214" y="25132"/>
                      <a:pt x="4107" y="45129"/>
                    </a:cubicBezTo>
                    <a:cubicBezTo>
                      <a:pt x="0" y="65125"/>
                      <a:pt x="7883" y="85686"/>
                      <a:pt x="24304" y="97812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3349625" y="3290888"/>
                <a:ext cx="698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04775">
                    <a:moveTo>
                      <a:pt x="0" y="1047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cubicBezTo>
                      <a:pt x="54214" y="0"/>
                      <a:pt x="69850" y="15636"/>
                      <a:pt x="69850" y="34925"/>
                    </a:cubicBezTo>
                    <a:lnTo>
                      <a:pt x="69850" y="1047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3349625" y="3360738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471862" y="3290888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08562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0820" y="40586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球 / 桶目标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62450" y="2076450"/>
            <a:ext cx="1600200" cy="2343150"/>
            <a:chOff x="4362450" y="2076450"/>
            <a:chExt cx="1600200" cy="2343150"/>
          </a:xfrm>
        </p:grpSpPr>
        <p:sp>
          <p:nvSpPr>
            <p:cNvPr id="37" name="Rectangle 37"/>
            <p:cNvSpPr/>
            <p:nvPr/>
          </p:nvSpPr>
          <p:spPr>
            <a:xfrm>
              <a:off x="436245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Ellipse 38"/>
            <p:cNvSpPr/>
            <p:nvPr/>
          </p:nvSpPr>
          <p:spPr>
            <a:xfrm>
              <a:off x="4781550" y="2857500"/>
              <a:ext cx="762000" cy="762000"/>
            </a:xfrm>
            <a:prstGeom prst="ellipse">
              <a:avLst/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005388" y="3081338"/>
              <a:ext cx="314324" cy="314324"/>
              <a:chOff x="5005388" y="3081338"/>
              <a:chExt cx="314324" cy="31432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005388" y="33258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5249862" y="308133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4"/>
                      <a:pt x="15636" y="69850"/>
                      <a:pt x="34925" y="69850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5040312" y="3116262"/>
                <a:ext cx="261938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244475">
                    <a:moveTo>
                      <a:pt x="104775" y="244475"/>
                    </a:moveTo>
                    <a:lnTo>
                      <a:pt x="200819" y="244475"/>
                    </a:lnTo>
                    <a:cubicBezTo>
                      <a:pt x="234574" y="244475"/>
                      <a:pt x="261938" y="217111"/>
                      <a:pt x="261938" y="183356"/>
                    </a:cubicBezTo>
                    <a:cubicBezTo>
                      <a:pt x="261938" y="149601"/>
                      <a:pt x="234574" y="122237"/>
                      <a:pt x="200819" y="122237"/>
                    </a:cubicBezTo>
                    <a:lnTo>
                      <a:pt x="61119" y="122237"/>
                    </a:lnTo>
                    <a:cubicBezTo>
                      <a:pt x="27364" y="122237"/>
                      <a:pt x="0" y="94874"/>
                      <a:pt x="0" y="61119"/>
                    </a:cubicBezTo>
                    <a:cubicBezTo>
                      <a:pt x="0" y="27364"/>
                      <a:pt x="27364" y="0"/>
                      <a:pt x="61119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493347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对位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69180" y="4058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底盘靠近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210300" y="2076450"/>
            <a:ext cx="1600200" cy="2343150"/>
            <a:chOff x="6210300" y="2076450"/>
            <a:chExt cx="1600200" cy="2343150"/>
          </a:xfrm>
        </p:grpSpPr>
        <p:sp>
          <p:nvSpPr>
            <p:cNvPr id="46" name="Rectangle 46"/>
            <p:cNvSpPr/>
            <p:nvPr/>
          </p:nvSpPr>
          <p:spPr>
            <a:xfrm>
              <a:off x="621030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Ellipse 47"/>
            <p:cNvSpPr/>
            <p:nvPr/>
          </p:nvSpPr>
          <p:spPr>
            <a:xfrm>
              <a:off x="6629400" y="2857500"/>
              <a:ext cx="762000" cy="762000"/>
            </a:xfrm>
            <a:prstGeom prst="ellipse">
              <a:avLst/>
            </a:prstGeom>
            <a:solidFill>
              <a:srgbClr val="E9F9E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888162" y="3063875"/>
              <a:ext cx="244476" cy="331787"/>
              <a:chOff x="6888162" y="3063875"/>
              <a:chExt cx="244476" cy="33178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905625" y="309880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4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4"/>
                      <a:pt x="193914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4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7010400" y="306387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6958012" y="32385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7062788" y="32385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888162" y="32734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062788" y="32734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6958012" y="3343275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6975475" y="3168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7045325" y="3168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78132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抓取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47021" y="40586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动作组触发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058150" y="2076450"/>
            <a:ext cx="1600200" cy="2343150"/>
            <a:chOff x="8058150" y="2076450"/>
            <a:chExt cx="1600200" cy="2343150"/>
          </a:xfrm>
        </p:grpSpPr>
        <p:sp>
          <p:nvSpPr>
            <p:cNvPr id="61" name="Rectangle 61"/>
            <p:cNvSpPr/>
            <p:nvPr/>
          </p:nvSpPr>
          <p:spPr>
            <a:xfrm>
              <a:off x="805815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Ellipse 62"/>
            <p:cNvSpPr/>
            <p:nvPr/>
          </p:nvSpPr>
          <p:spPr>
            <a:xfrm>
              <a:off x="8477250" y="2857500"/>
              <a:ext cx="762000" cy="762000"/>
            </a:xfrm>
            <a:prstGeom prst="ellipse">
              <a:avLst/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683625" y="3116262"/>
              <a:ext cx="331788" cy="244476"/>
              <a:chOff x="8683625" y="3116262"/>
              <a:chExt cx="331788" cy="24447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736012" y="329088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8910638" y="329088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8683625" y="3116262"/>
                <a:ext cx="331788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31788" h="209550">
                    <a:moveTo>
                      <a:pt x="52388" y="209550"/>
                    </a:moveTo>
                    <a:lnTo>
                      <a:pt x="17463" y="209550"/>
                    </a:lnTo>
                    <a:lnTo>
                      <a:pt x="17463" y="139700"/>
                    </a:lnTo>
                    <a:moveTo>
                      <a:pt x="0" y="0"/>
                    </a:moveTo>
                    <a:lnTo>
                      <a:pt x="192088" y="0"/>
                    </a:lnTo>
                    <a:lnTo>
                      <a:pt x="192088" y="209550"/>
                    </a:lnTo>
                    <a:moveTo>
                      <a:pt x="122238" y="209550"/>
                    </a:moveTo>
                    <a:lnTo>
                      <a:pt x="227013" y="209550"/>
                    </a:lnTo>
                    <a:moveTo>
                      <a:pt x="296863" y="209550"/>
                    </a:moveTo>
                    <a:lnTo>
                      <a:pt x="331788" y="209550"/>
                    </a:lnTo>
                    <a:lnTo>
                      <a:pt x="331788" y="104775"/>
                    </a:lnTo>
                    <a:lnTo>
                      <a:pt x="192088" y="104775"/>
                    </a:lnTo>
                    <a:moveTo>
                      <a:pt x="192088" y="17462"/>
                    </a:moveTo>
                    <a:lnTo>
                      <a:pt x="279400" y="17462"/>
                    </a:lnTo>
                    <a:lnTo>
                      <a:pt x="331788" y="1047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8701088" y="318611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862917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运输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94871" y="40586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前往投放区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906000" y="2076450"/>
            <a:ext cx="1600200" cy="2343150"/>
            <a:chOff x="9906000" y="2076450"/>
            <a:chExt cx="1600200" cy="2343150"/>
          </a:xfrm>
        </p:grpSpPr>
        <p:sp>
          <p:nvSpPr>
            <p:cNvPr id="71" name="Rectangle 71"/>
            <p:cNvSpPr/>
            <p:nvPr/>
          </p:nvSpPr>
          <p:spPr>
            <a:xfrm>
              <a:off x="9906000" y="2076450"/>
              <a:ext cx="1600200" cy="23431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Ellipse 72"/>
            <p:cNvSpPr/>
            <p:nvPr/>
          </p:nvSpPr>
          <p:spPr>
            <a:xfrm>
              <a:off x="10325100" y="2857500"/>
              <a:ext cx="762000" cy="762000"/>
            </a:xfrm>
            <a:prstGeom prst="ellipse">
              <a:avLst/>
            </a:prstGeom>
            <a:solidFill>
              <a:srgbClr val="E9F9E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0525371" y="3081338"/>
              <a:ext cx="341012" cy="314324"/>
              <a:chOff x="10525371" y="3081338"/>
              <a:chExt cx="341012" cy="31432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10525371" y="3081338"/>
                <a:ext cx="341012" cy="311636"/>
              </a:xfrm>
              <a:custGeom>
                <a:avLst/>
                <a:gdLst/>
                <a:ahLst/>
                <a:cxnLst/>
                <a:rect l="l" t="t" r="r" b="b"/>
                <a:pathLst>
                  <a:path w="341012" h="311636">
                    <a:moveTo>
                      <a:pt x="171299" y="311636"/>
                    </a:moveTo>
                    <a:cubicBezTo>
                      <a:pt x="61905" y="277726"/>
                      <a:pt x="0" y="162269"/>
                      <a:pt x="32298" y="52388"/>
                    </a:cubicBezTo>
                    <a:cubicBezTo>
                      <a:pt x="86703" y="54877"/>
                      <a:pt x="139940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8"/>
                    </a:cubicBezTo>
                    <a:cubicBezTo>
                      <a:pt x="341012" y="92710"/>
                      <a:pt x="340464" y="135665"/>
                      <a:pt x="327589" y="175673"/>
                    </a:cubicBez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10758488" y="332581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10477024" y="3743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投放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12730" y="4058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完成任务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885950" y="5162550"/>
            <a:ext cx="8420100" cy="590550"/>
            <a:chOff x="1885950" y="5162550"/>
            <a:chExt cx="8420100" cy="590550"/>
          </a:xfrm>
        </p:grpSpPr>
        <p:sp>
          <p:nvSpPr>
            <p:cNvPr id="79" name="Rectangle 79"/>
            <p:cNvSpPr/>
            <p:nvPr/>
          </p:nvSpPr>
          <p:spPr>
            <a:xfrm>
              <a:off x="1885950" y="5162550"/>
              <a:ext cx="8420100" cy="59055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346609" y="5372100"/>
              <a:ext cx="5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核心设计：树莓派统一调度，底盘和机械臂只执行明确指令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1172254" y="63988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36" grpId="0"/>
      <p:bldP spid="45" grpId="0"/>
      <p:bldP spid="60" grpId="0"/>
      <p:bldP spid="70" grpId="0"/>
      <p:bldP spid="78" grpId="0"/>
      <p:bldP spid="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7629525" cy="722471"/>
            <a:chOff x="575310" y="413385"/>
            <a:chExt cx="7629525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一条速度指令，最终变成四个电机的同步运动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5099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底盘 STM32 将高层速度抽象，逐步转换为可执行的 ZDT-X42 Modbus 指令。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1543050"/>
            <a:ext cx="10972800" cy="3219450"/>
            <a:chOff x="609600" y="1543050"/>
            <a:chExt cx="10972800" cy="3219450"/>
          </a:xfrm>
        </p:grpSpPr>
        <p:sp>
          <p:nvSpPr>
            <p:cNvPr id="6" name="Rectangle 6"/>
            <p:cNvSpPr/>
            <p:nvPr/>
          </p:nvSpPr>
          <p:spPr>
            <a:xfrm>
              <a:off x="609600" y="1543050"/>
              <a:ext cx="10972800" cy="3219450"/>
            </a:xfrm>
            <a:prstGeom prst="roundRect">
              <a:avLst>
                <a:gd name="adj" fmla="val 8284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09028" y="1802606"/>
              <a:ext cx="1973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CHASSIS CONTROL PIPELINE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33450" y="2286000"/>
              <a:ext cx="1866900" cy="2000250"/>
              <a:chOff x="933450" y="2286000"/>
              <a:chExt cx="1866900" cy="2000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33450" y="2286000"/>
                <a:ext cx="1866900" cy="2000250"/>
              </a:xfrm>
              <a:prstGeom prst="roundRect">
                <a:avLst>
                  <a:gd name="adj" fmla="val 10204"/>
                </a:avLst>
              </a:prstGeom>
              <a:solidFill>
                <a:srgbClr val="F5F5F7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1085850" y="2438400"/>
                <a:ext cx="342900" cy="34290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21912" y="2563178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62100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速度接口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08710" y="2994660"/>
                <a:ext cx="1686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071E3"/>
                    </a:solidFill>
                    <a:latin typeface="Consolas"/>
                    <a:ea typeface="Microsoft YaHei"/>
                    <a:cs typeface="Consolas"/>
                  </a:rPr>
                  <a:t>Mecanum_SetVelocity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10615" y="3334702"/>
                <a:ext cx="11748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输入：vx, vy, wz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10615" y="357282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抽象为底盘速度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10615" y="38109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屏蔽四轮细节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2800350" y="3286125"/>
              <a:ext cx="2667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067050" y="2286000"/>
              <a:ext cx="1866900" cy="2000250"/>
              <a:chOff x="3067050" y="2286000"/>
              <a:chExt cx="186690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067050" y="2286000"/>
                <a:ext cx="1866900" cy="2000250"/>
              </a:xfrm>
              <a:prstGeom prst="roundRect">
                <a:avLst>
                  <a:gd name="adj" fmla="val 10204"/>
                </a:avLst>
              </a:prstGeom>
              <a:solidFill>
                <a:srgbClr val="F5F5F7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219450" y="2438400"/>
                <a:ext cx="342900" cy="34290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37135" y="25631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95700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逆运动学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243262" y="29837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F"/>
                    </a:solidFill>
                    <a:latin typeface="Consolas"/>
                    <a:ea typeface="Microsoft YaHei"/>
                    <a:cs typeface="Consolas"/>
                  </a:rPr>
                  <a:t>FL = vy - vx - K*wz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243262" y="32313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F"/>
                    </a:solidFill>
                    <a:latin typeface="Consolas"/>
                    <a:ea typeface="Microsoft YaHei"/>
                    <a:cs typeface="Consolas"/>
                  </a:rPr>
                  <a:t>FR = vy + vx + K*wz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43262" y="34790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F"/>
                    </a:solidFill>
                    <a:latin typeface="Consolas"/>
                    <a:ea typeface="Microsoft YaHei"/>
                    <a:cs typeface="Consolas"/>
                  </a:rPr>
                  <a:t>RL = vy + vx - K*wz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43262" y="37266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F"/>
                    </a:solidFill>
                    <a:latin typeface="Consolas"/>
                    <a:ea typeface="Microsoft YaHei"/>
                    <a:cs typeface="Consolas"/>
                  </a:rPr>
                  <a:t>RR = vy - vx + K*wz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4933950" y="3286125"/>
              <a:ext cx="2667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200650" y="2286000"/>
              <a:ext cx="1866900" cy="2000250"/>
              <a:chOff x="5200650" y="2286000"/>
              <a:chExt cx="1866900" cy="2000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200650" y="2286000"/>
                <a:ext cx="1866900" cy="2000250"/>
              </a:xfrm>
              <a:prstGeom prst="roundRect">
                <a:avLst>
                  <a:gd name="adj" fmla="val 10204"/>
                </a:avLst>
              </a:prstGeom>
              <a:solidFill>
                <a:srgbClr val="F5F5F7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5353050" y="2438400"/>
                <a:ext cx="342900" cy="34290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70735" y="25631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29300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限幅保护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77815" y="3010852"/>
                <a:ext cx="13358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最大速度：0.60 m/s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377815" y="3248978"/>
                <a:ext cx="1566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最大角速度：1.50 rad/s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77815" y="3487102"/>
                <a:ext cx="12588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轮速限制：500 RPM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77815" y="3725228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加速度限制保护机械冲击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067550" y="3286125"/>
              <a:ext cx="2667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334250" y="2286000"/>
              <a:ext cx="1866900" cy="2000250"/>
              <a:chOff x="7334250" y="2286000"/>
              <a:chExt cx="1866900" cy="2000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334250" y="2286000"/>
                <a:ext cx="1866900" cy="2000250"/>
              </a:xfrm>
              <a:prstGeom prst="roundRect">
                <a:avLst>
                  <a:gd name="adj" fmla="val 10204"/>
                </a:avLst>
              </a:prstGeom>
              <a:solidFill>
                <a:srgbClr val="F5F5F7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486650" y="2438400"/>
                <a:ext cx="342900" cy="34290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04335" y="25631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62900" y="2524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电机管理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8081962" y="3155156"/>
                <a:ext cx="428626" cy="300038"/>
                <a:chOff x="8081962" y="3155156"/>
                <a:chExt cx="428626" cy="300038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8146256" y="3155156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0" y="150019"/>
                      </a:moveTo>
                      <a:cubicBezTo>
                        <a:pt x="0" y="232872"/>
                        <a:pt x="67166" y="300038"/>
                        <a:pt x="150019" y="300038"/>
                      </a:cubicBezTo>
                      <a:cubicBezTo>
                        <a:pt x="232872" y="300038"/>
                        <a:pt x="300038" y="232872"/>
                        <a:pt x="300038" y="150019"/>
                      </a:cubicBezTo>
                      <a:cubicBezTo>
                        <a:pt x="300038" y="67166"/>
                        <a:pt x="232872" y="0"/>
                        <a:pt x="150019" y="0"/>
                      </a:cubicBezTo>
                      <a:cubicBezTo>
                        <a:pt x="67166" y="0"/>
                        <a:pt x="0" y="67166"/>
                        <a:pt x="0" y="150019"/>
                      </a:cubicBezTo>
                    </a:path>
                  </a:pathLst>
                </a:custGeom>
                <a:noFill/>
                <a:ln w="19050">
                  <a:solidFill>
                    <a:srgbClr val="1D1D1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Freeform 43"/>
                <p:cNvSpPr/>
                <p:nvPr/>
              </p:nvSpPr>
              <p:spPr>
                <a:xfrm>
                  <a:off x="8081962" y="3305175"/>
                  <a:ext cx="642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9525">
                      <a:moveTo>
                        <a:pt x="64294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D1D1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8446294" y="3305175"/>
                  <a:ext cx="642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9525">
                      <a:moveTo>
                        <a:pt x="0" y="0"/>
                      </a:moveTo>
                      <a:lnTo>
                        <a:pt x="64294" y="0"/>
                      </a:lnTo>
                    </a:path>
                  </a:pathLst>
                </a:custGeom>
                <a:noFill/>
                <a:ln w="19050">
                  <a:solidFill>
                    <a:srgbClr val="1D1D1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8253412" y="32623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0" y="0"/>
                      </a:lnTo>
                      <a:lnTo>
                        <a:pt x="42862" y="42862"/>
                      </a:lnTo>
                      <a:lnTo>
                        <a:pt x="85725" y="0"/>
                      </a:lnTo>
                      <a:lnTo>
                        <a:pt x="85725" y="85725"/>
                      </a:lnTo>
                    </a:path>
                  </a:pathLst>
                </a:custGeom>
                <a:noFill/>
                <a:ln w="19050">
                  <a:solidFill>
                    <a:srgbClr val="1D1D1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511415" y="37347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四电机命令缓存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511415" y="397287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统一使能、速度、停止</a:t>
                </a:r>
              </a:p>
            </p:txBody>
          </p:sp>
        </p:grpSp>
        <p:sp>
          <p:nvSpPr>
            <p:cNvPr id="50" name="Line 50"/>
            <p:cNvSpPr/>
            <p:nvPr/>
          </p:nvSpPr>
          <p:spPr>
            <a:xfrm>
              <a:off x="9201150" y="3286125"/>
              <a:ext cx="266700" cy="1"/>
            </a:xfrm>
            <a:prstGeom prst="line">
              <a:avLst/>
            </a:prstGeom>
            <a:noFill/>
            <a:ln w="19050">
              <a:solidFill>
                <a:srgbClr val="A1A1A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9467850" y="2286000"/>
              <a:ext cx="1884902" cy="2000250"/>
              <a:chOff x="9467850" y="2286000"/>
              <a:chExt cx="1884902" cy="20002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9467850" y="2286000"/>
                <a:ext cx="1866900" cy="2000250"/>
              </a:xfrm>
              <a:prstGeom prst="roundRect">
                <a:avLst>
                  <a:gd name="adj" fmla="val 10204"/>
                </a:avLst>
              </a:prstGeom>
              <a:solidFill>
                <a:srgbClr val="F5F5F7"/>
              </a:solidFill>
              <a:ln w="9525">
                <a:solidFill>
                  <a:srgbClr val="D2D2D7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9620250" y="2438400"/>
                <a:ext cx="342900" cy="342900"/>
              </a:xfrm>
              <a:prstGeom prst="ellipse">
                <a:avLst/>
              </a:prstGeom>
              <a:solidFill>
                <a:srgbClr val="34C759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737935" y="25631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96500" y="2524125"/>
                <a:ext cx="12562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Modbus 下发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645015" y="3010852"/>
                <a:ext cx="999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USART1 + RS485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645015" y="3248978"/>
                <a:ext cx="8807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波特率 115200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645015" y="3487102"/>
                <a:ext cx="11118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FL=0x01 FR=0x02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645015" y="37252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RL=0x03 RR=0x04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1219200" y="5219700"/>
            <a:ext cx="9753600" cy="704850"/>
            <a:chOff x="1219200" y="5219700"/>
            <a:chExt cx="9753600" cy="704850"/>
          </a:xfrm>
        </p:grpSpPr>
        <p:sp>
          <p:nvSpPr>
            <p:cNvPr id="61" name="Rectangle 61"/>
            <p:cNvSpPr/>
            <p:nvPr/>
          </p:nvSpPr>
          <p:spPr>
            <a:xfrm>
              <a:off x="1219200" y="5219700"/>
              <a:ext cx="9753600" cy="704850"/>
            </a:xfrm>
            <a:prstGeom prst="roundRect">
              <a:avLst>
                <a:gd name="adj" fmla="val 4054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40205" y="5493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控制参数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127058" y="5501164"/>
              <a:ext cx="45379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轮径 75mm 轮距 320mm 轴距 220mm 旋转耦合臂长 0.270m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8215498" cy="722471"/>
            <a:chOff x="575310" y="413385"/>
            <a:chExt cx="8215498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82154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树莓派是调度中心，两个 STM32 各自保持实时性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4529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两路串口把底盘控制和机械臂动作拆开，便于独立调试和联动扩展。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" y="1676400"/>
            <a:ext cx="3028950" cy="3733800"/>
            <a:chOff x="723900" y="1676400"/>
            <a:chExt cx="3028950" cy="3733800"/>
          </a:xfrm>
        </p:grpSpPr>
        <p:sp>
          <p:nvSpPr>
            <p:cNvPr id="6" name="Rectangle 6"/>
            <p:cNvSpPr/>
            <p:nvPr/>
          </p:nvSpPr>
          <p:spPr>
            <a:xfrm>
              <a:off x="723900" y="1676400"/>
              <a:ext cx="3028950" cy="3733800"/>
            </a:xfrm>
            <a:prstGeom prst="roundRect">
              <a:avLst>
                <a:gd name="adj" fmla="val 8805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723900" y="1676400"/>
              <a:ext cx="3028950" cy="609600"/>
            </a:xfrm>
            <a:prstGeom prst="roundRect">
              <a:avLst>
                <a:gd name="adj" fmla="val 4375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51062" y="1879282"/>
              <a:ext cx="17746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Raspberry Pi 4B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859699" y="2783624"/>
              <a:ext cx="719252" cy="719252"/>
              <a:chOff x="1859699" y="2783624"/>
              <a:chExt cx="719252" cy="71925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59699" y="2783624"/>
                <a:ext cx="719252" cy="719252"/>
              </a:xfrm>
              <a:custGeom>
                <a:avLst/>
                <a:gdLst/>
                <a:ahLst/>
                <a:cxnLst/>
                <a:rect l="l" t="t" r="r" b="b"/>
                <a:pathLst>
                  <a:path w="719252" h="719252">
                    <a:moveTo>
                      <a:pt x="295808" y="66904"/>
                    </a:moveTo>
                    <a:cubicBezTo>
                      <a:pt x="312039" y="0"/>
                      <a:pt x="407213" y="0"/>
                      <a:pt x="423443" y="66904"/>
                    </a:cubicBezTo>
                    <a:cubicBezTo>
                      <a:pt x="428383" y="87289"/>
                      <a:pt x="442761" y="104090"/>
                      <a:pt x="462140" y="112119"/>
                    </a:cubicBezTo>
                    <a:cubicBezTo>
                      <a:pt x="481518" y="120147"/>
                      <a:pt x="503565" y="118438"/>
                      <a:pt x="521475" y="107518"/>
                    </a:cubicBezTo>
                    <a:cubicBezTo>
                      <a:pt x="580263" y="71704"/>
                      <a:pt x="647586" y="138989"/>
                      <a:pt x="611772" y="197815"/>
                    </a:cubicBezTo>
                    <a:cubicBezTo>
                      <a:pt x="600868" y="215717"/>
                      <a:pt x="599163" y="237747"/>
                      <a:pt x="607182" y="257113"/>
                    </a:cubicBezTo>
                    <a:cubicBezTo>
                      <a:pt x="615201" y="276479"/>
                      <a:pt x="631981" y="290855"/>
                      <a:pt x="652348" y="295808"/>
                    </a:cubicBezTo>
                    <a:cubicBezTo>
                      <a:pt x="719252" y="312039"/>
                      <a:pt x="719252" y="407213"/>
                      <a:pt x="652348" y="423443"/>
                    </a:cubicBezTo>
                    <a:cubicBezTo>
                      <a:pt x="631962" y="428383"/>
                      <a:pt x="615162" y="442761"/>
                      <a:pt x="607133" y="462140"/>
                    </a:cubicBezTo>
                    <a:cubicBezTo>
                      <a:pt x="599105" y="481518"/>
                      <a:pt x="600814" y="503565"/>
                      <a:pt x="611734" y="521475"/>
                    </a:cubicBezTo>
                    <a:cubicBezTo>
                      <a:pt x="647548" y="580263"/>
                      <a:pt x="580263" y="647586"/>
                      <a:pt x="521437" y="611772"/>
                    </a:cubicBezTo>
                    <a:cubicBezTo>
                      <a:pt x="503535" y="600868"/>
                      <a:pt x="481505" y="599163"/>
                      <a:pt x="462139" y="607182"/>
                    </a:cubicBezTo>
                    <a:cubicBezTo>
                      <a:pt x="442772" y="615201"/>
                      <a:pt x="428396" y="631981"/>
                      <a:pt x="423443" y="652348"/>
                    </a:cubicBezTo>
                    <a:cubicBezTo>
                      <a:pt x="407213" y="719252"/>
                      <a:pt x="312039" y="719252"/>
                      <a:pt x="295808" y="652348"/>
                    </a:cubicBezTo>
                    <a:cubicBezTo>
                      <a:pt x="290869" y="631962"/>
                      <a:pt x="276490" y="615162"/>
                      <a:pt x="257112" y="607133"/>
                    </a:cubicBezTo>
                    <a:cubicBezTo>
                      <a:pt x="237734" y="599105"/>
                      <a:pt x="215686" y="600814"/>
                      <a:pt x="197777" y="611734"/>
                    </a:cubicBezTo>
                    <a:cubicBezTo>
                      <a:pt x="138989" y="647548"/>
                      <a:pt x="71666" y="580263"/>
                      <a:pt x="107480" y="521437"/>
                    </a:cubicBezTo>
                    <a:cubicBezTo>
                      <a:pt x="118384" y="503535"/>
                      <a:pt x="120089" y="481505"/>
                      <a:pt x="112070" y="462139"/>
                    </a:cubicBezTo>
                    <a:cubicBezTo>
                      <a:pt x="104051" y="442772"/>
                      <a:pt x="87271" y="428396"/>
                      <a:pt x="66904" y="423443"/>
                    </a:cubicBezTo>
                    <a:cubicBezTo>
                      <a:pt x="0" y="407213"/>
                      <a:pt x="0" y="312039"/>
                      <a:pt x="66904" y="295808"/>
                    </a:cubicBezTo>
                    <a:cubicBezTo>
                      <a:pt x="87289" y="290869"/>
                      <a:pt x="104090" y="276490"/>
                      <a:pt x="112119" y="257112"/>
                    </a:cubicBezTo>
                    <a:cubicBezTo>
                      <a:pt x="120147" y="237734"/>
                      <a:pt x="118438" y="215686"/>
                      <a:pt x="107518" y="197777"/>
                    </a:cubicBezTo>
                    <a:cubicBezTo>
                      <a:pt x="71704" y="138989"/>
                      <a:pt x="138989" y="71666"/>
                      <a:pt x="197815" y="107480"/>
                    </a:cubicBezTo>
                    <a:cubicBezTo>
                      <a:pt x="235915" y="130645"/>
                      <a:pt x="285293" y="110147"/>
                      <a:pt x="295808" y="66904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2143125" y="3028950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0"/>
                    </a:moveTo>
                    <a:lnTo>
                      <a:pt x="0" y="228600"/>
                    </a:lnTo>
                    <a:lnTo>
                      <a:pt x="19050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694259" y="38385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上位机调度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24050" y="42219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视觉识别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9041" y="44696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二维码任务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9022" y="47172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指令封装与下发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401050" y="1638300"/>
            <a:ext cx="3067050" cy="1676400"/>
            <a:chOff x="8401050" y="1638300"/>
            <a:chExt cx="3067050" cy="1676400"/>
          </a:xfrm>
        </p:grpSpPr>
        <p:sp>
          <p:nvSpPr>
            <p:cNvPr id="17" name="Rectangle 17"/>
            <p:cNvSpPr/>
            <p:nvPr/>
          </p:nvSpPr>
          <p:spPr>
            <a:xfrm>
              <a:off x="8401050" y="1638300"/>
              <a:ext cx="3067050" cy="16764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01050" y="1638300"/>
              <a:ext cx="3067050" cy="495300"/>
            </a:xfrm>
            <a:prstGeom prst="roundRect">
              <a:avLst>
                <a:gd name="adj" fmla="val 46154"/>
              </a:avLst>
            </a:prstGeom>
            <a:solidFill>
              <a:srgbClr val="EAF4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64206" y="1800225"/>
              <a:ext cx="1140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底盘 STM32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742362" y="2472531"/>
              <a:ext cx="365126" cy="255588"/>
              <a:chOff x="8742362" y="2472531"/>
              <a:chExt cx="365126" cy="2555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797131" y="2472531"/>
                <a:ext cx="25558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255587" h="255588">
                    <a:moveTo>
                      <a:pt x="0" y="127794"/>
                    </a:moveTo>
                    <a:cubicBezTo>
                      <a:pt x="0" y="198372"/>
                      <a:pt x="57215" y="255588"/>
                      <a:pt x="127794" y="255588"/>
                    </a:cubicBezTo>
                    <a:cubicBezTo>
                      <a:pt x="198372" y="255588"/>
                      <a:pt x="255587" y="198372"/>
                      <a:pt x="255587" y="127794"/>
                    </a:cubicBezTo>
                    <a:cubicBezTo>
                      <a:pt x="255587" y="57215"/>
                      <a:pt x="198372" y="0"/>
                      <a:pt x="127794" y="0"/>
                    </a:cubicBezTo>
                    <a:cubicBezTo>
                      <a:pt x="57215" y="0"/>
                      <a:pt x="0" y="57215"/>
                      <a:pt x="0" y="127794"/>
                    </a:cubicBez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8742362" y="2600325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54769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052719" y="2600325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8888412" y="2563812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73025"/>
                    </a:moveTo>
                    <a:lnTo>
                      <a:pt x="0" y="0"/>
                    </a:lnTo>
                    <a:lnTo>
                      <a:pt x="36513" y="36512"/>
                    </a:lnTo>
                    <a:lnTo>
                      <a:pt x="73025" y="0"/>
                    </a:lnTo>
                    <a:lnTo>
                      <a:pt x="73025" y="73025"/>
                    </a:lnTo>
                  </a:path>
                </a:pathLst>
              </a:custGeom>
              <a:noFill/>
              <a:ln w="19050">
                <a:solidFill>
                  <a:srgbClr val="1D1D1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9357360" y="24231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麦轮运动控制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59265" y="2687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速度、停止、路线、状态查询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401050" y="3733800"/>
            <a:ext cx="3067050" cy="1676400"/>
            <a:chOff x="8401050" y="3733800"/>
            <a:chExt cx="3067050" cy="1676400"/>
          </a:xfrm>
        </p:grpSpPr>
        <p:sp>
          <p:nvSpPr>
            <p:cNvPr id="28" name="Rectangle 28"/>
            <p:cNvSpPr/>
            <p:nvPr/>
          </p:nvSpPr>
          <p:spPr>
            <a:xfrm>
              <a:off x="8401050" y="3733800"/>
              <a:ext cx="3067050" cy="16764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401050" y="3733800"/>
              <a:ext cx="3067050" cy="495300"/>
            </a:xfrm>
            <a:prstGeom prst="roundRect">
              <a:avLst>
                <a:gd name="adj" fmla="val 46154"/>
              </a:avLst>
            </a:prstGeom>
            <a:solidFill>
              <a:srgbClr val="E9F9E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59193" y="3895725"/>
              <a:ext cx="13507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机械臂 STM32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797131" y="4513262"/>
              <a:ext cx="255588" cy="346869"/>
              <a:chOff x="8797131" y="4513262"/>
              <a:chExt cx="255588" cy="34686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815388" y="4549775"/>
                <a:ext cx="21907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46050">
                    <a:moveTo>
                      <a:pt x="0" y="36512"/>
                    </a:moveTo>
                    <a:cubicBezTo>
                      <a:pt x="0" y="16347"/>
                      <a:pt x="16347" y="0"/>
                      <a:pt x="36513" y="0"/>
                    </a:cubicBezTo>
                    <a:lnTo>
                      <a:pt x="182562" y="0"/>
                    </a:lnTo>
                    <a:cubicBezTo>
                      <a:pt x="202728" y="0"/>
                      <a:pt x="219075" y="16347"/>
                      <a:pt x="219075" y="36512"/>
                    </a:cubicBezTo>
                    <a:lnTo>
                      <a:pt x="219075" y="109538"/>
                    </a:lnTo>
                    <a:cubicBezTo>
                      <a:pt x="219075" y="129703"/>
                      <a:pt x="202728" y="146050"/>
                      <a:pt x="182562" y="146050"/>
                    </a:cubicBezTo>
                    <a:lnTo>
                      <a:pt x="36513" y="146050"/>
                    </a:lnTo>
                    <a:cubicBezTo>
                      <a:pt x="16347" y="146050"/>
                      <a:pt x="0" y="129703"/>
                      <a:pt x="0" y="109538"/>
                    </a:cubicBezTo>
                    <a:lnTo>
                      <a:pt x="0" y="36512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8924925" y="4513262"/>
                <a:ext cx="952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513">
                    <a:moveTo>
                      <a:pt x="0" y="0"/>
                    </a:move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8870156" y="4695825"/>
                <a:ext cx="9525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4306">
                    <a:moveTo>
                      <a:pt x="0" y="0"/>
                    </a:moveTo>
                    <a:lnTo>
                      <a:pt x="0" y="164306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8979694" y="4695825"/>
                <a:ext cx="9525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4306">
                    <a:moveTo>
                      <a:pt x="0" y="0"/>
                    </a:moveTo>
                    <a:lnTo>
                      <a:pt x="0" y="164306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8797131" y="4732338"/>
                <a:ext cx="7302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36513">
                    <a:moveTo>
                      <a:pt x="0" y="36513"/>
                    </a:move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8979694" y="4732338"/>
                <a:ext cx="7302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36513">
                    <a:moveTo>
                      <a:pt x="0" y="0"/>
                    </a:moveTo>
                    <a:lnTo>
                      <a:pt x="73025" y="36513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8870156" y="4805362"/>
                <a:ext cx="1095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9525">
                    <a:moveTo>
                      <a:pt x="0" y="0"/>
                    </a:moveTo>
                    <a:lnTo>
                      <a:pt x="109538" y="0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888412" y="462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83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8961438" y="4622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83"/>
                    </a:lnTo>
                  </a:path>
                </a:pathLst>
              </a:custGeom>
              <a:noFill/>
              <a:ln w="19050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9357360" y="45186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动作组执行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59265" y="47825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动作编号、启动、停止、复位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752850" y="2228850"/>
            <a:ext cx="4610100" cy="1123950"/>
            <a:chOff x="3752850" y="2228850"/>
            <a:chExt cx="4610100" cy="1123950"/>
          </a:xfrm>
        </p:grpSpPr>
        <p:sp>
          <p:nvSpPr>
            <p:cNvPr id="44" name="Line 44"/>
            <p:cNvSpPr/>
            <p:nvPr/>
          </p:nvSpPr>
          <p:spPr>
            <a:xfrm>
              <a:off x="3752850" y="2571750"/>
              <a:ext cx="4610100" cy="1"/>
            </a:xfrm>
            <a:prstGeom prst="line">
              <a:avLst/>
            </a:prstGeom>
            <a:noFill/>
            <a:ln w="28575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953000" y="2228850"/>
              <a:ext cx="22098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26898" y="2336006"/>
              <a:ext cx="14620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VEL / STOP / STAT?</a:t>
              </a:r>
            </a:p>
          </p:txBody>
        </p:sp>
        <p:sp>
          <p:nvSpPr>
            <p:cNvPr id="47" name="Line 47"/>
            <p:cNvSpPr/>
            <p:nvPr/>
          </p:nvSpPr>
          <p:spPr>
            <a:xfrm flipH="1">
              <a:off x="3790950" y="2971800"/>
              <a:ext cx="4572000" cy="1"/>
            </a:xfrm>
            <a:prstGeom prst="line">
              <a:avLst/>
            </a:prstGeom>
            <a:noFill/>
            <a:ln w="19050">
              <a:solidFill>
                <a:srgbClr val="34C759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067300" y="30670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4C75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9210" y="3152299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状态 / 传感器快照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52850" y="4229100"/>
            <a:ext cx="4610100" cy="1123950"/>
            <a:chOff x="3752850" y="4229100"/>
            <a:chExt cx="4610100" cy="1123950"/>
          </a:xfrm>
        </p:grpSpPr>
        <p:sp>
          <p:nvSpPr>
            <p:cNvPr id="51" name="Line 51"/>
            <p:cNvSpPr/>
            <p:nvPr/>
          </p:nvSpPr>
          <p:spPr>
            <a:xfrm>
              <a:off x="3752850" y="4572000"/>
              <a:ext cx="4610100" cy="1"/>
            </a:xfrm>
            <a:prstGeom prst="line">
              <a:avLst/>
            </a:prstGeom>
            <a:noFill/>
            <a:ln w="28575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895850" y="4229100"/>
              <a:ext cx="23241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70216" y="4336256"/>
              <a:ext cx="1375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ACTION_ID / RESET</a:t>
              </a:r>
            </a:p>
          </p:txBody>
        </p:sp>
        <p:sp>
          <p:nvSpPr>
            <p:cNvPr id="54" name="Line 54"/>
            <p:cNvSpPr/>
            <p:nvPr/>
          </p:nvSpPr>
          <p:spPr>
            <a:xfrm flipH="1">
              <a:off x="3790950" y="4972050"/>
              <a:ext cx="4572000" cy="1"/>
            </a:xfrm>
            <a:prstGeom prst="line">
              <a:avLst/>
            </a:prstGeom>
            <a:noFill/>
            <a:ln w="19050">
              <a:solidFill>
                <a:srgbClr val="34C759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086350" y="5067300"/>
              <a:ext cx="19431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4C75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20952" y="515254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动作完成 / 异常状态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62050" y="5810250"/>
            <a:ext cx="9867900" cy="514350"/>
            <a:chOff x="1162050" y="5810250"/>
            <a:chExt cx="9867900" cy="514350"/>
          </a:xfrm>
        </p:grpSpPr>
        <p:sp>
          <p:nvSpPr>
            <p:cNvPr id="58" name="Rectangle 58"/>
            <p:cNvSpPr/>
            <p:nvPr/>
          </p:nvSpPr>
          <p:spPr>
            <a:xfrm>
              <a:off x="1162050" y="5810250"/>
              <a:ext cx="9867900" cy="5143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312712" y="5996464"/>
              <a:ext cx="55665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当前口径：串口协议与调试脚本具备，完整整车链路仍需实车联调验证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8170" y="6494145"/>
            <a:ext cx="10728961" cy="182880"/>
            <a:chOff x="598170" y="6494145"/>
            <a:chExt cx="10728961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98170" y="6494145"/>
              <a:ext cx="30352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Dual Serial Scheduling · separated command domains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72254" y="64941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43" grpId="0"/>
      <p:bldP spid="50" grpId="0"/>
      <p:bldP spid="57" grpId="0"/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7289282" cy="722471"/>
            <a:chOff x="575310" y="413385"/>
            <a:chExt cx="7289282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72892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二维码告诉“搬什么”，YOLO 判断“在哪里”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视觉链路的价值不是单独识别，而是把任务信息与目标位置匹配起来。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050" y="1619250"/>
            <a:ext cx="3086100" cy="3714750"/>
            <a:chOff x="781050" y="1619250"/>
            <a:chExt cx="3086100" cy="371475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3086100" cy="371475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1162050" y="2114550"/>
              <a:ext cx="1257300" cy="1257300"/>
            </a:xfrm>
            <a:prstGeom prst="roundRect">
              <a:avLst>
                <a:gd name="adj" fmla="val 13636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549400" y="2501900"/>
              <a:ext cx="492125" cy="492125"/>
              <a:chOff x="1549400" y="2501900"/>
              <a:chExt cx="492125" cy="4921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549400" y="25019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150813" y="0"/>
                    </a:lnTo>
                    <a:cubicBezTo>
                      <a:pt x="167471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1"/>
                      <a:pt x="167471" y="180975"/>
                      <a:pt x="150813" y="180975"/>
                    </a:cubicBezTo>
                    <a:lnTo>
                      <a:pt x="30163" y="180975"/>
                    </a:lnTo>
                    <a:cubicBezTo>
                      <a:pt x="13504" y="180975"/>
                      <a:pt x="0" y="167471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639888" y="28940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0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851025" y="25019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150813" y="0"/>
                    </a:lnTo>
                    <a:cubicBezTo>
                      <a:pt x="167471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1"/>
                      <a:pt x="167471" y="180975"/>
                      <a:pt x="150813" y="180975"/>
                    </a:cubicBezTo>
                    <a:lnTo>
                      <a:pt x="30163" y="180975"/>
                    </a:lnTo>
                    <a:cubicBezTo>
                      <a:pt x="13504" y="180975"/>
                      <a:pt x="0" y="167471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639888" y="2592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0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549400" y="280352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150813" y="0"/>
                    </a:lnTo>
                    <a:cubicBezTo>
                      <a:pt x="167471" y="0"/>
                      <a:pt x="180975" y="13504"/>
                      <a:pt x="180975" y="30163"/>
                    </a:cubicBezTo>
                    <a:lnTo>
                      <a:pt x="180975" y="150813"/>
                    </a:lnTo>
                    <a:cubicBezTo>
                      <a:pt x="180975" y="167471"/>
                      <a:pt x="167471" y="180975"/>
                      <a:pt x="150813" y="180975"/>
                    </a:cubicBezTo>
                    <a:lnTo>
                      <a:pt x="30163" y="180975"/>
                    </a:lnTo>
                    <a:cubicBezTo>
                      <a:pt x="13504" y="180975"/>
                      <a:pt x="0" y="167471"/>
                      <a:pt x="0" y="150813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941512" y="2592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0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851025" y="2803525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2032000" y="2803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02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851025" y="2803525"/>
                <a:ext cx="9525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8">
                    <a:moveTo>
                      <a:pt x="0" y="0"/>
                    </a:moveTo>
                    <a:lnTo>
                      <a:pt x="0" y="9048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851025" y="2984500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941512" y="2894012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2032000" y="2894012"/>
                <a:ext cx="9525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8">
                    <a:moveTo>
                      <a:pt x="0" y="0"/>
                    </a:moveTo>
                    <a:lnTo>
                      <a:pt x="0" y="90488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137285" y="36756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任务输入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5858" y="41105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二维码读取搬运对象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5858" y="4396264"/>
              <a:ext cx="981038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包含目标顺序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5858" y="46820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决定后续抓取策略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62550" y="2495550"/>
            <a:ext cx="1866900" cy="1866900"/>
            <a:chOff x="5162550" y="2495550"/>
            <a:chExt cx="1866900" cy="1866900"/>
          </a:xfrm>
        </p:grpSpPr>
        <p:sp>
          <p:nvSpPr>
            <p:cNvPr id="26" name="Ellipse 26"/>
            <p:cNvSpPr/>
            <p:nvPr/>
          </p:nvSpPr>
          <p:spPr>
            <a:xfrm>
              <a:off x="5162550" y="2495550"/>
              <a:ext cx="1866900" cy="18669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781327" y="2961927"/>
              <a:ext cx="629345" cy="629345"/>
              <a:chOff x="5781327" y="2961927"/>
              <a:chExt cx="629345" cy="62934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781327" y="2961927"/>
                <a:ext cx="629345" cy="629345"/>
              </a:xfrm>
              <a:custGeom>
                <a:avLst/>
                <a:gdLst/>
                <a:ahLst/>
                <a:cxnLst/>
                <a:rect l="l" t="t" r="r" b="b"/>
                <a:pathLst>
                  <a:path w="629345" h="629345">
                    <a:moveTo>
                      <a:pt x="258832" y="58541"/>
                    </a:moveTo>
                    <a:cubicBezTo>
                      <a:pt x="273034" y="0"/>
                      <a:pt x="356311" y="0"/>
                      <a:pt x="370513" y="58541"/>
                    </a:cubicBezTo>
                    <a:cubicBezTo>
                      <a:pt x="374835" y="76378"/>
                      <a:pt x="387416" y="91079"/>
                      <a:pt x="404372" y="98104"/>
                    </a:cubicBezTo>
                    <a:cubicBezTo>
                      <a:pt x="421328" y="105129"/>
                      <a:pt x="440620" y="103633"/>
                      <a:pt x="456290" y="94078"/>
                    </a:cubicBezTo>
                    <a:cubicBezTo>
                      <a:pt x="507730" y="62741"/>
                      <a:pt x="566637" y="121615"/>
                      <a:pt x="535300" y="173088"/>
                    </a:cubicBezTo>
                    <a:cubicBezTo>
                      <a:pt x="525759" y="188752"/>
                      <a:pt x="524267" y="208029"/>
                      <a:pt x="531284" y="224974"/>
                    </a:cubicBezTo>
                    <a:cubicBezTo>
                      <a:pt x="538301" y="241919"/>
                      <a:pt x="552983" y="254499"/>
                      <a:pt x="570805" y="258832"/>
                    </a:cubicBezTo>
                    <a:cubicBezTo>
                      <a:pt x="629345" y="273034"/>
                      <a:pt x="629345" y="356311"/>
                      <a:pt x="570805" y="370513"/>
                    </a:cubicBezTo>
                    <a:cubicBezTo>
                      <a:pt x="552967" y="374835"/>
                      <a:pt x="538266" y="387416"/>
                      <a:pt x="531242" y="404372"/>
                    </a:cubicBezTo>
                    <a:cubicBezTo>
                      <a:pt x="524217" y="421328"/>
                      <a:pt x="525712" y="440620"/>
                      <a:pt x="535267" y="456290"/>
                    </a:cubicBezTo>
                    <a:cubicBezTo>
                      <a:pt x="566604" y="507730"/>
                      <a:pt x="507730" y="566637"/>
                      <a:pt x="456257" y="535300"/>
                    </a:cubicBezTo>
                    <a:cubicBezTo>
                      <a:pt x="440593" y="525759"/>
                      <a:pt x="421317" y="524267"/>
                      <a:pt x="404371" y="531284"/>
                    </a:cubicBezTo>
                    <a:cubicBezTo>
                      <a:pt x="387426" y="538301"/>
                      <a:pt x="374847" y="552983"/>
                      <a:pt x="370513" y="570805"/>
                    </a:cubicBezTo>
                    <a:cubicBezTo>
                      <a:pt x="356311" y="629345"/>
                      <a:pt x="273034" y="629345"/>
                      <a:pt x="258832" y="570805"/>
                    </a:cubicBezTo>
                    <a:cubicBezTo>
                      <a:pt x="254510" y="552967"/>
                      <a:pt x="241929" y="538266"/>
                      <a:pt x="224973" y="531242"/>
                    </a:cubicBezTo>
                    <a:cubicBezTo>
                      <a:pt x="208017" y="524217"/>
                      <a:pt x="188726" y="525712"/>
                      <a:pt x="173055" y="535267"/>
                    </a:cubicBezTo>
                    <a:cubicBezTo>
                      <a:pt x="121615" y="566604"/>
                      <a:pt x="62708" y="507730"/>
                      <a:pt x="94045" y="456257"/>
                    </a:cubicBezTo>
                    <a:cubicBezTo>
                      <a:pt x="103586" y="440593"/>
                      <a:pt x="105078" y="421317"/>
                      <a:pt x="98061" y="404371"/>
                    </a:cubicBezTo>
                    <a:cubicBezTo>
                      <a:pt x="91045" y="387426"/>
                      <a:pt x="76362" y="374847"/>
                      <a:pt x="58541" y="370513"/>
                    </a:cubicBezTo>
                    <a:cubicBezTo>
                      <a:pt x="0" y="356311"/>
                      <a:pt x="0" y="273034"/>
                      <a:pt x="58541" y="258832"/>
                    </a:cubicBezTo>
                    <a:cubicBezTo>
                      <a:pt x="76378" y="254510"/>
                      <a:pt x="91079" y="241929"/>
                      <a:pt x="98104" y="224973"/>
                    </a:cubicBezTo>
                    <a:cubicBezTo>
                      <a:pt x="105129" y="208017"/>
                      <a:pt x="103633" y="188726"/>
                      <a:pt x="94078" y="173055"/>
                    </a:cubicBezTo>
                    <a:cubicBezTo>
                      <a:pt x="62741" y="121615"/>
                      <a:pt x="121615" y="62708"/>
                      <a:pt x="173088" y="94045"/>
                    </a:cubicBezTo>
                    <a:cubicBezTo>
                      <a:pt x="206426" y="114314"/>
                      <a:pt x="249631" y="96379"/>
                      <a:pt x="258832" y="5854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029325" y="3176588"/>
                <a:ext cx="1666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166688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656898" y="3719331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任务匹配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28561" y="4041276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上位机统一调度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24850" y="1619250"/>
            <a:ext cx="3086100" cy="3714750"/>
            <a:chOff x="8324850" y="1619250"/>
            <a:chExt cx="3086100" cy="3714750"/>
          </a:xfrm>
        </p:grpSpPr>
        <p:sp>
          <p:nvSpPr>
            <p:cNvPr id="33" name="Rectangle 33"/>
            <p:cNvSpPr/>
            <p:nvPr/>
          </p:nvSpPr>
          <p:spPr>
            <a:xfrm>
              <a:off x="8324850" y="1619250"/>
              <a:ext cx="3086100" cy="371475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05850" y="2114550"/>
              <a:ext cx="1866900" cy="1257300"/>
            </a:xfrm>
            <a:prstGeom prst="roundRect">
              <a:avLst>
                <a:gd name="adj" fmla="val 13636"/>
              </a:avLst>
            </a:prstGeom>
            <a:solidFill>
              <a:srgbClr val="F5F5F7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310688" y="2501900"/>
              <a:ext cx="552449" cy="512763"/>
              <a:chOff x="9310688" y="2501900"/>
              <a:chExt cx="552449" cy="51276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310688" y="2501900"/>
                <a:ext cx="542925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542925" h="482600">
                    <a:moveTo>
                      <a:pt x="211137" y="482600"/>
                    </a:moveTo>
                    <a:lnTo>
                      <a:pt x="60325" y="482600"/>
                    </a:lnTo>
                    <a:cubicBezTo>
                      <a:pt x="27008" y="482600"/>
                      <a:pt x="0" y="455592"/>
                      <a:pt x="0" y="422275"/>
                    </a:cubicBezTo>
                    <a:lnTo>
                      <a:pt x="0" y="150812"/>
                    </a:lnTo>
                    <a:cubicBezTo>
                      <a:pt x="0" y="117496"/>
                      <a:pt x="27008" y="90488"/>
                      <a:pt x="60325" y="90488"/>
                    </a:cubicBezTo>
                    <a:lnTo>
                      <a:pt x="90488" y="90488"/>
                    </a:lnTo>
                    <a:cubicBezTo>
                      <a:pt x="123804" y="90488"/>
                      <a:pt x="150813" y="63479"/>
                      <a:pt x="150813" y="30162"/>
                    </a:cubicBezTo>
                    <a:cubicBezTo>
                      <a:pt x="150813" y="13504"/>
                      <a:pt x="164317" y="0"/>
                      <a:pt x="180975" y="0"/>
                    </a:cubicBezTo>
                    <a:lnTo>
                      <a:pt x="361950" y="0"/>
                    </a:lnTo>
                    <a:cubicBezTo>
                      <a:pt x="378608" y="0"/>
                      <a:pt x="392112" y="13504"/>
                      <a:pt x="392112" y="30162"/>
                    </a:cubicBezTo>
                    <a:cubicBezTo>
                      <a:pt x="392112" y="63479"/>
                      <a:pt x="419121" y="90488"/>
                      <a:pt x="452438" y="90488"/>
                    </a:cubicBezTo>
                    <a:lnTo>
                      <a:pt x="482600" y="90488"/>
                    </a:lnTo>
                    <a:cubicBezTo>
                      <a:pt x="515917" y="90488"/>
                      <a:pt x="542925" y="117496"/>
                      <a:pt x="542925" y="150812"/>
                    </a:cubicBezTo>
                    <a:lnTo>
                      <a:pt x="542925" y="211137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9486420" y="2677196"/>
                <a:ext cx="166974" cy="168948"/>
              </a:xfrm>
              <a:custGeom>
                <a:avLst/>
                <a:gdLst/>
                <a:ahLst/>
                <a:cxnLst/>
                <a:rect l="l" t="t" r="r" b="b"/>
                <a:pathLst>
                  <a:path w="166974" h="168948">
                    <a:moveTo>
                      <a:pt x="166974" y="40366"/>
                    </a:moveTo>
                    <a:cubicBezTo>
                      <a:pt x="145234" y="12605"/>
                      <a:pt x="109349" y="0"/>
                      <a:pt x="75024" y="8069"/>
                    </a:cubicBezTo>
                    <a:cubicBezTo>
                      <a:pt x="40700" y="16138"/>
                      <a:pt x="14188" y="43410"/>
                      <a:pt x="7094" y="77950"/>
                    </a:cubicBezTo>
                    <a:cubicBezTo>
                      <a:pt x="0" y="112489"/>
                      <a:pt x="13615" y="148003"/>
                      <a:pt x="41980" y="168948"/>
                    </a:cubicBez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9642475" y="2833688"/>
                <a:ext cx="1206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80975">
                    <a:moveTo>
                      <a:pt x="0" y="180975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cubicBezTo>
                      <a:pt x="93642" y="0"/>
                      <a:pt x="120650" y="27008"/>
                      <a:pt x="120650" y="60325"/>
                    </a:cubicBezTo>
                    <a:lnTo>
                      <a:pt x="120650" y="1809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9642475" y="2954338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853612" y="2833688"/>
                <a:ext cx="952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0975">
                    <a:moveTo>
                      <a:pt x="0" y="0"/>
                    </a:moveTo>
                    <a:lnTo>
                      <a:pt x="0" y="180975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9925050" y="2305050"/>
              <a:ext cx="476250" cy="323850"/>
            </a:xfrm>
            <a:prstGeom prst="roundRect">
              <a:avLst>
                <a:gd name="adj" fmla="val 17647"/>
              </a:avLst>
            </a:prstGeom>
            <a:noFill/>
            <a:ln w="28575">
              <a:solidFill>
                <a:srgbClr val="34C75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53500" y="2819400"/>
              <a:ext cx="514350" cy="361950"/>
            </a:xfrm>
            <a:prstGeom prst="roundRect">
              <a:avLst>
                <a:gd name="adj" fmla="val 15789"/>
              </a:avLst>
            </a:prstGeom>
            <a:noFill/>
            <a:ln w="28575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81085" y="36756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目标定位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89658" y="4110514"/>
              <a:ext cx="13755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YOLO 识别球与桶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89658" y="43962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输出类别、颜色、框位置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89658" y="46820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辅助底盘靠近目标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867150" y="3429000"/>
            <a:ext cx="4457700" cy="1"/>
            <a:chOff x="3867150" y="3429000"/>
            <a:chExt cx="4457700" cy="1"/>
          </a:xfrm>
        </p:grpSpPr>
        <p:sp>
          <p:nvSpPr>
            <p:cNvPr id="48" name="Line 48"/>
            <p:cNvSpPr/>
            <p:nvPr/>
          </p:nvSpPr>
          <p:spPr>
            <a:xfrm>
              <a:off x="3867150" y="3429000"/>
              <a:ext cx="1238250" cy="1"/>
            </a:xfrm>
            <a:prstGeom prst="line">
              <a:avLst/>
            </a:prstGeom>
            <a:noFill/>
            <a:ln w="38100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/>
            <p:cNvSpPr/>
            <p:nvPr/>
          </p:nvSpPr>
          <p:spPr>
            <a:xfrm>
              <a:off x="7086600" y="3429000"/>
              <a:ext cx="1238250" cy="1"/>
            </a:xfrm>
            <a:prstGeom prst="line">
              <a:avLst/>
            </a:prstGeom>
            <a:noFill/>
            <a:ln w="38100">
              <a:solidFill>
                <a:srgbClr val="0071E3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600200" y="5734050"/>
            <a:ext cx="8991600" cy="495300"/>
            <a:chOff x="1600200" y="5734050"/>
            <a:chExt cx="8991600" cy="495300"/>
          </a:xfrm>
        </p:grpSpPr>
        <p:sp>
          <p:nvSpPr>
            <p:cNvPr id="51" name="Rectangle 51"/>
            <p:cNvSpPr/>
            <p:nvPr/>
          </p:nvSpPr>
          <p:spPr>
            <a:xfrm>
              <a:off x="1600200" y="5734050"/>
              <a:ext cx="8991600" cy="495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21500" y="5910739"/>
              <a:ext cx="45490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输出给执行层：目标选择 → 底盘对位 → 机械臂动作组触发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8170" y="6494145"/>
            <a:ext cx="10728961" cy="182880"/>
            <a:chOff x="598170" y="6494145"/>
            <a:chExt cx="10728961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98170" y="6494145"/>
              <a:ext cx="29752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Vision &amp; Task Matching · no invented model metrics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72254" y="64941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  <p:bldP spid="47" grpId="0"/>
      <p:bldP spid="50" grpId="0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7251478" cy="722471"/>
            <a:chOff x="575310" y="413385"/>
            <a:chExt cx="7251478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项目的真实价值，也在于把问题拆开并收敛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4394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以下不是“事故清单”，而是从工程问题到可执行方案的收敛过程。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8656" y="1933575"/>
            <a:ext cx="10858500" cy="4171950"/>
            <a:chOff x="666750" y="1466850"/>
            <a:chExt cx="10858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66750" y="1466850"/>
              <a:ext cx="10858500" cy="4171950"/>
            </a:xfrm>
            <a:prstGeom prst="roundRect">
              <a:avLst>
                <a:gd name="adj" fmla="val 5936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666750" y="20764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7265" y="17345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29965" y="17345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表现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0315" y="17345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处理方式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12347" y="17345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66750" y="2076450"/>
              <a:ext cx="10858500" cy="647700"/>
              <a:chOff x="666750" y="2076450"/>
              <a:chExt cx="10858500" cy="647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66750" y="2076450"/>
                <a:ext cx="10858500" cy="647700"/>
              </a:xfrm>
              <a:prstGeom prst="rect">
                <a:avLst/>
              </a:prstGeom>
              <a:solidFill>
                <a:srgbClr val="F5F5F7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5360" y="2327910"/>
                <a:ext cx="12150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USART 分配错误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29012" y="2336006"/>
                <a:ext cx="19188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电机驱动曾误分配到 USART3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29362" y="2336006"/>
                <a:ext cx="26689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审查后迁移至 USART1，与 PCB 设计一致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9639300" y="2266950"/>
                <a:ext cx="1066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9F9E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972246" y="23507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34C759"/>
                    </a:solidFill>
                    <a:latin typeface="Arial"/>
                    <a:ea typeface="Microsoft YaHei"/>
                    <a:cs typeface="Arial"/>
                  </a:rPr>
                  <a:t>已修正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66750" y="2724150"/>
              <a:ext cx="10858500" cy="495300"/>
              <a:chOff x="666750" y="2724150"/>
              <a:chExt cx="10858500" cy="49530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66750" y="2724150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9525">
                <a:solidFill>
                  <a:srgbClr val="E5E5E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75360" y="2975610"/>
                <a:ext cx="12150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RS485 只发不收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29012" y="2983706"/>
                <a:ext cx="17462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硬件未引出方向控制 GPIO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29362" y="2983706"/>
                <a:ext cx="27439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采用“只发不收”开环策略，放弃反馈读取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9639300" y="2914650"/>
                <a:ext cx="1066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1F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909238" y="299847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3B30"/>
                    </a:solidFill>
                    <a:latin typeface="Arial"/>
                    <a:ea typeface="Microsoft YaHei"/>
                    <a:cs typeface="Arial"/>
                  </a:rPr>
                  <a:t>工程取舍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66750" y="3371850"/>
              <a:ext cx="10858500" cy="647700"/>
              <a:chOff x="666750" y="3371850"/>
              <a:chExt cx="10858500" cy="6477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66750" y="3371850"/>
                <a:ext cx="10858500" cy="647700"/>
              </a:xfrm>
              <a:prstGeom prst="rect">
                <a:avLst/>
              </a:prstGeom>
              <a:solidFill>
                <a:srgbClr val="F5F5F7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75360" y="36233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路线误差累积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29012" y="36314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多段开环运动会积累偏差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29362" y="3631406"/>
                <a:ext cx="27814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先低速开环兜底，后续恢复 IMU yaw 闭环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639300" y="3562350"/>
                <a:ext cx="1066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AF4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972246" y="36461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0071E3"/>
                    </a:solidFill>
                    <a:latin typeface="Arial"/>
                    <a:ea typeface="Microsoft YaHei"/>
                    <a:cs typeface="Arial"/>
                  </a:rPr>
                  <a:t>待增强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6750" y="4019550"/>
              <a:ext cx="10858500" cy="495300"/>
              <a:chOff x="666750" y="4019550"/>
              <a:chExt cx="10858500" cy="495300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666750" y="4019550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9525">
                <a:solidFill>
                  <a:srgbClr val="E5E5E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5360" y="427101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机械臂实时控制复杂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529012" y="42791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上位机逐关节控制不稳定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29362" y="4279106"/>
                <a:ext cx="28114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在机械臂 STM32 侧固化抓取与放置动作组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9639300" y="4210050"/>
                <a:ext cx="1066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9F9E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909238" y="429387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34C759"/>
                    </a:solidFill>
                    <a:latin typeface="Arial"/>
                    <a:ea typeface="Microsoft YaHei"/>
                    <a:cs typeface="Arial"/>
                  </a:rPr>
                  <a:t>方案明确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6750" y="4667250"/>
              <a:ext cx="10858500" cy="647700"/>
              <a:chOff x="666750" y="4667250"/>
              <a:chExt cx="10858500" cy="6477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66750" y="4667250"/>
                <a:ext cx="10858500" cy="647700"/>
              </a:xfrm>
              <a:prstGeom prst="rect">
                <a:avLst/>
              </a:prstGeom>
              <a:solidFill>
                <a:srgbClr val="F5F5F7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75360" y="491871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文档与临时代码残留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529012" y="492680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多版本资料并行，工程测试模块未清理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329362" y="4926806"/>
                <a:ext cx="268390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统一 V3 文档口径，审查后清理临时模块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9639300" y="4857750"/>
                <a:ext cx="1066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9F9ED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972246" y="4941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34C759"/>
                    </a:solidFill>
                    <a:latin typeface="Arial"/>
                    <a:ea typeface="Microsoft YaHei"/>
                    <a:cs typeface="Arial"/>
                  </a:rPr>
                  <a:t>已收敛</a:t>
                </a: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11202257" y="65322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4C759">
                  <a:alpha val="13000"/>
                </a:srgbClr>
              </a:gs>
              <a:gs pos="100000">
                <a:srgbClr val="34C7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75310" y="413385"/>
            <a:ext cx="8763667" cy="722471"/>
            <a:chOff x="575310" y="413385"/>
            <a:chExt cx="8763667" cy="722471"/>
          </a:xfrm>
        </p:grpSpPr>
        <p:sp>
          <p:nvSpPr>
            <p:cNvPr id="4" name="TextBox 4"/>
            <p:cNvSpPr txBox="1"/>
            <p:nvPr/>
          </p:nvSpPr>
          <p:spPr>
            <a:xfrm>
              <a:off x="575310" y="413385"/>
              <a:ext cx="87636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当前成果：底盘能力最成熟，整车联调仍有提升空间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14362" y="907256"/>
              <a:ext cx="5129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完成度来自项目资料评估，用于描述阶段成熟度，不新增未验证的实测指标。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8670" y="1503045"/>
            <a:ext cx="4463415" cy="1964055"/>
            <a:chOff x="788670" y="1503045"/>
            <a:chExt cx="4463415" cy="1964055"/>
          </a:xfrm>
        </p:grpSpPr>
        <p:sp>
          <p:nvSpPr>
            <p:cNvPr id="7" name="TextBox 7"/>
            <p:cNvSpPr txBox="1"/>
            <p:nvPr/>
          </p:nvSpPr>
          <p:spPr>
            <a:xfrm>
              <a:off x="788670" y="1503045"/>
              <a:ext cx="1769359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90%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9635" y="2456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底盘运动控制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" y="288321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麦轮运动学、四电机同步与速度规划已形成可用能力。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90900"/>
              <a:ext cx="3200400" cy="76200"/>
            </a:xfrm>
            <a:prstGeom prst="roundRect">
              <a:avLst>
                <a:gd name="adj" fmla="val 50000"/>
              </a:avLst>
            </a:prstGeom>
            <a:solidFill>
              <a:srgbClr val="D2D2D7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390900"/>
              <a:ext cx="28765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1E3"/>
                </a:gs>
                <a:gs pos="100000">
                  <a:srgbClr val="34C759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95450" y="3943350"/>
            <a:ext cx="1752600" cy="2138362"/>
            <a:chOff x="1695450" y="3943350"/>
            <a:chExt cx="1752600" cy="2138362"/>
          </a:xfrm>
        </p:grpSpPr>
        <p:sp>
          <p:nvSpPr>
            <p:cNvPr id="13" name="Ellipse 13"/>
            <p:cNvSpPr/>
            <p:nvPr/>
          </p:nvSpPr>
          <p:spPr>
            <a:xfrm>
              <a:off x="1695450" y="3943350"/>
              <a:ext cx="1752600" cy="1752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943100" y="4191000"/>
              <a:ext cx="1257300" cy="1257300"/>
            </a:xfrm>
            <a:prstGeom prst="ellipse">
              <a:avLst/>
            </a:prstGeom>
            <a:noFill/>
            <a:ln w="133350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971675" y="4191000"/>
              <a:ext cx="1257167" cy="1309660"/>
            </a:xfrm>
            <a:custGeom>
              <a:avLst/>
              <a:gdLst/>
              <a:ahLst/>
              <a:cxnLst/>
              <a:rect l="l" t="t" r="r" b="b"/>
              <a:pathLst>
                <a:path w="1257167" h="1309660">
                  <a:moveTo>
                    <a:pt x="600075" y="0"/>
                  </a:moveTo>
                  <a:cubicBezTo>
                    <a:pt x="922208" y="504"/>
                    <a:pt x="1191834" y="244427"/>
                    <a:pt x="1224501" y="564900"/>
                  </a:cubicBezTo>
                  <a:cubicBezTo>
                    <a:pt x="1257167" y="885373"/>
                    <a:pt x="1042301" y="1178681"/>
                    <a:pt x="726895" y="1244171"/>
                  </a:cubicBezTo>
                  <a:cubicBezTo>
                    <a:pt x="411489" y="1309660"/>
                    <a:pt x="97617" y="1126137"/>
                    <a:pt x="0" y="819150"/>
                  </a:cubicBezTo>
                </a:path>
              </a:pathLst>
            </a:custGeom>
            <a:noFill/>
            <a:ln w="133350" cap="rnd">
              <a:solidFill>
                <a:srgbClr val="34C75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343150" y="4616450"/>
              <a:ext cx="457200" cy="415925"/>
              <a:chOff x="2343150" y="4616450"/>
              <a:chExt cx="457200" cy="4159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343150" y="4819650"/>
                <a:ext cx="1524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77800"/>
                    </a:lnTo>
                    <a:cubicBezTo>
                      <a:pt x="152400" y="191828"/>
                      <a:pt x="141028" y="203200"/>
                      <a:pt x="127000" y="203200"/>
                    </a:cubicBezTo>
                    <a:lnTo>
                      <a:pt x="25400" y="203200"/>
                    </a:lnTo>
                    <a:cubicBezTo>
                      <a:pt x="11372" y="203200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47950" y="4718050"/>
                <a:ext cx="1524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04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279400"/>
                    </a:lnTo>
                    <a:cubicBezTo>
                      <a:pt x="152400" y="293428"/>
                      <a:pt x="141028" y="304800"/>
                      <a:pt x="127000" y="304800"/>
                    </a:cubicBezTo>
                    <a:lnTo>
                      <a:pt x="25400" y="304800"/>
                    </a:lnTo>
                    <a:cubicBezTo>
                      <a:pt x="11372" y="304800"/>
                      <a:pt x="0" y="293428"/>
                      <a:pt x="0" y="279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2495550" y="4616450"/>
                <a:ext cx="152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06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381000"/>
                    </a:lnTo>
                    <a:cubicBezTo>
                      <a:pt x="152400" y="395028"/>
                      <a:pt x="141028" y="406400"/>
                      <a:pt x="127000" y="406400"/>
                    </a:cubicBezTo>
                    <a:lnTo>
                      <a:pt x="25400" y="406400"/>
                    </a:lnTo>
                    <a:cubicBezTo>
                      <a:pt x="11372" y="406400"/>
                      <a:pt x="0" y="395028"/>
                      <a:pt x="0" y="381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2368550" y="5022850"/>
                <a:ext cx="35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9525">
                    <a:moveTo>
                      <a:pt x="0" y="0"/>
                    </a:moveTo>
                    <a:lnTo>
                      <a:pt x="355600" y="0"/>
                    </a:lnTo>
                  </a:path>
                </a:pathLst>
              </a:custGeom>
              <a:noFill/>
              <a:ln w="19050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998345" y="58683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结果最清晰的模块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1562100"/>
            <a:ext cx="5791200" cy="4038600"/>
            <a:chOff x="5334000" y="1562100"/>
            <a:chExt cx="57912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334000" y="1562100"/>
              <a:ext cx="5791200" cy="40386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34050" y="18573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阶段完成度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39765" y="2172652"/>
              <a:ext cx="2448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可用 / 代码就绪 / 待联调三类状态并存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736908" y="2635568"/>
              <a:ext cx="4833937" cy="741044"/>
              <a:chOff x="5736908" y="2635568"/>
              <a:chExt cx="4833937" cy="741044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736908" y="26436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底盘运动控制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224666" y="263556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rgbClr val="34C759"/>
                    </a:solidFill>
                    <a:latin typeface="Arial"/>
                    <a:ea typeface="Microsoft YaHei"/>
                    <a:cs typeface="Arial"/>
                  </a:rPr>
                  <a:t>90%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753100" y="2971800"/>
                <a:ext cx="4800600" cy="66675"/>
              </a:xfrm>
              <a:prstGeom prst="roundRect">
                <a:avLst>
                  <a:gd name="adj" fmla="val 50000"/>
                </a:avLst>
              </a:prstGeom>
              <a:solidFill>
                <a:srgbClr val="E5E5E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753100" y="2971800"/>
                <a:ext cx="4324350" cy="66675"/>
              </a:xfrm>
              <a:prstGeom prst="roundRect">
                <a:avLst>
                  <a:gd name="adj" fmla="val 50000"/>
                </a:avLst>
              </a:prstGeom>
              <a:solidFill>
                <a:srgbClr val="34C759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739765" y="316325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麦轮运动学、四电机同步、速度规划已完成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36908" y="3511868"/>
              <a:ext cx="4833937" cy="741044"/>
              <a:chOff x="5736908" y="3511868"/>
              <a:chExt cx="4833937" cy="741044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736908" y="35199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传感器系统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224666" y="351186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rgbClr val="0071E3"/>
                    </a:solidFill>
                    <a:latin typeface="Arial"/>
                    <a:ea typeface="Microsoft YaHei"/>
                    <a:cs typeface="Arial"/>
                  </a:rPr>
                  <a:t>70%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753100" y="3848100"/>
                <a:ext cx="4800600" cy="66675"/>
              </a:xfrm>
              <a:prstGeom prst="roundRect">
                <a:avLst>
                  <a:gd name="adj" fmla="val 50000"/>
                </a:avLst>
              </a:prstGeom>
              <a:solidFill>
                <a:srgbClr val="E5E5E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753100" y="3848100"/>
                <a:ext cx="3362325" cy="66675"/>
              </a:xfrm>
              <a:prstGeom prst="roundRect">
                <a:avLst>
                  <a:gd name="adj" fmla="val 50000"/>
                </a:avLst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739765" y="4039552"/>
                <a:ext cx="26730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IMU 就绪，闭环部分启用，激光测距已移除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736908" y="4388168"/>
              <a:ext cx="4833937" cy="741044"/>
              <a:chOff x="5736908" y="4388168"/>
              <a:chExt cx="4833937" cy="741044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5736908" y="43962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通信链路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224666" y="438816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rgbClr val="FF3B30"/>
                    </a:solidFill>
                    <a:latin typeface="Arial"/>
                    <a:ea typeface="Microsoft YaHei"/>
                    <a:cs typeface="Arial"/>
                  </a:rPr>
                  <a:t>60%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753100" y="4724400"/>
                <a:ext cx="4800600" cy="66675"/>
              </a:xfrm>
              <a:prstGeom prst="roundRect">
                <a:avLst>
                  <a:gd name="adj" fmla="val 50000"/>
                </a:avLst>
              </a:prstGeom>
              <a:solidFill>
                <a:srgbClr val="E5E5EA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5753100" y="4724400"/>
                <a:ext cx="2876550" cy="66675"/>
              </a:xfrm>
              <a:prstGeom prst="roundRect">
                <a:avLst>
                  <a:gd name="adj" fmla="val 50000"/>
                </a:avLst>
              </a:prstGeom>
              <a:solidFill>
                <a:srgbClr val="FF3B3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739765" y="4915852"/>
                <a:ext cx="3079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Modbus 完成，树莓派协议代码就绪但未完全联调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334000" y="5867400"/>
            <a:ext cx="5791200" cy="438150"/>
            <a:chOff x="5334000" y="5867400"/>
            <a:chExt cx="5791200" cy="438150"/>
          </a:xfrm>
        </p:grpSpPr>
        <p:sp>
          <p:nvSpPr>
            <p:cNvPr id="45" name="Rectangle 45"/>
            <p:cNvSpPr/>
            <p:nvPr/>
          </p:nvSpPr>
          <p:spPr>
            <a:xfrm>
              <a:off x="5334000" y="5867400"/>
              <a:ext cx="272415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43562" y="602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路线执行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2775" y="601408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85%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01050" y="5867400"/>
              <a:ext cx="272415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0612" y="602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功能调试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89825" y="601408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75%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98170" y="6532245"/>
            <a:ext cx="10728960" cy="182880"/>
            <a:chOff x="598170" y="6532245"/>
            <a:chExt cx="107289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98170" y="6532245"/>
              <a:ext cx="33892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Results Overview · source: project progress assessment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2257" y="65322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44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575310" y="413385"/>
            <a:ext cx="9595371" cy="722471"/>
            <a:chOff x="575310" y="413385"/>
            <a:chExt cx="9595371" cy="722471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95953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下一步不是加功能，而是让系统从“可运行”走向“可闭环”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4362" y="907256"/>
              <a:ext cx="60293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展望聚焦工程可实现路径：先补齐证明材料，再提升闭环控制，最后扩展完整任务状态机。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6400" y="1485900"/>
            <a:ext cx="9525" cy="4381500"/>
            <a:chOff x="1676400" y="1485900"/>
            <a:chExt cx="9525" cy="4381500"/>
          </a:xfrm>
        </p:grpSpPr>
        <p:sp>
          <p:nvSpPr>
            <p:cNvPr id="6" name="Line 6"/>
            <p:cNvSpPr/>
            <p:nvPr/>
          </p:nvSpPr>
          <p:spPr>
            <a:xfrm>
              <a:off x="1676400" y="14859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28575" cap="rnd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1676400" y="1485900"/>
              <a:ext cx="9525" cy="1924050"/>
            </a:xfrm>
            <a:custGeom>
              <a:avLst/>
              <a:gdLst/>
              <a:ahLst/>
              <a:cxnLst/>
              <a:rect l="l" t="t" r="r" b="b"/>
              <a:pathLst>
                <a:path w="9525"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noFill/>
            <a:ln w="28575" cap="rnd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9741" y="1295400"/>
            <a:ext cx="5540609" cy="723900"/>
            <a:chOff x="1069741" y="1295400"/>
            <a:chExt cx="5540609" cy="723900"/>
          </a:xfrm>
        </p:grpSpPr>
        <p:sp>
          <p:nvSpPr>
            <p:cNvPr id="9" name="TextBox 9"/>
            <p:cNvSpPr txBox="1"/>
            <p:nvPr/>
          </p:nvSpPr>
          <p:spPr>
            <a:xfrm>
              <a:off x="1069741" y="15359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P0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04950" y="14287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Ellipse 11"/>
            <p:cNvSpPr/>
            <p:nvPr/>
          </p:nvSpPr>
          <p:spPr>
            <a:xfrm>
              <a:off x="1609725" y="1533525"/>
              <a:ext cx="133350" cy="133350"/>
            </a:xfrm>
            <a:prstGeom prst="ellipse">
              <a:avLst/>
            </a:prstGeom>
            <a:solidFill>
              <a:srgbClr val="0071E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5500" y="1295400"/>
              <a:ext cx="4514850" cy="72390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45055" y="14163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补齐展示与验收素材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48865" y="1715452"/>
              <a:ext cx="33730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整车联动流程图、机械臂动作组编号、YOLO 展示截图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09121" y="2247900"/>
            <a:ext cx="5501229" cy="723900"/>
            <a:chOff x="1109121" y="2247900"/>
            <a:chExt cx="5501229" cy="723900"/>
          </a:xfrm>
        </p:grpSpPr>
        <p:sp>
          <p:nvSpPr>
            <p:cNvPr id="16" name="TextBox 16"/>
            <p:cNvSpPr txBox="1"/>
            <p:nvPr/>
          </p:nvSpPr>
          <p:spPr>
            <a:xfrm>
              <a:off x="1109121" y="248840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1E3"/>
                  </a:solidFill>
                  <a:latin typeface="Arial"/>
                  <a:ea typeface="Microsoft YaHei"/>
                  <a:cs typeface="Arial"/>
                </a:rPr>
                <a:t>P1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504950" y="23812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71E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Ellipse 18"/>
            <p:cNvSpPr/>
            <p:nvPr/>
          </p:nvSpPr>
          <p:spPr>
            <a:xfrm>
              <a:off x="1609725" y="2486025"/>
              <a:ext cx="133350" cy="133350"/>
            </a:xfrm>
            <a:prstGeom prst="ellipse">
              <a:avLst/>
            </a:prstGeom>
            <a:solidFill>
              <a:srgbClr val="0071E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95500" y="2247900"/>
              <a:ext cx="4514850" cy="72390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45055" y="2368868"/>
              <a:ext cx="22175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统一树莓派与 STM32 协议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48865" y="26679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增加底盘到位判断，让调度不再只依赖时间估计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9121" y="3200400"/>
            <a:ext cx="5501229" cy="723900"/>
            <a:chOff x="1109121" y="3200400"/>
            <a:chExt cx="5501229" cy="723900"/>
          </a:xfrm>
        </p:grpSpPr>
        <p:sp>
          <p:nvSpPr>
            <p:cNvPr id="23" name="TextBox 23"/>
            <p:cNvSpPr txBox="1"/>
            <p:nvPr/>
          </p:nvSpPr>
          <p:spPr>
            <a:xfrm>
              <a:off x="1109121" y="344090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34C759"/>
                  </a:solidFill>
                  <a:latin typeface="Arial"/>
                  <a:ea typeface="Microsoft YaHei"/>
                  <a:cs typeface="Arial"/>
                </a:rPr>
                <a:t>P1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504950" y="33337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4C75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Ellipse 25"/>
            <p:cNvSpPr/>
            <p:nvPr/>
          </p:nvSpPr>
          <p:spPr>
            <a:xfrm>
              <a:off x="1609725" y="3438525"/>
              <a:ext cx="133350" cy="133350"/>
            </a:xfrm>
            <a:prstGeom prst="ellipse">
              <a:avLst/>
            </a:prstGeom>
            <a:solidFill>
              <a:srgbClr val="34C75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095500" y="3200400"/>
              <a:ext cx="4514850" cy="72390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5055" y="3321368"/>
              <a:ext cx="16126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恢复 IMU yaw 闭环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48865" y="3620452"/>
              <a:ext cx="32470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提高直线保持与转角一致性，降低固定路线误差累积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69741" y="4152900"/>
            <a:ext cx="5540609" cy="723900"/>
            <a:chOff x="1069741" y="4152900"/>
            <a:chExt cx="5540609" cy="723900"/>
          </a:xfrm>
        </p:grpSpPr>
        <p:sp>
          <p:nvSpPr>
            <p:cNvPr id="30" name="TextBox 30"/>
            <p:cNvSpPr txBox="1"/>
            <p:nvPr/>
          </p:nvSpPr>
          <p:spPr>
            <a:xfrm>
              <a:off x="1069741" y="43934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P2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524000" y="4305300"/>
              <a:ext cx="304800" cy="304800"/>
            </a:xfrm>
            <a:prstGeom prst="ellipse">
              <a:avLst/>
            </a:prstGeom>
            <a:solidFill>
              <a:srgbClr val="F5F5F7"/>
            </a:solidFill>
            <a:ln w="28575">
              <a:solidFill>
                <a:srgbClr val="A1A1A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Ellipse 32"/>
            <p:cNvSpPr/>
            <p:nvPr/>
          </p:nvSpPr>
          <p:spPr>
            <a:xfrm>
              <a:off x="1619250" y="4400550"/>
              <a:ext cx="114300" cy="114300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95500" y="4152900"/>
              <a:ext cx="4514850" cy="72390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45055" y="427386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恢复测距安全或替代传感方案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48865" y="45729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为低速搬运、对位停车与障碍保护提供输入基础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69741" y="5105400"/>
            <a:ext cx="5540609" cy="723900"/>
            <a:chOff x="1069741" y="5105400"/>
            <a:chExt cx="5540609" cy="723900"/>
          </a:xfrm>
        </p:grpSpPr>
        <p:sp>
          <p:nvSpPr>
            <p:cNvPr id="37" name="TextBox 37"/>
            <p:cNvSpPr txBox="1"/>
            <p:nvPr/>
          </p:nvSpPr>
          <p:spPr>
            <a:xfrm>
              <a:off x="1069741" y="53459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P2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1524000" y="5257800"/>
              <a:ext cx="304800" cy="304800"/>
            </a:xfrm>
            <a:prstGeom prst="ellipse">
              <a:avLst/>
            </a:prstGeom>
            <a:solidFill>
              <a:srgbClr val="F5F5F7"/>
            </a:solidFill>
            <a:ln w="28575">
              <a:solidFill>
                <a:srgbClr val="A1A1A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Ellipse 39"/>
            <p:cNvSpPr/>
            <p:nvPr/>
          </p:nvSpPr>
          <p:spPr>
            <a:xfrm>
              <a:off x="1619250" y="5353050"/>
              <a:ext cx="114300" cy="114300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95500" y="5105400"/>
              <a:ext cx="4514850" cy="72390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9525">
              <a:solidFill>
                <a:srgbClr val="D2D2D7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45055" y="52263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建立完整任务状态机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48865" y="55254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串联扫码、识别、抓取、运输、投放与异常处理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334250" y="1352550"/>
            <a:ext cx="3752850" cy="4476750"/>
            <a:chOff x="7334250" y="1352550"/>
            <a:chExt cx="3752850" cy="4476750"/>
          </a:xfrm>
        </p:grpSpPr>
        <p:sp>
          <p:nvSpPr>
            <p:cNvPr id="44" name="Rectangle 44"/>
            <p:cNvSpPr/>
            <p:nvPr/>
          </p:nvSpPr>
          <p:spPr>
            <a:xfrm>
              <a:off x="7334250" y="1352550"/>
              <a:ext cx="3752850" cy="4476750"/>
            </a:xfrm>
            <a:prstGeom prst="roundRect">
              <a:avLst>
                <a:gd name="adj" fmla="val 7107"/>
              </a:avLst>
            </a:prstGeom>
            <a:solidFill>
              <a:srgbClr val="1D1D1F">
                <a:alpha val="9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09535" y="16373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闭环目标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40015" y="2058352"/>
              <a:ext cx="2434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从“动作能执行”推进到“状态可判断”。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762875" y="2581275"/>
              <a:ext cx="2229803" cy="502444"/>
              <a:chOff x="7762875" y="2581275"/>
              <a:chExt cx="2229803" cy="502444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7762875" y="2581275"/>
                <a:ext cx="438150" cy="43815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7893050" y="2711450"/>
                <a:ext cx="187325" cy="187325"/>
                <a:chOff x="7893050" y="2711450"/>
                <a:chExt cx="187325" cy="1873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7893050" y="271145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55562"/>
                      </a:lnTo>
                      <a:cubicBezTo>
                        <a:pt x="66675" y="61700"/>
                        <a:pt x="61700" y="66675"/>
                        <a:pt x="55563" y="66675"/>
                      </a:cubicBezTo>
                      <a:lnTo>
                        <a:pt x="11113" y="66675"/>
                      </a:lnTo>
                      <a:cubicBezTo>
                        <a:pt x="4975" y="66675"/>
                        <a:pt x="0" y="61700"/>
                        <a:pt x="0" y="55562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Freeform 49"/>
                <p:cNvSpPr/>
                <p:nvPr/>
              </p:nvSpPr>
              <p:spPr>
                <a:xfrm>
                  <a:off x="7926388" y="28559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50"/>
                <p:cNvSpPr/>
                <p:nvPr/>
              </p:nvSpPr>
              <p:spPr>
                <a:xfrm>
                  <a:off x="8004175" y="271145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2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55562"/>
                      </a:lnTo>
                      <a:cubicBezTo>
                        <a:pt x="66675" y="61700"/>
                        <a:pt x="61700" y="66675"/>
                        <a:pt x="55562" y="66675"/>
                      </a:cubicBezTo>
                      <a:lnTo>
                        <a:pt x="11112" y="66675"/>
                      </a:lnTo>
                      <a:cubicBezTo>
                        <a:pt x="4975" y="66675"/>
                        <a:pt x="0" y="61700"/>
                        <a:pt x="0" y="55562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7926388" y="27447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7893050" y="282257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55563"/>
                      </a:lnTo>
                      <a:cubicBezTo>
                        <a:pt x="66675" y="61700"/>
                        <a:pt x="61700" y="66675"/>
                        <a:pt x="55563" y="66675"/>
                      </a:cubicBezTo>
                      <a:lnTo>
                        <a:pt x="11113" y="66675"/>
                      </a:lnTo>
                      <a:cubicBezTo>
                        <a:pt x="4975" y="66675"/>
                        <a:pt x="0" y="61700"/>
                        <a:pt x="0" y="55563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037512" y="27447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8004175" y="2822575"/>
                  <a:ext cx="333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9525">
                      <a:moveTo>
                        <a:pt x="0" y="0"/>
                      </a:move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/>
                <p:nvPr/>
              </p:nvSpPr>
              <p:spPr>
                <a:xfrm>
                  <a:off x="8070850" y="28225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>
                  <a:off x="8004175" y="2822575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8004175" y="2889250"/>
                  <a:ext cx="333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9525">
                      <a:moveTo>
                        <a:pt x="0" y="0"/>
                      </a:move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8037512" y="2855912"/>
                  <a:ext cx="333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9525">
                      <a:moveTo>
                        <a:pt x="0" y="0"/>
                      </a:move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8070850" y="2855912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403908" y="26055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任务输入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07718" y="2885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1A1A6"/>
                    </a:solidFill>
                    <a:latin typeface="Arial"/>
                    <a:ea typeface="Microsoft YaHei"/>
                    <a:cs typeface="Arial"/>
                  </a:rPr>
                  <a:t>二维码解析搬运对象与顺序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7762875" y="3362325"/>
              <a:ext cx="2476834" cy="502444"/>
              <a:chOff x="7762875" y="3362325"/>
              <a:chExt cx="2476834" cy="502444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7762875" y="3362325"/>
                <a:ext cx="438150" cy="438150"/>
              </a:xfrm>
              <a:prstGeom prst="ellipse">
                <a:avLst/>
              </a:prstGeom>
              <a:solidFill>
                <a:srgbClr val="34C759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7881938" y="3492500"/>
                <a:ext cx="209549" cy="188913"/>
                <a:chOff x="7881938" y="3492500"/>
                <a:chExt cx="209549" cy="188913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7881938" y="3492500"/>
                  <a:ext cx="20002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77800">
                      <a:moveTo>
                        <a:pt x="77787" y="177800"/>
                      </a:moveTo>
                      <a:lnTo>
                        <a:pt x="22225" y="177800"/>
                      </a:lnTo>
                      <a:cubicBezTo>
                        <a:pt x="9950" y="177800"/>
                        <a:pt x="0" y="167850"/>
                        <a:pt x="0" y="155575"/>
                      </a:cubicBezTo>
                      <a:lnTo>
                        <a:pt x="0" y="55562"/>
                      </a:lnTo>
                      <a:cubicBezTo>
                        <a:pt x="0" y="43288"/>
                        <a:pt x="9950" y="33338"/>
                        <a:pt x="22225" y="33338"/>
                      </a:cubicBezTo>
                      <a:lnTo>
                        <a:pt x="33338" y="33338"/>
                      </a:lnTo>
                      <a:cubicBezTo>
                        <a:pt x="45612" y="33338"/>
                        <a:pt x="55563" y="23387"/>
                        <a:pt x="55563" y="11112"/>
                      </a:cubicBezTo>
                      <a:cubicBezTo>
                        <a:pt x="55563" y="4975"/>
                        <a:pt x="60538" y="0"/>
                        <a:pt x="66675" y="0"/>
                      </a:cubicBezTo>
                      <a:lnTo>
                        <a:pt x="133350" y="0"/>
                      </a:lnTo>
                      <a:cubicBezTo>
                        <a:pt x="139487" y="0"/>
                        <a:pt x="144462" y="4975"/>
                        <a:pt x="144462" y="11112"/>
                      </a:cubicBezTo>
                      <a:cubicBezTo>
                        <a:pt x="144462" y="23387"/>
                        <a:pt x="154413" y="33338"/>
                        <a:pt x="166688" y="33338"/>
                      </a:cubicBezTo>
                      <a:lnTo>
                        <a:pt x="177800" y="33338"/>
                      </a:lnTo>
                      <a:cubicBezTo>
                        <a:pt x="190075" y="33338"/>
                        <a:pt x="200025" y="43288"/>
                        <a:pt x="200025" y="55562"/>
                      </a:cubicBezTo>
                      <a:lnTo>
                        <a:pt x="200025" y="77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Freeform 66"/>
                <p:cNvSpPr/>
                <p:nvPr/>
              </p:nvSpPr>
              <p:spPr>
                <a:xfrm>
                  <a:off x="7946681" y="3557083"/>
                  <a:ext cx="61517" cy="62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17" h="62244">
                      <a:moveTo>
                        <a:pt x="61517" y="14872"/>
                      </a:moveTo>
                      <a:cubicBezTo>
                        <a:pt x="53507" y="4644"/>
                        <a:pt x="40286" y="0"/>
                        <a:pt x="27641" y="2973"/>
                      </a:cubicBezTo>
                      <a:cubicBezTo>
                        <a:pt x="14995" y="5946"/>
                        <a:pt x="5227" y="15993"/>
                        <a:pt x="2614" y="28718"/>
                      </a:cubicBezTo>
                      <a:cubicBezTo>
                        <a:pt x="0" y="41443"/>
                        <a:pt x="5016" y="54528"/>
                        <a:pt x="15466" y="622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8004175" y="3614738"/>
                  <a:ext cx="44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66675">
                      <a:moveTo>
                        <a:pt x="0" y="66675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8004175" y="3659188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8081962" y="3614738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8403908" y="33866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状态感知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407718" y="3666649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1A1A6"/>
                    </a:solidFill>
                    <a:latin typeface="Arial"/>
                    <a:ea typeface="Microsoft YaHei"/>
                    <a:cs typeface="Arial"/>
                  </a:rPr>
                  <a:t>视觉、IMU 与到位判断形成反馈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7762875" y="4143375"/>
              <a:ext cx="2489835" cy="502444"/>
              <a:chOff x="7762875" y="4143375"/>
              <a:chExt cx="2489835" cy="502444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7762875" y="4143375"/>
                <a:ext cx="438150" cy="438150"/>
              </a:xfrm>
              <a:prstGeom prst="ellipse">
                <a:avLst/>
              </a:prstGeom>
              <a:solidFill>
                <a:srgbClr val="0071E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" name="Group 77"/>
              <p:cNvGrpSpPr/>
              <p:nvPr/>
            </p:nvGrpSpPr>
            <p:grpSpPr>
              <a:xfrm>
                <a:off x="7877059" y="4257559"/>
                <a:ext cx="209782" cy="209782"/>
                <a:chOff x="7877059" y="4257559"/>
                <a:chExt cx="209782" cy="209782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7877059" y="4257559"/>
                  <a:ext cx="209782" cy="209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82" h="209782">
                      <a:moveTo>
                        <a:pt x="86277" y="19514"/>
                      </a:moveTo>
                      <a:cubicBezTo>
                        <a:pt x="91011" y="0"/>
                        <a:pt x="118770" y="0"/>
                        <a:pt x="123504" y="19514"/>
                      </a:cubicBezTo>
                      <a:cubicBezTo>
                        <a:pt x="124945" y="25459"/>
                        <a:pt x="129139" y="30360"/>
                        <a:pt x="134791" y="32701"/>
                      </a:cubicBezTo>
                      <a:cubicBezTo>
                        <a:pt x="140443" y="35043"/>
                        <a:pt x="146873" y="34544"/>
                        <a:pt x="152097" y="31359"/>
                      </a:cubicBezTo>
                      <a:cubicBezTo>
                        <a:pt x="169243" y="20914"/>
                        <a:pt x="188879" y="40538"/>
                        <a:pt x="178433" y="57696"/>
                      </a:cubicBezTo>
                      <a:cubicBezTo>
                        <a:pt x="175253" y="62917"/>
                        <a:pt x="174756" y="69343"/>
                        <a:pt x="177095" y="74991"/>
                      </a:cubicBezTo>
                      <a:cubicBezTo>
                        <a:pt x="179434" y="80640"/>
                        <a:pt x="184328" y="84833"/>
                        <a:pt x="190268" y="86277"/>
                      </a:cubicBezTo>
                      <a:cubicBezTo>
                        <a:pt x="209782" y="91011"/>
                        <a:pt x="209782" y="118770"/>
                        <a:pt x="190268" y="123504"/>
                      </a:cubicBezTo>
                      <a:cubicBezTo>
                        <a:pt x="184322" y="124945"/>
                        <a:pt x="179422" y="129139"/>
                        <a:pt x="177081" y="134791"/>
                      </a:cubicBezTo>
                      <a:cubicBezTo>
                        <a:pt x="174739" y="140443"/>
                        <a:pt x="175237" y="146873"/>
                        <a:pt x="178422" y="152097"/>
                      </a:cubicBezTo>
                      <a:cubicBezTo>
                        <a:pt x="188868" y="169243"/>
                        <a:pt x="169243" y="188879"/>
                        <a:pt x="152086" y="178433"/>
                      </a:cubicBezTo>
                      <a:cubicBezTo>
                        <a:pt x="146864" y="175253"/>
                        <a:pt x="140439" y="174756"/>
                        <a:pt x="134790" y="177095"/>
                      </a:cubicBezTo>
                      <a:cubicBezTo>
                        <a:pt x="129142" y="179434"/>
                        <a:pt x="124949" y="184328"/>
                        <a:pt x="123504" y="190268"/>
                      </a:cubicBezTo>
                      <a:cubicBezTo>
                        <a:pt x="118770" y="209782"/>
                        <a:pt x="91011" y="209782"/>
                        <a:pt x="86277" y="190268"/>
                      </a:cubicBezTo>
                      <a:cubicBezTo>
                        <a:pt x="84837" y="184322"/>
                        <a:pt x="80643" y="179422"/>
                        <a:pt x="74991" y="177081"/>
                      </a:cubicBezTo>
                      <a:cubicBezTo>
                        <a:pt x="69339" y="174739"/>
                        <a:pt x="62909" y="175237"/>
                        <a:pt x="57685" y="178422"/>
                      </a:cubicBezTo>
                      <a:cubicBezTo>
                        <a:pt x="40538" y="188868"/>
                        <a:pt x="20903" y="169243"/>
                        <a:pt x="31348" y="152086"/>
                      </a:cubicBezTo>
                      <a:cubicBezTo>
                        <a:pt x="34529" y="146864"/>
                        <a:pt x="35026" y="140439"/>
                        <a:pt x="32687" y="134790"/>
                      </a:cubicBezTo>
                      <a:cubicBezTo>
                        <a:pt x="30348" y="129142"/>
                        <a:pt x="25454" y="124949"/>
                        <a:pt x="19514" y="123504"/>
                      </a:cubicBezTo>
                      <a:cubicBezTo>
                        <a:pt x="0" y="118770"/>
                        <a:pt x="0" y="91011"/>
                        <a:pt x="19514" y="86277"/>
                      </a:cubicBezTo>
                      <a:cubicBezTo>
                        <a:pt x="25459" y="84837"/>
                        <a:pt x="30360" y="80643"/>
                        <a:pt x="32701" y="74991"/>
                      </a:cubicBezTo>
                      <a:cubicBezTo>
                        <a:pt x="35043" y="69339"/>
                        <a:pt x="34544" y="62909"/>
                        <a:pt x="31359" y="57685"/>
                      </a:cubicBezTo>
                      <a:cubicBezTo>
                        <a:pt x="20914" y="40538"/>
                        <a:pt x="40538" y="20903"/>
                        <a:pt x="57696" y="31348"/>
                      </a:cubicBezTo>
                      <a:cubicBezTo>
                        <a:pt x="68809" y="38105"/>
                        <a:pt x="83210" y="32126"/>
                        <a:pt x="86277" y="1951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7959725" y="4329112"/>
                  <a:ext cx="55563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66675">
                      <a:moveTo>
                        <a:pt x="0" y="0"/>
                      </a:moveTo>
                      <a:lnTo>
                        <a:pt x="0" y="66675"/>
                      </a:lnTo>
                      <a:lnTo>
                        <a:pt x="55563" y="333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8403908" y="41676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动作调度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07718" y="44476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1A1A6"/>
                    </a:solidFill>
                    <a:latin typeface="Arial"/>
                    <a:ea typeface="Microsoft YaHei"/>
                    <a:cs typeface="Arial"/>
                  </a:rPr>
                  <a:t>底盘与机械臂按状态机协同执行</a:t>
                </a:r>
              </a:p>
            </p:txBody>
          </p:sp>
        </p:grpSp>
        <p:sp>
          <p:nvSpPr>
            <p:cNvPr id="81" name="Line 81"/>
            <p:cNvSpPr/>
            <p:nvPr/>
          </p:nvSpPr>
          <p:spPr>
            <a:xfrm>
              <a:off x="7981950" y="30575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FFFFFF">
                  <a:alpha val="34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2"/>
            <p:cNvSpPr/>
            <p:nvPr/>
          </p:nvSpPr>
          <p:spPr>
            <a:xfrm>
              <a:off x="7981950" y="383857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FFFFFF">
                  <a:alpha val="34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753350" y="5105400"/>
              <a:ext cx="29146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 w="9525">
              <a:solidFill>
                <a:srgbClr val="FFFFFF">
                  <a:alpha val="18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72510" y="5241131"/>
              <a:ext cx="2076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真实可验收，而不是口头完成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98170" y="6532245"/>
            <a:ext cx="10728960" cy="182880"/>
            <a:chOff x="598170" y="6532245"/>
            <a:chExt cx="10728960" cy="182880"/>
          </a:xfrm>
        </p:grpSpPr>
        <p:sp>
          <p:nvSpPr>
            <p:cNvPr id="86" name="TextBox 86"/>
            <p:cNvSpPr txBox="1"/>
            <p:nvPr/>
          </p:nvSpPr>
          <p:spPr>
            <a:xfrm>
              <a:off x="598170" y="6532245"/>
              <a:ext cx="2951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Project Outlook · P0 / P1 / P2 engineering roadmap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02257" y="65322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1A1A6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2" grpId="0"/>
      <p:bldP spid="29" grpId="0"/>
      <p:bldP spid="36" grpId="0"/>
      <p:bldP spid="43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1E3">
                  <a:alpha val="12000"/>
                </a:srgbClr>
              </a:gs>
              <a:gs pos="100000">
                <a:srgbClr val="0071E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58165" y="716756"/>
            <a:ext cx="6232475" cy="3274219"/>
            <a:chOff x="558165" y="716756"/>
            <a:chExt cx="6232475" cy="3274219"/>
          </a:xfrm>
        </p:grpSpPr>
        <p:sp>
          <p:nvSpPr>
            <p:cNvPr id="4" name="TextBox 4"/>
            <p:cNvSpPr txBox="1"/>
            <p:nvPr/>
          </p:nvSpPr>
          <p:spPr>
            <a:xfrm>
              <a:off x="595312" y="71675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商业应用与项目收束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165" y="1277302"/>
              <a:ext cx="2938224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小车之外，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8165" y="1944052"/>
              <a:ext cx="6232475" cy="623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是一套智能搬运单元的雏形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47700" y="2705100"/>
              <a:ext cx="33528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1E3"/>
                </a:gs>
                <a:gs pos="100000">
                  <a:srgbClr val="34C759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30384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它的价值不止在比赛或课程演示，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33623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而在于把嵌入式控制、视觉感知和动作执行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368617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E6E73"/>
                  </a:solidFill>
                  <a:latin typeface="Arial"/>
                  <a:ea typeface="Microsoft YaHei"/>
                  <a:cs typeface="Arial"/>
                </a:rPr>
                <a:t>组织成一个可继续验证的系统平台。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81050" y="4106862"/>
            <a:ext cx="10294143" cy="1684338"/>
            <a:chOff x="781050" y="4106862"/>
            <a:chExt cx="10294143" cy="1684338"/>
          </a:xfrm>
        </p:grpSpPr>
        <p:grpSp>
          <p:nvGrpSpPr>
            <p:cNvPr id="38" name="Group 38"/>
            <p:cNvGrpSpPr/>
            <p:nvPr/>
          </p:nvGrpSpPr>
          <p:grpSpPr>
            <a:xfrm>
              <a:off x="781050" y="4121944"/>
              <a:ext cx="1650206" cy="1669256"/>
              <a:chOff x="781050" y="4121944"/>
              <a:chExt cx="1650206" cy="1669256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781050" y="4133850"/>
                <a:ext cx="9525" cy="1657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7350">
                    <a:moveTo>
                      <a:pt x="0" y="0"/>
                    </a:moveTo>
                    <a:lnTo>
                      <a:pt x="0" y="1657350"/>
                    </a:lnTo>
                  </a:path>
                </a:pathLst>
              </a:custGeom>
              <a:noFill/>
              <a:ln w="47625" cap="rnd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1112044" y="4121944"/>
                <a:ext cx="271462" cy="271463"/>
                <a:chOff x="1112044" y="4121944"/>
                <a:chExt cx="271462" cy="27146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142206" y="4152106"/>
                  <a:ext cx="211138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38" h="211137">
                      <a:moveTo>
                        <a:pt x="0" y="15081"/>
                      </a:moveTo>
                      <a:cubicBezTo>
                        <a:pt x="0" y="6752"/>
                        <a:pt x="6752" y="0"/>
                        <a:pt x="15081" y="0"/>
                      </a:cubicBezTo>
                      <a:lnTo>
                        <a:pt x="196056" y="0"/>
                      </a:lnTo>
                      <a:cubicBezTo>
                        <a:pt x="204385" y="0"/>
                        <a:pt x="211138" y="6752"/>
                        <a:pt x="211138" y="15081"/>
                      </a:cubicBezTo>
                      <a:lnTo>
                        <a:pt x="211138" y="196056"/>
                      </a:lnTo>
                      <a:cubicBezTo>
                        <a:pt x="211138" y="204385"/>
                        <a:pt x="204385" y="211137"/>
                        <a:pt x="196056" y="211137"/>
                      </a:cubicBezTo>
                      <a:lnTo>
                        <a:pt x="15081" y="211137"/>
                      </a:lnTo>
                      <a:cubicBezTo>
                        <a:pt x="6752" y="211137"/>
                        <a:pt x="0" y="204385"/>
                        <a:pt x="0" y="196056"/>
                      </a:cubicBezTo>
                      <a:lnTo>
                        <a:pt x="0" y="15081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1202531" y="4212431"/>
                  <a:ext cx="90488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90488">
                      <a:moveTo>
                        <a:pt x="0" y="0"/>
                      </a:moveTo>
                      <a:lnTo>
                        <a:pt x="90488" y="0"/>
                      </a:lnTo>
                      <a:lnTo>
                        <a:pt x="90488" y="90488"/>
                      </a:lnTo>
                      <a:lnTo>
                        <a:pt x="0" y="904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1112044" y="4227512"/>
                  <a:ext cx="301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9525">
                      <a:moveTo>
                        <a:pt x="0" y="0"/>
                      </a:moveTo>
                      <a:lnTo>
                        <a:pt x="30163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7"/>
                <p:cNvSpPr/>
                <p:nvPr/>
              </p:nvSpPr>
              <p:spPr>
                <a:xfrm>
                  <a:off x="1112044" y="4287838"/>
                  <a:ext cx="301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9525">
                      <a:moveTo>
                        <a:pt x="0" y="0"/>
                      </a:moveTo>
                      <a:lnTo>
                        <a:pt x="30163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Freeform 28"/>
                <p:cNvSpPr/>
                <p:nvPr/>
              </p:nvSpPr>
              <p:spPr>
                <a:xfrm>
                  <a:off x="1217612" y="41219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0"/>
                      </a:moveTo>
                      <a:lnTo>
                        <a:pt x="0" y="30163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1277938" y="41219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0"/>
                      </a:moveTo>
                      <a:lnTo>
                        <a:pt x="0" y="30163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1353344" y="4227512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3016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353344" y="4287838"/>
                  <a:ext cx="301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9525">
                      <a:moveTo>
                        <a:pt x="3016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277938" y="43632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301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217612" y="43632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301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46798" y="45543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教育实训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52512" y="49458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覆盖嵌入式、视觉、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52512" y="5174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运动控制与系统集成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3562350" y="4121944"/>
              <a:ext cx="1950243" cy="1669256"/>
              <a:chOff x="3562350" y="4121944"/>
              <a:chExt cx="1950243" cy="1669256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3562350" y="4133850"/>
                <a:ext cx="9525" cy="1657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7350">
                    <a:moveTo>
                      <a:pt x="0" y="0"/>
                    </a:moveTo>
                    <a:lnTo>
                      <a:pt x="0" y="1657350"/>
                    </a:lnTo>
                  </a:path>
                </a:pathLst>
              </a:custGeom>
              <a:noFill/>
              <a:ln w="47625" cap="rnd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3893344" y="4121944"/>
                <a:ext cx="271462" cy="271462"/>
                <a:chOff x="3893344" y="4121944"/>
                <a:chExt cx="271462" cy="2714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3893344" y="4333081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2"/>
                      </a:moveTo>
                      <a:cubicBezTo>
                        <a:pt x="0" y="46821"/>
                        <a:pt x="13504" y="60325"/>
                        <a:pt x="30163" y="60325"/>
                      </a:cubicBezTo>
                      <a:cubicBezTo>
                        <a:pt x="46821" y="60325"/>
                        <a:pt x="60325" y="46821"/>
                        <a:pt x="60325" y="30162"/>
                      </a:cubicBezTo>
                      <a:cubicBezTo>
                        <a:pt x="60325" y="13504"/>
                        <a:pt x="46821" y="0"/>
                        <a:pt x="30163" y="0"/>
                      </a:cubicBezTo>
                      <a:cubicBezTo>
                        <a:pt x="13504" y="0"/>
                        <a:pt x="0" y="13504"/>
                        <a:pt x="0" y="30162"/>
                      </a:cubicBezTo>
                    </a:path>
                  </a:pathLst>
                </a:custGeom>
                <a:noFill/>
                <a:ln w="19050">
                  <a:solidFill>
                    <a:srgbClr val="34C759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4104481" y="4121944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30162" y="60325"/>
                      </a:moveTo>
                      <a:cubicBezTo>
                        <a:pt x="46821" y="60325"/>
                        <a:pt x="60325" y="46821"/>
                        <a:pt x="60325" y="30163"/>
                      </a:cubicBezTo>
                      <a:cubicBezTo>
                        <a:pt x="60325" y="13504"/>
                        <a:pt x="46821" y="0"/>
                        <a:pt x="30162" y="0"/>
                      </a:cubicBezTo>
                      <a:cubicBezTo>
                        <a:pt x="13504" y="0"/>
                        <a:pt x="0" y="13504"/>
                        <a:pt x="0" y="30163"/>
                      </a:cubicBezTo>
                      <a:cubicBezTo>
                        <a:pt x="0" y="46821"/>
                        <a:pt x="13504" y="60325"/>
                        <a:pt x="30162" y="60325"/>
                      </a:cubicBezTo>
                    </a:path>
                  </a:pathLst>
                </a:custGeom>
                <a:noFill/>
                <a:ln w="19050">
                  <a:solidFill>
                    <a:srgbClr val="34C759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Freeform 42"/>
                <p:cNvSpPr/>
                <p:nvPr/>
              </p:nvSpPr>
              <p:spPr>
                <a:xfrm>
                  <a:off x="3923506" y="4152106"/>
                  <a:ext cx="226219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219" h="211137">
                      <a:moveTo>
                        <a:pt x="90488" y="211137"/>
                      </a:moveTo>
                      <a:lnTo>
                        <a:pt x="173434" y="211137"/>
                      </a:lnTo>
                      <a:cubicBezTo>
                        <a:pt x="202586" y="211137"/>
                        <a:pt x="226219" y="187505"/>
                        <a:pt x="226219" y="158353"/>
                      </a:cubicBezTo>
                      <a:cubicBezTo>
                        <a:pt x="226219" y="129201"/>
                        <a:pt x="202586" y="105569"/>
                        <a:pt x="173434" y="105569"/>
                      </a:cubicBezTo>
                      <a:lnTo>
                        <a:pt x="52784" y="105569"/>
                      </a:lnTo>
                      <a:cubicBezTo>
                        <a:pt x="23632" y="105569"/>
                        <a:pt x="0" y="81936"/>
                        <a:pt x="0" y="52784"/>
                      </a:cubicBezTo>
                      <a:cubicBezTo>
                        <a:pt x="0" y="23632"/>
                        <a:pt x="23632" y="0"/>
                        <a:pt x="52784" y="0"/>
                      </a:cubicBezTo>
                      <a:lnTo>
                        <a:pt x="120650" y="0"/>
                      </a:lnTo>
                    </a:path>
                  </a:pathLst>
                </a:custGeom>
                <a:noFill/>
                <a:ln w="19050">
                  <a:solidFill>
                    <a:srgbClr val="34C759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3828098" y="45543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仓储试验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833812" y="49458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适合轻量物料、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833812" y="51744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定点搬运与固定路线验证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343650" y="4106862"/>
              <a:ext cx="1950243" cy="1684338"/>
              <a:chOff x="6343650" y="4106862"/>
              <a:chExt cx="1950243" cy="1684338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6343650" y="4133850"/>
                <a:ext cx="9525" cy="1657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7350">
                    <a:moveTo>
                      <a:pt x="0" y="0"/>
                    </a:moveTo>
                    <a:lnTo>
                      <a:pt x="0" y="1657350"/>
                    </a:lnTo>
                  </a:path>
                </a:pathLst>
              </a:custGeom>
              <a:noFill/>
              <a:ln w="47625" cap="rnd">
                <a:solidFill>
                  <a:srgbClr val="0071E3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6704806" y="4106862"/>
                <a:ext cx="211138" cy="286544"/>
                <a:chOff x="6704806" y="4106862"/>
                <a:chExt cx="211138" cy="286544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719888" y="4137025"/>
                  <a:ext cx="180975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20650">
                      <a:moveTo>
                        <a:pt x="0" y="30163"/>
                      </a:moveTo>
                      <a:cubicBezTo>
                        <a:pt x="0" y="13504"/>
                        <a:pt x="13504" y="0"/>
                        <a:pt x="30162" y="0"/>
                      </a:cubicBezTo>
                      <a:lnTo>
                        <a:pt x="150813" y="0"/>
                      </a:lnTo>
                      <a:cubicBezTo>
                        <a:pt x="167471" y="0"/>
                        <a:pt x="180975" y="13504"/>
                        <a:pt x="180975" y="30163"/>
                      </a:cubicBezTo>
                      <a:lnTo>
                        <a:pt x="180975" y="90488"/>
                      </a:lnTo>
                      <a:cubicBezTo>
                        <a:pt x="180975" y="107146"/>
                        <a:pt x="167471" y="120650"/>
                        <a:pt x="150813" y="120650"/>
                      </a:cubicBezTo>
                      <a:lnTo>
                        <a:pt x="30162" y="120650"/>
                      </a:lnTo>
                      <a:cubicBezTo>
                        <a:pt x="13504" y="120650"/>
                        <a:pt x="0" y="107146"/>
                        <a:pt x="0" y="90488"/>
                      </a:cubicBezTo>
                      <a:lnTo>
                        <a:pt x="0" y="30163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50"/>
                <p:cNvSpPr/>
                <p:nvPr/>
              </p:nvSpPr>
              <p:spPr>
                <a:xfrm>
                  <a:off x="6810375" y="4106862"/>
                  <a:ext cx="95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2">
                      <a:moveTo>
                        <a:pt x="0" y="0"/>
                      </a:moveTo>
                      <a:lnTo>
                        <a:pt x="0" y="30162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6765131" y="4257675"/>
                  <a:ext cx="9525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5731">
                      <a:moveTo>
                        <a:pt x="0" y="0"/>
                      </a:moveTo>
                      <a:lnTo>
                        <a:pt x="0" y="135731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6855619" y="4257675"/>
                  <a:ext cx="9525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5731">
                      <a:moveTo>
                        <a:pt x="0" y="0"/>
                      </a:moveTo>
                      <a:lnTo>
                        <a:pt x="0" y="135731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6704806" y="4287838"/>
                  <a:ext cx="603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30162">
                      <a:moveTo>
                        <a:pt x="0" y="30162"/>
                      </a:moveTo>
                      <a:lnTo>
                        <a:pt x="60325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6855619" y="4287838"/>
                  <a:ext cx="60325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30162">
                      <a:moveTo>
                        <a:pt x="0" y="0"/>
                      </a:moveTo>
                      <a:lnTo>
                        <a:pt x="60325" y="30162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/>
                <p:nvPr/>
              </p:nvSpPr>
              <p:spPr>
                <a:xfrm>
                  <a:off x="6765131" y="4348162"/>
                  <a:ext cx="904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9525">
                      <a:moveTo>
                        <a:pt x="0" y="0"/>
                      </a:moveTo>
                      <a:lnTo>
                        <a:pt x="90488" y="0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>
                  <a:off x="6780212" y="4197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6840538" y="4197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19050">
                  <a:solidFill>
                    <a:srgbClr val="0071E3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609398" y="45543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工业辅助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615112" y="49458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扩展为视觉定位、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615112" y="51744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扫码分拣与柔性投放单元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124950" y="4115323"/>
              <a:ext cx="1950243" cy="1675877"/>
              <a:chOff x="9124950" y="4115323"/>
              <a:chExt cx="1950243" cy="1675877"/>
            </a:xfrm>
          </p:grpSpPr>
          <p:sp>
            <p:nvSpPr>
              <p:cNvPr id="63" name="Line 63"/>
              <p:cNvSpPr/>
              <p:nvPr/>
            </p:nvSpPr>
            <p:spPr>
              <a:xfrm>
                <a:off x="9124950" y="4133850"/>
                <a:ext cx="9525" cy="1657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7350">
                    <a:moveTo>
                      <a:pt x="0" y="0"/>
                    </a:moveTo>
                    <a:lnTo>
                      <a:pt x="0" y="1657350"/>
                    </a:lnTo>
                  </a:path>
                </a:pathLst>
              </a:custGeom>
              <a:noFill/>
              <a:ln w="47625" cap="rnd">
                <a:solidFill>
                  <a:srgbClr val="34C75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6" name="Group 66"/>
              <p:cNvGrpSpPr/>
              <p:nvPr/>
            </p:nvGrpSpPr>
            <p:grpSpPr>
              <a:xfrm>
                <a:off x="9449323" y="4115323"/>
                <a:ext cx="284704" cy="284704"/>
                <a:chOff x="9449323" y="4115323"/>
                <a:chExt cx="284704" cy="28470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9449323" y="4115323"/>
                  <a:ext cx="284704" cy="28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704" h="284704">
                      <a:moveTo>
                        <a:pt x="117091" y="26483"/>
                      </a:moveTo>
                      <a:cubicBezTo>
                        <a:pt x="123515" y="0"/>
                        <a:pt x="161188" y="0"/>
                        <a:pt x="167613" y="26483"/>
                      </a:cubicBezTo>
                      <a:cubicBezTo>
                        <a:pt x="169568" y="34552"/>
                        <a:pt x="175260" y="41202"/>
                        <a:pt x="182930" y="44380"/>
                      </a:cubicBezTo>
                      <a:cubicBezTo>
                        <a:pt x="190601" y="47558"/>
                        <a:pt x="199328" y="46882"/>
                        <a:pt x="206417" y="42559"/>
                      </a:cubicBezTo>
                      <a:cubicBezTo>
                        <a:pt x="229687" y="28383"/>
                        <a:pt x="256336" y="55016"/>
                        <a:pt x="242160" y="78302"/>
                      </a:cubicBezTo>
                      <a:cubicBezTo>
                        <a:pt x="237844" y="85388"/>
                        <a:pt x="237169" y="94108"/>
                        <a:pt x="240343" y="101774"/>
                      </a:cubicBezTo>
                      <a:cubicBezTo>
                        <a:pt x="243517" y="109440"/>
                        <a:pt x="250159" y="115130"/>
                        <a:pt x="258221" y="117091"/>
                      </a:cubicBezTo>
                      <a:cubicBezTo>
                        <a:pt x="284704" y="123515"/>
                        <a:pt x="284704" y="161188"/>
                        <a:pt x="258221" y="167613"/>
                      </a:cubicBezTo>
                      <a:cubicBezTo>
                        <a:pt x="250152" y="169568"/>
                        <a:pt x="243501" y="175260"/>
                        <a:pt x="240324" y="182930"/>
                      </a:cubicBezTo>
                      <a:cubicBezTo>
                        <a:pt x="237146" y="190601"/>
                        <a:pt x="237822" y="199328"/>
                        <a:pt x="242145" y="206417"/>
                      </a:cubicBezTo>
                      <a:cubicBezTo>
                        <a:pt x="256321" y="229687"/>
                        <a:pt x="229687" y="256336"/>
                        <a:pt x="206402" y="242160"/>
                      </a:cubicBezTo>
                      <a:cubicBezTo>
                        <a:pt x="199316" y="237844"/>
                        <a:pt x="190596" y="237169"/>
                        <a:pt x="182930" y="240343"/>
                      </a:cubicBezTo>
                      <a:cubicBezTo>
                        <a:pt x="175264" y="243517"/>
                        <a:pt x="169574" y="250159"/>
                        <a:pt x="167613" y="258221"/>
                      </a:cubicBezTo>
                      <a:cubicBezTo>
                        <a:pt x="161188" y="284704"/>
                        <a:pt x="123515" y="284704"/>
                        <a:pt x="117091" y="258221"/>
                      </a:cubicBezTo>
                      <a:cubicBezTo>
                        <a:pt x="115136" y="250152"/>
                        <a:pt x="109444" y="243501"/>
                        <a:pt x="101774" y="240324"/>
                      </a:cubicBezTo>
                      <a:cubicBezTo>
                        <a:pt x="94103" y="237146"/>
                        <a:pt x="85376" y="237822"/>
                        <a:pt x="78287" y="242145"/>
                      </a:cubicBezTo>
                      <a:cubicBezTo>
                        <a:pt x="55016" y="256321"/>
                        <a:pt x="28368" y="229687"/>
                        <a:pt x="42544" y="206402"/>
                      </a:cubicBezTo>
                      <a:cubicBezTo>
                        <a:pt x="46860" y="199316"/>
                        <a:pt x="47535" y="190596"/>
                        <a:pt x="44361" y="182930"/>
                      </a:cubicBezTo>
                      <a:cubicBezTo>
                        <a:pt x="41187" y="175264"/>
                        <a:pt x="34545" y="169574"/>
                        <a:pt x="26483" y="167613"/>
                      </a:cubicBezTo>
                      <a:cubicBezTo>
                        <a:pt x="0" y="161188"/>
                        <a:pt x="0" y="123515"/>
                        <a:pt x="26483" y="117091"/>
                      </a:cubicBezTo>
                      <a:cubicBezTo>
                        <a:pt x="34552" y="115136"/>
                        <a:pt x="41202" y="109444"/>
                        <a:pt x="44380" y="101774"/>
                      </a:cubicBezTo>
                      <a:cubicBezTo>
                        <a:pt x="47558" y="94103"/>
                        <a:pt x="46882" y="85376"/>
                        <a:pt x="42559" y="78287"/>
                      </a:cubicBezTo>
                      <a:cubicBezTo>
                        <a:pt x="28383" y="55016"/>
                        <a:pt x="55016" y="28368"/>
                        <a:pt x="78302" y="42544"/>
                      </a:cubicBezTo>
                      <a:cubicBezTo>
                        <a:pt x="93383" y="51714"/>
                        <a:pt x="112928" y="43600"/>
                        <a:pt x="117091" y="26483"/>
                      </a:cubicBezTo>
                    </a:path>
                  </a:pathLst>
                </a:custGeom>
                <a:noFill/>
                <a:ln w="19050">
                  <a:solidFill>
                    <a:srgbClr val="34C759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9561512" y="4212431"/>
                  <a:ext cx="75406" cy="90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90488">
                      <a:moveTo>
                        <a:pt x="0" y="0"/>
                      </a:moveTo>
                      <a:lnTo>
                        <a:pt x="0" y="90488"/>
                      </a:lnTo>
                      <a:lnTo>
                        <a:pt x="75406" y="4524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34C759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9390698" y="45543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科研竞赛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396412" y="49458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承载导航闭环、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396412" y="51744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E6E73"/>
                    </a:solidFill>
                    <a:latin typeface="Arial"/>
                    <a:ea typeface="Microsoft YaHei"/>
                    <a:cs typeface="Arial"/>
                  </a:rPr>
                  <a:t>抓取控制与调度算法验证</a:t>
                </a:r>
              </a:p>
            </p:txBody>
          </p:sp>
        </p:grpSp>
      </p:grpSp>
      <p:sp>
        <p:nvSpPr>
          <p:cNvPr id="74" name="TextBox 74"/>
          <p:cNvSpPr txBox="1"/>
          <p:nvPr/>
        </p:nvSpPr>
        <p:spPr>
          <a:xfrm>
            <a:off x="11202257" y="64941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36B9D94D-D250-5FB8-DB1C-558383DC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548"/>
          <a:stretch>
            <a:fillRect/>
          </a:stretch>
        </p:blipFill>
        <p:spPr>
          <a:xfrm>
            <a:off x="7922799" y="392826"/>
            <a:ext cx="3149328" cy="3462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2552</Words>
  <Application>Microsoft Office PowerPoint</Application>
  <PresentationFormat>宽屏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Green</cp:lastModifiedBy>
  <cp:revision>4</cp:revision>
  <dcterms:created xsi:type="dcterms:W3CDTF">2013-01-27T09:14:16Z</dcterms:created>
  <dcterms:modified xsi:type="dcterms:W3CDTF">2026-07-05T14:11:53Z</dcterms:modified>
  <cp:category/>
</cp:coreProperties>
</file>