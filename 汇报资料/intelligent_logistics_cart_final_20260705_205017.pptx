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2" r:id="rId6"/>
    <p:sldId id="260" r:id="rId7"/>
    <p:sldId id="271" r:id="rId8"/>
    <p:sldId id="261" r:id="rId9"/>
    <p:sldId id="272" r:id="rId10"/>
    <p:sldId id="267" r:id="rId11"/>
    <p:sldId id="268" r:id="rId12"/>
    <p:sldId id="269" r:id="rId13"/>
    <p:sldId id="270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96" y="1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15944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各位老师、同学好，我们的期末汇报项目是智能物流小车。这个项目的目标不是只做一台能动的小车，而是把全向底盘、视觉识别、二维码任务、机械臂动作组和上位机调度整合成一个小型智能搬运系统。今天的汇报会尽量用产品发布的方式讲清楚它的价值，同时也如实说明哪些部分已经可用，哪些部分还需要继续联调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接下来我会按一条完整的技术链路来展开：先说明项目定位，再讲系统架构，然后进入关键技术原理。中间部分会重点解释麦克纳姆轮底盘、Modbus 电机通信、双串口调度、视觉与二维码任务识别。最后回到成果、问题、展望和可能的商业应用，形成从工程实现到应用价值的闭环。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先看系统架构。我们把整车拆成三层：树莓派负责决策和任务调度，底盘 STM32 负责实时运动控制，机械臂 STM32 负责抓取、放置和复位动作组。这样拆分的好处是，上位机不用直接处理所有实时细节，两个 STM32 也能在各自边界内保持稳定，系统复杂度被拆成了更可控的模块。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硬件平台的组织原则是按职责分工，而不是简单堆叠器件。树莓派四 B 和摄像头承担视觉识别、二维码扫描和上位机调度；STM32F103C8T6 负责底盘控制、传感器接口和电机指令；四个 ZDT-X42 电机通过 RS485 通信，配合麦克纳姆轮实现横移、旋转和全向对位。JY61P IMU 目前为后续航向闭环提供基础数据。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在整车协同里，树莓派相当于调度中心，但它不直接承担底盘和机械臂的实时控制。一路串口发给底盘 STM32，内容包括速度、停止、路线和状态查询；另一路串口发给机械臂 STM32，内容包括动作组编号、启动、停止和复位。当前口径上，相关代码和脚本已经具备，但完整链路仍需要实车联调验证，所以这里不把它描述成已经完全闭环。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这一页补充树莓派上位机的具体职责。树莓派并不是单纯发送遥控命令，而是把二维码任务、YOLO 识别结果和车辆状态组合成一个任务状态机。它通过两路串口分别连接底盘 STM32 和机械臂 STM32：底盘侧可以发送速度、停止、状态查询和 IMU 查询等命令，机械臂侧则触发抓取、放置、复位等动作组。需要说明边界的是，目前协议代码和调试脚本具备，但完整链路仍需实车联调验证。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这一页展开视觉识别链路。首先摄像头采集图像，二维码识别给出当前任务，YOLO 负责检测不同颜色的球与桶。YOLO 的输出一般包括类别、颜色、位置框和置信度，然后通过阈值筛选、非极大值抑制等后处理保留候选目标。最终树莓派会把候选目标与二维码任务匹配，并依据目标框中心相对画面中心的偏差，决定底盘是否继续微调，或者是否触发机械臂动作组。这里仍然不虚构准确率、训练集或延迟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底盘控制的核心，是把一个抽象速度指令转换成四个电机的同步运动。软件层面通过 Mecanum_SetVelocity 输入 vx、vy 和 wz，再由麦轮逆运动学计算四个轮子的目标速度；随后进行转速限幅和加速度限制，避免指令变化过快。最后由 MotorManager 封装电机命令，通过 ZDT-X42 的 Modbus 帧下发到 RS485 总线。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补充机械结构设计。底盘并不是只有运动机构，它还要承载上层电子平台、相机支架、料框、机械臂和夹爪。下层底盘负责刚性承载和麦轮驱动，上层平台集中放置树莓派、STM32、电源与线束，方便调试和维护。相机支架要保证二维码和抓取区域在视野内，机械臂安装位置则要围绕料框和抓取点布置，减少底盘二次移动。这样的结构安排能让识别、抓取、放置和后续联调更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这个项目里真正有价值的地方，也包括对问题的拆解和收敛。比如 USART 分配错误通过工程审查迁移到与 PCB 一致的 USART1；RS485 只发不收的问题，则先采用开环控制策略进行工程取舍。路线误差、机械臂实时控制复杂、文档和临时代码残留这些问题，也分别对应了低速开环兜底、动作组固化和统一资料口径的处理方式。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从成果总览看，底盘运动控制是目前成熟度最高的部分，完成度评估为百分之九十。传感器系统、通信链路、路线执行和功能调试也都有阶段性成果，但它们的状态并不完全相同：有的是可用能力，有的是代码就绪，有的仍然需要实车联调。这里的百分比来自项目资料评估，用来表达阶段成熟度，不代表新增的实测性能指标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接下来最重要的不是继续堆功能，而是让系统从可运行走向可闭环。P0 阶段先补齐整车联动流程图、机械臂动作组编号和 YOLO 展示素材，保证汇报与验收有清晰证据。P1 阶段统一树莓派与 STM32 的串口协议，并恢复 IMU yaw 闭环；P2 阶段再恢复测距安全或替代传感方案，建立完整任务状态机。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最后回到应用价值。智能物流小车可以作为教育实训平台，覆盖嵌入式、视觉、运动控制、机械结构与系统集成；也可以用于轻量仓储试验，验证固定路线和定点搬运。进一步扩展后，它还可以成为工业辅助中的视觉定位、扫码分拣和柔性投放单元，也可以服务科研竞赛中的导航闭环、机器人抓取和调度算法验证。我们的结论是，真实记录当前边界，持续迭代，才能让这台小车从课程项目逐步走向可用系统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71E3">
                  <a:alpha val="10000"/>
                </a:srgbClr>
              </a:gs>
              <a:gs pos="100000">
                <a:srgbClr val="0071E3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95312" y="884635"/>
            <a:ext cx="5772000" cy="5186451"/>
            <a:chOff x="595312" y="884635"/>
            <a:chExt cx="5772000" cy="5186451"/>
          </a:xfrm>
        </p:grpSpPr>
        <p:sp>
          <p:nvSpPr>
            <p:cNvPr id="4" name="TextBox 4"/>
            <p:cNvSpPr txBox="1"/>
            <p:nvPr/>
          </p:nvSpPr>
          <p:spPr>
            <a:xfrm>
              <a:off x="595312" y="884635"/>
              <a:ext cx="2257028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个性化实践项目期末汇报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41390" y="5824865"/>
              <a:ext cx="1025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2026.07.0</a:t>
              </a:r>
              <a:r>
                <a:rPr lang="en-US" altLang="zh-CN" sz="1600" b="1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7</a:t>
              </a:r>
              <a:endParaRPr lang="zh-CN" sz="1600" b="1" dirty="0">
                <a:solidFill>
                  <a:srgbClr val="6E6E73"/>
                </a:solidFill>
                <a:latin typeface="Arial"/>
                <a:ea typeface="Microsoft YaHei"/>
                <a:cs typeface="Arial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531495" y="1145858"/>
            <a:ext cx="5669911" cy="1568767"/>
            <a:chOff x="531495" y="1145858"/>
            <a:chExt cx="5669911" cy="1568767"/>
          </a:xfrm>
        </p:grpSpPr>
        <p:sp>
          <p:nvSpPr>
            <p:cNvPr id="7" name="TextBox 7"/>
            <p:cNvSpPr txBox="1"/>
            <p:nvPr/>
          </p:nvSpPr>
          <p:spPr>
            <a:xfrm>
              <a:off x="531495" y="1145858"/>
              <a:ext cx="5322856" cy="1249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15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智能物流小车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22935" y="2132648"/>
              <a:ext cx="5578471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基于 STM32、树莓派与机械臂的智能搬运系统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647700" y="2667000"/>
              <a:ext cx="3238500" cy="47625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071E3"/>
                </a:gs>
                <a:gs pos="100000">
                  <a:srgbClr val="34C759"/>
                </a:gs>
              </a:gsLst>
              <a:lin ang="0" scaled="1"/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43" name="Rectangle 26">
            <a:extLst>
              <a:ext uri="{FF2B5EF4-FFF2-40B4-BE49-F238E27FC236}">
                <a16:creationId xmlns:a16="http://schemas.microsoft.com/office/drawing/2014/main" id="{4A772A8E-6895-A350-07B3-0F7ED7C10C23}"/>
              </a:ext>
            </a:extLst>
          </p:cNvPr>
          <p:cNvSpPr/>
          <p:nvPr/>
        </p:nvSpPr>
        <p:spPr>
          <a:xfrm>
            <a:off x="2655923" y="3202183"/>
            <a:ext cx="1512493" cy="4870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2D2D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Rectangle 26">
            <a:extLst>
              <a:ext uri="{FF2B5EF4-FFF2-40B4-BE49-F238E27FC236}">
                <a16:creationId xmlns:a16="http://schemas.microsoft.com/office/drawing/2014/main" id="{D624F5E2-AE53-1BBE-BCCD-0C336FCC75CE}"/>
              </a:ext>
            </a:extLst>
          </p:cNvPr>
          <p:cNvSpPr/>
          <p:nvPr/>
        </p:nvSpPr>
        <p:spPr>
          <a:xfrm>
            <a:off x="4664147" y="3202181"/>
            <a:ext cx="1512493" cy="4870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2D2D7"/>
            </a:solidFill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32" name="Group 32"/>
          <p:cNvGrpSpPr/>
          <p:nvPr/>
        </p:nvGrpSpPr>
        <p:grpSpPr>
          <a:xfrm>
            <a:off x="647699" y="3202183"/>
            <a:ext cx="5413895" cy="487051"/>
            <a:chOff x="647699" y="3030733"/>
            <a:chExt cx="5413895" cy="487051"/>
          </a:xfrm>
        </p:grpSpPr>
        <p:sp>
          <p:nvSpPr>
            <p:cNvPr id="26" name="Rectangle 26"/>
            <p:cNvSpPr/>
            <p:nvPr/>
          </p:nvSpPr>
          <p:spPr>
            <a:xfrm>
              <a:off x="647699" y="3030733"/>
              <a:ext cx="1512493" cy="487051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86005" y="3120369"/>
              <a:ext cx="1025923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00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全向底盘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899208" y="3103661"/>
              <a:ext cx="1025923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00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视觉识别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779192" y="3120369"/>
              <a:ext cx="1282402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00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动作组搬运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1202257" y="6227445"/>
            <a:ext cx="1248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A1A1A6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47" name="TextBox 5">
            <a:extLst>
              <a:ext uri="{FF2B5EF4-FFF2-40B4-BE49-F238E27FC236}">
                <a16:creationId xmlns:a16="http://schemas.microsoft.com/office/drawing/2014/main" id="{4F834BB2-07E7-ACFE-40A6-29B0CA6FD6D8}"/>
              </a:ext>
            </a:extLst>
          </p:cNvPr>
          <p:cNvSpPr txBox="1"/>
          <p:nvPr/>
        </p:nvSpPr>
        <p:spPr>
          <a:xfrm>
            <a:off x="3220615" y="5006635"/>
            <a:ext cx="5745163" cy="4308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2800" b="1" dirty="0">
                <a:solidFill>
                  <a:srgbClr val="6E6E73"/>
                </a:solidFill>
                <a:latin typeface="Arial"/>
                <a:ea typeface="Microsoft YaHei"/>
                <a:cs typeface="Arial"/>
              </a:rPr>
              <a:t>小组成员：陈聪荣、刘传硕、李世航</a:t>
            </a:r>
            <a:endParaRPr lang="zh-CN" sz="2800" b="1" dirty="0">
              <a:solidFill>
                <a:srgbClr val="6E6E73"/>
              </a:solidFill>
              <a:latin typeface="Arial"/>
              <a:ea typeface="Microsoft YaHei"/>
              <a:cs typeface="Arial"/>
            </a:endParaRPr>
          </a:p>
        </p:txBody>
      </p:sp>
      <p:pic>
        <p:nvPicPr>
          <p:cNvPr id="49" name="图片 48">
            <a:extLst>
              <a:ext uri="{FF2B5EF4-FFF2-40B4-BE49-F238E27FC236}">
                <a16:creationId xmlns:a16="http://schemas.microsoft.com/office/drawing/2014/main" id="{BBFE3240-AC1A-65B8-774B-81F62FC5D9B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rcRect r="59036"/>
          <a:stretch>
            <a:fillRect/>
          </a:stretch>
        </p:blipFill>
        <p:spPr>
          <a:xfrm>
            <a:off x="7819792" y="367967"/>
            <a:ext cx="2953154" cy="4055141"/>
          </a:xfrm>
          <a:prstGeom prst="rect">
            <a:avLst/>
          </a:prstGeom>
        </p:spPr>
      </p:pic>
      <p:sp>
        <p:nvSpPr>
          <p:cNvPr id="51" name="等腰三角形 50">
            <a:extLst>
              <a:ext uri="{FF2B5EF4-FFF2-40B4-BE49-F238E27FC236}">
                <a16:creationId xmlns:a16="http://schemas.microsoft.com/office/drawing/2014/main" id="{E6FC17EA-7C41-7BEA-7233-306466316F27}"/>
              </a:ext>
            </a:extLst>
          </p:cNvPr>
          <p:cNvSpPr/>
          <p:nvPr/>
        </p:nvSpPr>
        <p:spPr>
          <a:xfrm>
            <a:off x="7819791" y="367966"/>
            <a:ext cx="1716285" cy="4055142"/>
          </a:xfrm>
          <a:prstGeom prst="triangle">
            <a:avLst>
              <a:gd name="adj" fmla="val 0"/>
            </a:avLst>
          </a:prstGeom>
          <a:gradFill flip="none" rotWithShape="1">
            <a:gsLst>
              <a:gs pos="46000">
                <a:schemeClr val="accent1">
                  <a:tint val="100000"/>
                  <a:shade val="100000"/>
                  <a:satMod val="130000"/>
                  <a:alpha val="27000"/>
                </a:schemeClr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3" name="等腰三角形 52">
            <a:extLst>
              <a:ext uri="{FF2B5EF4-FFF2-40B4-BE49-F238E27FC236}">
                <a16:creationId xmlns:a16="http://schemas.microsoft.com/office/drawing/2014/main" id="{57E596DF-381D-56BD-0BD9-22C0A6686D8A}"/>
              </a:ext>
            </a:extLst>
          </p:cNvPr>
          <p:cNvSpPr/>
          <p:nvPr/>
        </p:nvSpPr>
        <p:spPr>
          <a:xfrm>
            <a:off x="7819792" y="1568605"/>
            <a:ext cx="1285677" cy="2854504"/>
          </a:xfrm>
          <a:prstGeom prst="triangle">
            <a:avLst>
              <a:gd name="adj" fmla="val 0"/>
            </a:avLst>
          </a:prstGeom>
          <a:solidFill>
            <a:schemeClr val="bg1">
              <a:alpha val="3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575310" y="451485"/>
            <a:ext cx="7629525" cy="722471"/>
            <a:chOff x="575310" y="451485"/>
            <a:chExt cx="7629525" cy="722471"/>
          </a:xfrm>
        </p:grpSpPr>
        <p:sp>
          <p:nvSpPr>
            <p:cNvPr id="3" name="TextBox 3"/>
            <p:cNvSpPr txBox="1"/>
            <p:nvPr/>
          </p:nvSpPr>
          <p:spPr>
            <a:xfrm>
              <a:off x="575310" y="451485"/>
              <a:ext cx="7629525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从一台能跑的小车，到一套可扩展的搬运系统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14362" y="945356"/>
              <a:ext cx="443912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本次汇报按产品发布节奏展开：定位、架构、原理、成果、应用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114425" y="1685925"/>
            <a:ext cx="9610725" cy="4562475"/>
            <a:chOff x="1114425" y="1685925"/>
            <a:chExt cx="9610725" cy="4562475"/>
          </a:xfrm>
        </p:grpSpPr>
        <p:sp>
          <p:nvSpPr>
            <p:cNvPr id="10" name="Line 10"/>
            <p:cNvSpPr/>
            <p:nvPr/>
          </p:nvSpPr>
          <p:spPr>
            <a:xfrm>
              <a:off x="1352550" y="1695450"/>
              <a:ext cx="9525" cy="4191000"/>
            </a:xfrm>
            <a:custGeom>
              <a:avLst/>
              <a:gdLst/>
              <a:ahLst/>
              <a:cxnLst/>
              <a:rect l="l" t="t" r="r" b="b"/>
              <a:pathLst>
                <a:path w="9525" h="4191000">
                  <a:moveTo>
                    <a:pt x="0" y="0"/>
                  </a:moveTo>
                  <a:lnTo>
                    <a:pt x="0" y="4191000"/>
                  </a:lnTo>
                </a:path>
              </a:pathLst>
            </a:custGeom>
            <a:noFill/>
            <a:ln w="38100" cap="rnd">
              <a:gradFill>
                <a:gsLst>
                  <a:gs pos="0">
                    <a:srgbClr val="0071E3"/>
                  </a:gs>
                  <a:gs pos="100000">
                    <a:srgbClr val="34C759"/>
                  </a:gs>
                </a:gsLst>
                <a:lin ang="5400000" scaled="1"/>
              </a:gradFill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1114425" y="1685925"/>
              <a:ext cx="9610725" cy="540901"/>
              <a:chOff x="1114425" y="1685925"/>
              <a:chExt cx="9610725" cy="540901"/>
            </a:xfrm>
          </p:grpSpPr>
          <p:sp>
            <p:nvSpPr>
              <p:cNvPr id="11" name="Ellipse 11"/>
              <p:cNvSpPr/>
              <p:nvPr/>
            </p:nvSpPr>
            <p:spPr>
              <a:xfrm>
                <a:off x="1114425" y="1685925"/>
                <a:ext cx="476250" cy="476250"/>
              </a:xfrm>
              <a:prstGeom prst="ellipse">
                <a:avLst/>
              </a:prstGeom>
              <a:solidFill>
                <a:srgbClr val="FFFFFF"/>
              </a:solidFill>
              <a:ln w="28575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265901" y="1870710"/>
                <a:ext cx="173298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0071E3"/>
                    </a:solidFill>
                    <a:latin typeface="Arial"/>
                    <a:ea typeface="Microsoft YaHei"/>
                    <a:cs typeface="Arial"/>
                  </a:rPr>
                  <a:t>01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844040" y="1691640"/>
                <a:ext cx="1053846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项目定位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851660" y="2042160"/>
                <a:ext cx="2616101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面向物流搬运任务</a:t>
                </a:r>
                <a:r>
                  <a:rPr lang="zh-CN" altLang="en-US" sz="120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，低成本高可靠系统</a:t>
                </a:r>
                <a:endParaRPr lang="zh-CN" sz="1200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endParaRPr>
              </a:p>
            </p:txBody>
          </p:sp>
          <p:sp>
            <p:nvSpPr>
              <p:cNvPr id="15" name="Rectangle 15"/>
              <p:cNvSpPr/>
              <p:nvPr/>
            </p:nvSpPr>
            <p:spPr>
              <a:xfrm>
                <a:off x="9601200" y="1771650"/>
                <a:ext cx="112395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9525">
                <a:solidFill>
                  <a:srgbClr val="D2D2D7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9809500" y="1866424"/>
                <a:ext cx="70735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背景与目标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1114425" y="2676525"/>
              <a:ext cx="9610725" cy="600075"/>
              <a:chOff x="1114425" y="2676525"/>
              <a:chExt cx="9610725" cy="600075"/>
            </a:xfrm>
          </p:grpSpPr>
          <p:sp>
            <p:nvSpPr>
              <p:cNvPr id="18" name="Ellipse 18"/>
              <p:cNvSpPr/>
              <p:nvPr/>
            </p:nvSpPr>
            <p:spPr>
              <a:xfrm>
                <a:off x="1114425" y="2676525"/>
                <a:ext cx="476250" cy="476250"/>
              </a:xfrm>
              <a:prstGeom prst="ellipse">
                <a:avLst/>
              </a:prstGeom>
              <a:solidFill>
                <a:srgbClr val="FFFFFF"/>
              </a:solidFill>
              <a:ln w="28575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1244898" y="2861310"/>
                <a:ext cx="21530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0071E3"/>
                    </a:solidFill>
                    <a:latin typeface="Arial"/>
                    <a:ea typeface="Microsoft YaHei"/>
                    <a:cs typeface="Arial"/>
                  </a:rPr>
                  <a:t>02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1844040" y="2682240"/>
                <a:ext cx="1053846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系统架构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851660" y="3032760"/>
                <a:ext cx="3998976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树莓派上位机、底盘 STM32、机械臂 STM32 三层分工。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9601200" y="2762250"/>
                <a:ext cx="112395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9525">
                <a:solidFill>
                  <a:srgbClr val="D2D2D7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9809500" y="2857024"/>
                <a:ext cx="70735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分布式控制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114425" y="3667125"/>
              <a:ext cx="9610725" cy="600075"/>
              <a:chOff x="1114425" y="3667125"/>
              <a:chExt cx="9610725" cy="600075"/>
            </a:xfrm>
          </p:grpSpPr>
          <p:sp>
            <p:nvSpPr>
              <p:cNvPr id="25" name="Ellipse 25"/>
              <p:cNvSpPr/>
              <p:nvPr/>
            </p:nvSpPr>
            <p:spPr>
              <a:xfrm>
                <a:off x="1114425" y="3667125"/>
                <a:ext cx="476250" cy="476250"/>
              </a:xfrm>
              <a:prstGeom prst="ellipse">
                <a:avLst/>
              </a:prstGeom>
              <a:solidFill>
                <a:srgbClr val="FFFFFF"/>
              </a:solidFill>
              <a:ln w="28575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1244898" y="3851910"/>
                <a:ext cx="21530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0071E3"/>
                    </a:solidFill>
                    <a:latin typeface="Arial"/>
                    <a:ea typeface="Microsoft YaHei"/>
                    <a:cs typeface="Arial"/>
                  </a:rPr>
                  <a:t>03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1844040" y="3672840"/>
                <a:ext cx="1053846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关键技术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1851660" y="4023360"/>
                <a:ext cx="4479036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麦轮运动学、Modbus 电机通信、视觉识别、二维码和动作组。</a:t>
                </a:r>
              </a:p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9601200" y="3752850"/>
                <a:ext cx="112395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9525">
                <a:solidFill>
                  <a:srgbClr val="D2D2D7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9877758" y="3847624"/>
                <a:ext cx="57083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技术原理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1114425" y="4657725"/>
              <a:ext cx="9610725" cy="540901"/>
              <a:chOff x="1114425" y="4657725"/>
              <a:chExt cx="9610725" cy="540901"/>
            </a:xfrm>
          </p:grpSpPr>
          <p:sp>
            <p:nvSpPr>
              <p:cNvPr id="32" name="Ellipse 32"/>
              <p:cNvSpPr/>
              <p:nvPr/>
            </p:nvSpPr>
            <p:spPr>
              <a:xfrm>
                <a:off x="1114425" y="4657725"/>
                <a:ext cx="476250" cy="476250"/>
              </a:xfrm>
              <a:prstGeom prst="ellipse">
                <a:avLst/>
              </a:prstGeom>
              <a:solidFill>
                <a:srgbClr val="FFFFFF"/>
              </a:solidFill>
              <a:ln w="28575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1244898" y="4842510"/>
                <a:ext cx="21530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34C759"/>
                    </a:solidFill>
                    <a:latin typeface="Arial"/>
                    <a:ea typeface="Microsoft YaHei"/>
                    <a:cs typeface="Arial"/>
                  </a:rPr>
                  <a:t>04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1844040" y="4663440"/>
                <a:ext cx="1053846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当前成果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1851660" y="5013960"/>
                <a:ext cx="2000548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altLang="en-US" sz="120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成熟机械设计，稳定场地运行</a:t>
                </a:r>
                <a:endParaRPr lang="zh-CN" sz="1200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endParaRPr>
              </a:p>
            </p:txBody>
          </p:sp>
          <p:sp>
            <p:nvSpPr>
              <p:cNvPr id="36" name="Rectangle 36"/>
              <p:cNvSpPr/>
              <p:nvPr/>
            </p:nvSpPr>
            <p:spPr>
              <a:xfrm>
                <a:off x="9601200" y="4743450"/>
                <a:ext cx="112395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9525">
                <a:solidFill>
                  <a:srgbClr val="D2D2D7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9877758" y="4838224"/>
                <a:ext cx="57083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真实口径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1114425" y="5648325"/>
              <a:ext cx="9610725" cy="600075"/>
              <a:chOff x="1114425" y="5648325"/>
              <a:chExt cx="9610725" cy="600075"/>
            </a:xfrm>
          </p:grpSpPr>
          <p:sp>
            <p:nvSpPr>
              <p:cNvPr id="39" name="Ellipse 39"/>
              <p:cNvSpPr/>
              <p:nvPr/>
            </p:nvSpPr>
            <p:spPr>
              <a:xfrm>
                <a:off x="1114425" y="5648325"/>
                <a:ext cx="476250" cy="476250"/>
              </a:xfrm>
              <a:prstGeom prst="ellipse">
                <a:avLst/>
              </a:prstGeom>
              <a:solidFill>
                <a:srgbClr val="34C759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1244898" y="5833110"/>
                <a:ext cx="21530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05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1844040" y="5654040"/>
                <a:ext cx="1305878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展望与应用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1851660" y="6004560"/>
                <a:ext cx="371094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闭环增强、任务状态机、教育实训与轻量仓储试验。</a:t>
                </a:r>
              </a:p>
            </p:txBody>
          </p:sp>
          <p:sp>
            <p:nvSpPr>
              <p:cNvPr id="43" name="Rectangle 43"/>
              <p:cNvSpPr/>
              <p:nvPr/>
            </p:nvSpPr>
            <p:spPr>
              <a:xfrm>
                <a:off x="9601200" y="5734050"/>
                <a:ext cx="112395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9525">
                <a:solidFill>
                  <a:srgbClr val="D2D2D7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9877758" y="5828824"/>
                <a:ext cx="57083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未来价值</a:t>
                </a:r>
              </a:p>
            </p:txBody>
          </p:sp>
        </p:grpSp>
      </p:grpSp>
      <p:sp>
        <p:nvSpPr>
          <p:cNvPr id="48" name="TextBox 48"/>
          <p:cNvSpPr txBox="1"/>
          <p:nvPr/>
        </p:nvSpPr>
        <p:spPr>
          <a:xfrm>
            <a:off x="11172254" y="649414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A1A1A6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575310" y="413385"/>
            <a:ext cx="6117336" cy="722471"/>
            <a:chOff x="575310" y="413385"/>
            <a:chExt cx="6117336" cy="722471"/>
          </a:xfrm>
        </p:grpSpPr>
        <p:sp>
          <p:nvSpPr>
            <p:cNvPr id="3" name="TextBox 3"/>
            <p:cNvSpPr txBox="1"/>
            <p:nvPr/>
          </p:nvSpPr>
          <p:spPr>
            <a:xfrm>
              <a:off x="575310" y="413385"/>
              <a:ext cx="6117336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三层分工，让复杂任务拆成可控模块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14362" y="907256"/>
              <a:ext cx="570678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树莓派负责“看见与决策”，两块 STM32 分别负责“底盘实时控制”和“机械动作执行”。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76300" y="1447800"/>
            <a:ext cx="9353550" cy="1162050"/>
            <a:chOff x="876300" y="1447800"/>
            <a:chExt cx="9353550" cy="1162050"/>
          </a:xfrm>
        </p:grpSpPr>
        <p:sp>
          <p:nvSpPr>
            <p:cNvPr id="6" name="Rectangle 6"/>
            <p:cNvSpPr/>
            <p:nvPr/>
          </p:nvSpPr>
          <p:spPr>
            <a:xfrm>
              <a:off x="876300" y="1447800"/>
              <a:ext cx="9353550" cy="1162050"/>
            </a:xfrm>
            <a:prstGeom prst="roundRect">
              <a:avLst>
                <a:gd name="adj" fmla="val 19672"/>
              </a:avLst>
            </a:prstGeom>
            <a:solidFill>
              <a:srgbClr val="FFFFFF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" name="Rectangle 7"/>
            <p:cNvSpPr/>
            <p:nvPr/>
          </p:nvSpPr>
          <p:spPr>
            <a:xfrm>
              <a:off x="876300" y="1447800"/>
              <a:ext cx="114300" cy="1162050"/>
            </a:xfrm>
            <a:prstGeom prst="roundRect">
              <a:avLst>
                <a:gd name="adj" fmla="val 50000"/>
              </a:avLst>
            </a:prstGeom>
            <a:solidFill>
              <a:srgbClr val="0071E3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1314450" y="1847850"/>
              <a:ext cx="342900" cy="342900"/>
              <a:chOff x="1314450" y="1847850"/>
              <a:chExt cx="342900" cy="3429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352550" y="1885950"/>
                <a:ext cx="2667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26670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247650" y="0"/>
                    </a:lnTo>
                    <a:cubicBezTo>
                      <a:pt x="258171" y="0"/>
                      <a:pt x="266700" y="8529"/>
                      <a:pt x="266700" y="19050"/>
                    </a:cubicBezTo>
                    <a:lnTo>
                      <a:pt x="266700" y="247650"/>
                    </a:lnTo>
                    <a:cubicBezTo>
                      <a:pt x="266700" y="258171"/>
                      <a:pt x="258171" y="266700"/>
                      <a:pt x="247650" y="266700"/>
                    </a:cubicBezTo>
                    <a:lnTo>
                      <a:pt x="19050" y="266700"/>
                    </a:lnTo>
                    <a:cubicBezTo>
                      <a:pt x="8529" y="266700"/>
                      <a:pt x="0" y="258171"/>
                      <a:pt x="0" y="24765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" name="Freeform 9"/>
              <p:cNvSpPr/>
              <p:nvPr/>
            </p:nvSpPr>
            <p:spPr>
              <a:xfrm>
                <a:off x="1428750" y="1962150"/>
                <a:ext cx="1143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14300">
                    <a:moveTo>
                      <a:pt x="0" y="0"/>
                    </a:moveTo>
                    <a:lnTo>
                      <a:pt x="114300" y="0"/>
                    </a:lnTo>
                    <a:lnTo>
                      <a:pt x="114300" y="114300"/>
                    </a:lnTo>
                    <a:lnTo>
                      <a:pt x="0" y="114300"/>
                    </a:ln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0" name="Freeform 10"/>
              <p:cNvSpPr/>
              <p:nvPr/>
            </p:nvSpPr>
            <p:spPr>
              <a:xfrm>
                <a:off x="1314450" y="1981200"/>
                <a:ext cx="38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9525">
                    <a:moveTo>
                      <a:pt x="0" y="0"/>
                    </a:moveTo>
                    <a:lnTo>
                      <a:pt x="38100" y="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1" name="Freeform 11"/>
              <p:cNvSpPr/>
              <p:nvPr/>
            </p:nvSpPr>
            <p:spPr>
              <a:xfrm>
                <a:off x="1314450" y="2057400"/>
                <a:ext cx="38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9525">
                    <a:moveTo>
                      <a:pt x="0" y="0"/>
                    </a:moveTo>
                    <a:lnTo>
                      <a:pt x="38100" y="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1447800" y="1847850"/>
                <a:ext cx="952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8100">
                    <a:moveTo>
                      <a:pt x="0" y="0"/>
                    </a:moveTo>
                    <a:lnTo>
                      <a:pt x="0" y="3810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524000" y="1847850"/>
                <a:ext cx="952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8100">
                    <a:moveTo>
                      <a:pt x="0" y="0"/>
                    </a:moveTo>
                    <a:lnTo>
                      <a:pt x="0" y="3810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619250" y="1981200"/>
                <a:ext cx="38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9525">
                    <a:moveTo>
                      <a:pt x="38100" y="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1619250" y="2057400"/>
                <a:ext cx="38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9525">
                    <a:moveTo>
                      <a:pt x="38100" y="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1524000" y="2152650"/>
                <a:ext cx="952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8100">
                    <a:moveTo>
                      <a:pt x="0" y="3810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447800" y="2152650"/>
                <a:ext cx="952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8100">
                    <a:moveTo>
                      <a:pt x="0" y="3810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9" name="TextBox 19"/>
            <p:cNvSpPr txBox="1"/>
            <p:nvPr/>
          </p:nvSpPr>
          <p:spPr>
            <a:xfrm>
              <a:off x="1939290" y="1653540"/>
              <a:ext cx="1384995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上位机决策层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945005" y="2025968"/>
              <a:ext cx="586701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Raspberry Pi 4B：YOLO 视觉识别、二维码扫描、任务调度、双串口管理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810500" y="1790700"/>
              <a:ext cx="1809750" cy="438150"/>
            </a:xfrm>
            <a:prstGeom prst="roundRect">
              <a:avLst>
                <a:gd name="adj" fmla="val 50000"/>
              </a:avLst>
            </a:prstGeom>
            <a:solidFill>
              <a:srgbClr val="F5F5F7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80082" y="1946910"/>
              <a:ext cx="87058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071E3"/>
                  </a:solidFill>
                  <a:latin typeface="Arial"/>
                  <a:ea typeface="Microsoft YaHei"/>
                  <a:cs typeface="Arial"/>
                </a:rPr>
                <a:t>任务级调度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876300" y="2914650"/>
            <a:ext cx="9353550" cy="1162050"/>
            <a:chOff x="876300" y="2914650"/>
            <a:chExt cx="9353550" cy="1162050"/>
          </a:xfrm>
        </p:grpSpPr>
        <p:sp>
          <p:nvSpPr>
            <p:cNvPr id="24" name="Rectangle 24"/>
            <p:cNvSpPr/>
            <p:nvPr/>
          </p:nvSpPr>
          <p:spPr>
            <a:xfrm>
              <a:off x="876300" y="2914650"/>
              <a:ext cx="9353550" cy="1162050"/>
            </a:xfrm>
            <a:prstGeom prst="roundRect">
              <a:avLst>
                <a:gd name="adj" fmla="val 19672"/>
              </a:avLst>
            </a:prstGeom>
            <a:solidFill>
              <a:srgbClr val="FFFFFF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76300" y="2914650"/>
              <a:ext cx="114300" cy="1162050"/>
            </a:xfrm>
            <a:prstGeom prst="roundRect">
              <a:avLst>
                <a:gd name="adj" fmla="val 50000"/>
              </a:avLst>
            </a:prstGeom>
            <a:solidFill>
              <a:srgbClr val="1D1D1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30" name="Group 30"/>
            <p:cNvGrpSpPr/>
            <p:nvPr/>
          </p:nvGrpSpPr>
          <p:grpSpPr>
            <a:xfrm>
              <a:off x="1295400" y="3352800"/>
              <a:ext cx="381000" cy="266700"/>
              <a:chOff x="1295400" y="3352800"/>
              <a:chExt cx="381000" cy="2667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1352550" y="3352800"/>
                <a:ext cx="2667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266700">
                    <a:moveTo>
                      <a:pt x="0" y="133350"/>
                    </a:moveTo>
                    <a:cubicBezTo>
                      <a:pt x="0" y="206997"/>
                      <a:pt x="59703" y="266700"/>
                      <a:pt x="133350" y="266700"/>
                    </a:cubicBezTo>
                    <a:cubicBezTo>
                      <a:pt x="206997" y="266700"/>
                      <a:pt x="266700" y="206997"/>
                      <a:pt x="266700" y="133350"/>
                    </a:cubicBezTo>
                    <a:cubicBezTo>
                      <a:pt x="266700" y="59703"/>
                      <a:pt x="206997" y="0"/>
                      <a:pt x="133350" y="0"/>
                    </a:cubicBezTo>
                    <a:cubicBezTo>
                      <a:pt x="59703" y="0"/>
                      <a:pt x="0" y="59703"/>
                      <a:pt x="0" y="133350"/>
                    </a:cubicBezTo>
                  </a:path>
                </a:pathLst>
              </a:custGeom>
              <a:noFill/>
              <a:ln w="19050">
                <a:solidFill>
                  <a:srgbClr val="1D1D1F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1295400" y="34861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57150" y="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D1D1F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1619250" y="34861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D1D1F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1447800" y="344805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0" y="76200"/>
                    </a:moveTo>
                    <a:lnTo>
                      <a:pt x="0" y="0"/>
                    </a:lnTo>
                    <a:lnTo>
                      <a:pt x="38100" y="38100"/>
                    </a:lnTo>
                    <a:lnTo>
                      <a:pt x="76200" y="0"/>
                    </a:lnTo>
                    <a:lnTo>
                      <a:pt x="76200" y="76200"/>
                    </a:lnTo>
                  </a:path>
                </a:pathLst>
              </a:custGeom>
              <a:noFill/>
              <a:ln w="19050">
                <a:solidFill>
                  <a:srgbClr val="1D1D1F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1939290" y="3120390"/>
              <a:ext cx="1154162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电控</a:t>
              </a:r>
              <a:r>
                <a:rPr lang="zh-CN" sz="180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底盘层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945005" y="3492818"/>
              <a:ext cx="5674695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底盘 STM32：麦轮运动控制、ZDT-X42 电机通信、路线执行、</a:t>
              </a:r>
              <a:r>
                <a:rPr lang="zh-CN" altLang="en-US" sz="1350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传感器通信</a:t>
              </a:r>
              <a:endParaRPr lang="zh-CN" sz="1350" dirty="0">
                <a:solidFill>
                  <a:srgbClr val="6E6E73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810500" y="3257550"/>
              <a:ext cx="1809750" cy="438150"/>
            </a:xfrm>
            <a:prstGeom prst="roundRect">
              <a:avLst>
                <a:gd name="adj" fmla="val 50000"/>
              </a:avLst>
            </a:prstGeom>
            <a:solidFill>
              <a:srgbClr val="F5F5F7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30655" y="3413760"/>
              <a:ext cx="769442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altLang="en-US" sz="120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多功能集成</a:t>
              </a:r>
              <a:endParaRPr lang="zh-CN" sz="1200" b="1" dirty="0">
                <a:solidFill>
                  <a:srgbClr val="1D1D1F"/>
                </a:solidFill>
                <a:latin typeface="Arial"/>
                <a:ea typeface="Microsoft YaHei"/>
                <a:cs typeface="Arial"/>
              </a:endParaRP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876300" y="4381500"/>
            <a:ext cx="9353550" cy="1162050"/>
            <a:chOff x="876300" y="4381500"/>
            <a:chExt cx="9353550" cy="1162050"/>
          </a:xfrm>
        </p:grpSpPr>
        <p:sp>
          <p:nvSpPr>
            <p:cNvPr id="36" name="Rectangle 36"/>
            <p:cNvSpPr/>
            <p:nvPr/>
          </p:nvSpPr>
          <p:spPr>
            <a:xfrm>
              <a:off x="876300" y="4381500"/>
              <a:ext cx="9353550" cy="1162050"/>
            </a:xfrm>
            <a:prstGeom prst="roundRect">
              <a:avLst>
                <a:gd name="adj" fmla="val 19672"/>
              </a:avLst>
            </a:prstGeom>
            <a:solidFill>
              <a:srgbClr val="FFFFFF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76300" y="4381500"/>
              <a:ext cx="114300" cy="1162050"/>
            </a:xfrm>
            <a:prstGeom prst="roundRect">
              <a:avLst>
                <a:gd name="adj" fmla="val 50000"/>
              </a:avLst>
            </a:prstGeom>
            <a:solidFill>
              <a:srgbClr val="34C75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47" name="Group 47"/>
            <p:cNvGrpSpPr/>
            <p:nvPr/>
          </p:nvGrpSpPr>
          <p:grpSpPr>
            <a:xfrm>
              <a:off x="1352550" y="4762500"/>
              <a:ext cx="266700" cy="361950"/>
              <a:chOff x="1352550" y="4762500"/>
              <a:chExt cx="266700" cy="36195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1371600" y="4800600"/>
                <a:ext cx="2286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52400">
                    <a:moveTo>
                      <a:pt x="0" y="38100"/>
                    </a:moveTo>
                    <a:cubicBezTo>
                      <a:pt x="0" y="17058"/>
                      <a:pt x="17058" y="0"/>
                      <a:pt x="38100" y="0"/>
                    </a:cubicBezTo>
                    <a:lnTo>
                      <a:pt x="190500" y="0"/>
                    </a:lnTo>
                    <a:cubicBezTo>
                      <a:pt x="211542" y="0"/>
                      <a:pt x="228600" y="17058"/>
                      <a:pt x="228600" y="38100"/>
                    </a:cubicBezTo>
                    <a:lnTo>
                      <a:pt x="228600" y="114300"/>
                    </a:lnTo>
                    <a:cubicBezTo>
                      <a:pt x="228600" y="135342"/>
                      <a:pt x="211542" y="152400"/>
                      <a:pt x="190500" y="152400"/>
                    </a:cubicBezTo>
                    <a:lnTo>
                      <a:pt x="38100" y="152400"/>
                    </a:lnTo>
                    <a:cubicBezTo>
                      <a:pt x="17058" y="152400"/>
                      <a:pt x="0" y="135342"/>
                      <a:pt x="0" y="114300"/>
                    </a:cubicBezTo>
                    <a:lnTo>
                      <a:pt x="0" y="38100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1485900" y="4762500"/>
                <a:ext cx="952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8100">
                    <a:moveTo>
                      <a:pt x="0" y="0"/>
                    </a:moveTo>
                    <a:lnTo>
                      <a:pt x="0" y="38100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1428750" y="4953000"/>
                <a:ext cx="952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1450">
                    <a:moveTo>
                      <a:pt x="0" y="0"/>
                    </a:moveTo>
                    <a:lnTo>
                      <a:pt x="0" y="171450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1543050" y="4953000"/>
                <a:ext cx="952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1450">
                    <a:moveTo>
                      <a:pt x="0" y="0"/>
                    </a:moveTo>
                    <a:lnTo>
                      <a:pt x="0" y="171450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1352550" y="4991100"/>
                <a:ext cx="762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38100">
                    <a:moveTo>
                      <a:pt x="0" y="38100"/>
                    </a:move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1543050" y="4991100"/>
                <a:ext cx="762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38100">
                    <a:moveTo>
                      <a:pt x="0" y="0"/>
                    </a:moveTo>
                    <a:lnTo>
                      <a:pt x="76200" y="38100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1428750" y="5067300"/>
                <a:ext cx="1143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9525">
                    <a:moveTo>
                      <a:pt x="0" y="0"/>
                    </a:moveTo>
                    <a:lnTo>
                      <a:pt x="114300" y="0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1447800" y="48768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90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1524000" y="48768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90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48" name="TextBox 48"/>
            <p:cNvSpPr txBox="1"/>
            <p:nvPr/>
          </p:nvSpPr>
          <p:spPr>
            <a:xfrm>
              <a:off x="1939290" y="4587240"/>
              <a:ext cx="1305878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机械执行层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945005" y="4959668"/>
              <a:ext cx="547997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机械臂 STM32：预设抓取、放置、复位动作组，接收树莓派串口触发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7810500" y="4724400"/>
              <a:ext cx="1809750" cy="438150"/>
            </a:xfrm>
            <a:prstGeom prst="roundRect">
              <a:avLst>
                <a:gd name="adj" fmla="val 50000"/>
              </a:avLst>
            </a:prstGeom>
            <a:solidFill>
              <a:srgbClr val="F5F5F7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280082" y="4880610"/>
              <a:ext cx="87058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34C759"/>
                  </a:solidFill>
                  <a:latin typeface="Arial"/>
                  <a:ea typeface="Microsoft YaHei"/>
                  <a:cs typeface="Arial"/>
                </a:rPr>
                <a:t>动作组复用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0496550" y="1447800"/>
            <a:ext cx="1085850" cy="4095750"/>
            <a:chOff x="10496550" y="1447800"/>
            <a:chExt cx="1085850" cy="4095750"/>
          </a:xfrm>
        </p:grpSpPr>
        <p:sp>
          <p:nvSpPr>
            <p:cNvPr id="53" name="Rectangle 53"/>
            <p:cNvSpPr/>
            <p:nvPr/>
          </p:nvSpPr>
          <p:spPr>
            <a:xfrm>
              <a:off x="10496550" y="1447800"/>
              <a:ext cx="1085850" cy="4095750"/>
            </a:xfrm>
            <a:prstGeom prst="roundRect">
              <a:avLst>
                <a:gd name="adj" fmla="val 28070"/>
              </a:avLst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688193" y="1851660"/>
              <a:ext cx="70256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整车能力</a:t>
              </a:r>
            </a:p>
          </p:txBody>
        </p:sp>
        <p:sp>
          <p:nvSpPr>
            <p:cNvPr id="55" name="Line 55"/>
            <p:cNvSpPr/>
            <p:nvPr/>
          </p:nvSpPr>
          <p:spPr>
            <a:xfrm>
              <a:off x="11039475" y="2247900"/>
              <a:ext cx="9525" cy="2562225"/>
            </a:xfrm>
            <a:custGeom>
              <a:avLst/>
              <a:gdLst/>
              <a:ahLst/>
              <a:cxnLst/>
              <a:rect l="l" t="t" r="r" b="b"/>
              <a:pathLst>
                <a:path w="9525" h="2562225">
                  <a:moveTo>
                    <a:pt x="0" y="0"/>
                  </a:moveTo>
                  <a:lnTo>
                    <a:pt x="0" y="2562225"/>
                  </a:lnTo>
                </a:path>
              </a:pathLst>
            </a:custGeom>
            <a:noFill/>
            <a:ln w="9525">
              <a:solidFill>
                <a:srgbClr val="FFFFFF">
                  <a:alpha val="22000"/>
                </a:srgbClr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867668" y="2602706"/>
              <a:ext cx="34361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识别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867668" y="3117056"/>
              <a:ext cx="34361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对位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867668" y="3631406"/>
              <a:ext cx="34361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抓取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867668" y="4145756"/>
              <a:ext cx="34361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运输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867668" y="4660106"/>
              <a:ext cx="34361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投放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5524500" y="2609850"/>
            <a:ext cx="1" cy="1752600"/>
            <a:chOff x="5524500" y="2609850"/>
            <a:chExt cx="1" cy="1752600"/>
          </a:xfrm>
        </p:grpSpPr>
        <p:sp>
          <p:nvSpPr>
            <p:cNvPr id="62" name="Line 62"/>
            <p:cNvSpPr/>
            <p:nvPr/>
          </p:nvSpPr>
          <p:spPr>
            <a:xfrm>
              <a:off x="5524500" y="2609850"/>
              <a:ext cx="1" cy="285750"/>
            </a:xfrm>
            <a:prstGeom prst="line">
              <a:avLst/>
            </a:prstGeom>
            <a:noFill/>
            <a:ln w="28575">
              <a:solidFill>
                <a:srgbClr val="0071E3"/>
              </a:solidFill>
              <a:tailEnd type="triangle" w="lg" len="lg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3" name="Line 63"/>
            <p:cNvSpPr/>
            <p:nvPr/>
          </p:nvSpPr>
          <p:spPr>
            <a:xfrm>
              <a:off x="5524500" y="4076700"/>
              <a:ext cx="1" cy="285750"/>
            </a:xfrm>
            <a:prstGeom prst="line">
              <a:avLst/>
            </a:prstGeom>
            <a:noFill/>
            <a:ln w="28575">
              <a:solidFill>
                <a:srgbClr val="0071E3"/>
              </a:solidFill>
              <a:tailEnd type="triangle" w="lg" len="lg"/>
            </a:ln>
          </p:spPr>
          <p:txBody>
            <a:bodyPr/>
            <a:lstStyle/>
            <a:p>
              <a:endParaRPr lang="zh-CN" altLang="en-US"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5" grpId="0"/>
      <p:bldP spid="52" grpId="0"/>
      <p:bldP spid="61" grpId="0"/>
      <p:bldP spid="6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575310" y="413385"/>
            <a:ext cx="5361242" cy="722471"/>
            <a:chOff x="575310" y="413385"/>
            <a:chExt cx="5361242" cy="722471"/>
          </a:xfrm>
        </p:grpSpPr>
        <p:sp>
          <p:nvSpPr>
            <p:cNvPr id="3" name="TextBox 3"/>
            <p:cNvSpPr txBox="1"/>
            <p:nvPr/>
          </p:nvSpPr>
          <p:spPr>
            <a:xfrm>
              <a:off x="575310" y="413385"/>
              <a:ext cx="536124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硬件不是堆叠，而是按职责组织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14362" y="907256"/>
              <a:ext cx="437911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每个模块都对应一个系统任务：感知、决策、运动、执行或扩展。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09600" y="1390650"/>
            <a:ext cx="10972800" cy="4457700"/>
            <a:chOff x="609600" y="1390650"/>
            <a:chExt cx="10972800" cy="4457700"/>
          </a:xfrm>
        </p:grpSpPr>
        <p:sp>
          <p:nvSpPr>
            <p:cNvPr id="6" name="Rectangle 6"/>
            <p:cNvSpPr/>
            <p:nvPr/>
          </p:nvSpPr>
          <p:spPr>
            <a:xfrm>
              <a:off x="609600" y="1390650"/>
              <a:ext cx="10972800" cy="4457700"/>
            </a:xfrm>
            <a:prstGeom prst="roundRect">
              <a:avLst>
                <a:gd name="adj" fmla="val 6410"/>
              </a:avLst>
            </a:prstGeom>
            <a:solidFill>
              <a:srgbClr val="FFFFFF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4366946" y="1623060"/>
              <a:ext cx="345810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071E3"/>
                  </a:solidFill>
                  <a:latin typeface="Arial"/>
                  <a:ea typeface="Microsoft YaHei"/>
                  <a:cs typeface="Arial"/>
                </a:rPr>
                <a:t>SMART LOGISTICS CART HARDWARE PLATFORM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90600" y="2114550"/>
            <a:ext cx="1962150" cy="2781300"/>
            <a:chOff x="990600" y="2114550"/>
            <a:chExt cx="1962150" cy="2781300"/>
          </a:xfrm>
        </p:grpSpPr>
        <p:sp>
          <p:nvSpPr>
            <p:cNvPr id="9" name="Rectangle 9"/>
            <p:cNvSpPr/>
            <p:nvPr/>
          </p:nvSpPr>
          <p:spPr>
            <a:xfrm>
              <a:off x="990600" y="2114550"/>
              <a:ext cx="1962150" cy="2781300"/>
            </a:xfrm>
            <a:prstGeom prst="roundRect">
              <a:avLst>
                <a:gd name="adj" fmla="val 10680"/>
              </a:avLst>
            </a:prstGeom>
            <a:solidFill>
              <a:srgbClr val="F5F5F7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1328738" y="2452688"/>
              <a:ext cx="314324" cy="314325"/>
              <a:chOff x="1328738" y="2452688"/>
              <a:chExt cx="314324" cy="314325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1363662" y="2487612"/>
                <a:ext cx="244475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244475" h="244475">
                    <a:moveTo>
                      <a:pt x="0" y="17462"/>
                    </a:moveTo>
                    <a:cubicBezTo>
                      <a:pt x="0" y="7818"/>
                      <a:pt x="7818" y="0"/>
                      <a:pt x="17463" y="0"/>
                    </a:cubicBezTo>
                    <a:lnTo>
                      <a:pt x="227013" y="0"/>
                    </a:lnTo>
                    <a:cubicBezTo>
                      <a:pt x="236657" y="0"/>
                      <a:pt x="244475" y="7818"/>
                      <a:pt x="244475" y="17462"/>
                    </a:cubicBezTo>
                    <a:lnTo>
                      <a:pt x="244475" y="227012"/>
                    </a:lnTo>
                    <a:cubicBezTo>
                      <a:pt x="244475" y="236657"/>
                      <a:pt x="236657" y="244475"/>
                      <a:pt x="227013" y="244475"/>
                    </a:cubicBezTo>
                    <a:lnTo>
                      <a:pt x="17463" y="244475"/>
                    </a:lnTo>
                    <a:cubicBezTo>
                      <a:pt x="7818" y="244475"/>
                      <a:pt x="0" y="236657"/>
                      <a:pt x="0" y="227012"/>
                    </a:cubicBezTo>
                    <a:lnTo>
                      <a:pt x="0" y="17462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1" name="Freeform 11"/>
              <p:cNvSpPr/>
              <p:nvPr/>
            </p:nvSpPr>
            <p:spPr>
              <a:xfrm>
                <a:off x="1433512" y="2557462"/>
                <a:ext cx="104775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04775">
                    <a:moveTo>
                      <a:pt x="0" y="0"/>
                    </a:moveTo>
                    <a:lnTo>
                      <a:pt x="104775" y="0"/>
                    </a:lnTo>
                    <a:lnTo>
                      <a:pt x="104775" y="104775"/>
                    </a:lnTo>
                    <a:lnTo>
                      <a:pt x="0" y="104775"/>
                    </a:ln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1328738" y="2574925"/>
                <a:ext cx="349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4925" h="9525">
                    <a:moveTo>
                      <a:pt x="0" y="0"/>
                    </a:moveTo>
                    <a:lnTo>
                      <a:pt x="34925" y="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328738" y="2644775"/>
                <a:ext cx="349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4925" h="9525">
                    <a:moveTo>
                      <a:pt x="0" y="0"/>
                    </a:moveTo>
                    <a:lnTo>
                      <a:pt x="34925" y="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450975" y="2452688"/>
                <a:ext cx="9525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4925">
                    <a:moveTo>
                      <a:pt x="0" y="0"/>
                    </a:moveTo>
                    <a:lnTo>
                      <a:pt x="0" y="34925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1520825" y="2452688"/>
                <a:ext cx="9525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4925">
                    <a:moveTo>
                      <a:pt x="0" y="0"/>
                    </a:moveTo>
                    <a:lnTo>
                      <a:pt x="0" y="34925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1608137" y="2574925"/>
                <a:ext cx="349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4925" h="9525">
                    <a:moveTo>
                      <a:pt x="34925" y="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608137" y="2644775"/>
                <a:ext cx="349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4925" h="9525">
                    <a:moveTo>
                      <a:pt x="34925" y="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1520825" y="2732088"/>
                <a:ext cx="9525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4925">
                    <a:moveTo>
                      <a:pt x="0" y="34925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450975" y="2732088"/>
                <a:ext cx="9525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4925">
                    <a:moveTo>
                      <a:pt x="0" y="34925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1255395" y="2965132"/>
              <a:ext cx="1058437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树莓派 4B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262062" y="3345656"/>
              <a:ext cx="7786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摄像头输入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62062" y="3593306"/>
              <a:ext cx="91368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YOLO 与扫码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262062" y="3840956"/>
              <a:ext cx="7786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任务级调度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262062" y="4088606"/>
              <a:ext cx="7786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双串口控制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276350" y="4438650"/>
              <a:ext cx="1123950" cy="266700"/>
            </a:xfrm>
            <a:prstGeom prst="roundRect">
              <a:avLst>
                <a:gd name="adj" fmla="val 50000"/>
              </a:avLst>
            </a:prstGeom>
            <a:solidFill>
              <a:srgbClr val="EAF4F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637871" y="4522470"/>
              <a:ext cx="40090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0071E3"/>
                  </a:solidFill>
                  <a:latin typeface="Arial"/>
                  <a:ea typeface="Microsoft YaHei"/>
                  <a:cs typeface="Arial"/>
                </a:rPr>
                <a:t>上位机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3143250" y="2114550"/>
            <a:ext cx="1962150" cy="2781300"/>
            <a:chOff x="3143250" y="2114550"/>
            <a:chExt cx="1962150" cy="2781300"/>
          </a:xfrm>
        </p:grpSpPr>
        <p:sp>
          <p:nvSpPr>
            <p:cNvPr id="29" name="Rectangle 29"/>
            <p:cNvSpPr/>
            <p:nvPr/>
          </p:nvSpPr>
          <p:spPr>
            <a:xfrm>
              <a:off x="3143250" y="2114550"/>
              <a:ext cx="1962150" cy="2781300"/>
            </a:xfrm>
            <a:prstGeom prst="roundRect">
              <a:avLst>
                <a:gd name="adj" fmla="val 10680"/>
              </a:avLst>
            </a:prstGeom>
            <a:solidFill>
              <a:srgbClr val="F5F5F7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34" name="Group 34"/>
            <p:cNvGrpSpPr/>
            <p:nvPr/>
          </p:nvGrpSpPr>
          <p:grpSpPr>
            <a:xfrm>
              <a:off x="3463925" y="2487612"/>
              <a:ext cx="349251" cy="244475"/>
              <a:chOff x="3463925" y="2487612"/>
              <a:chExt cx="349251" cy="244475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3516312" y="2487612"/>
                <a:ext cx="244475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244475" h="244475">
                    <a:moveTo>
                      <a:pt x="0" y="122237"/>
                    </a:moveTo>
                    <a:cubicBezTo>
                      <a:pt x="0" y="189747"/>
                      <a:pt x="54728" y="244475"/>
                      <a:pt x="122237" y="244475"/>
                    </a:cubicBezTo>
                    <a:cubicBezTo>
                      <a:pt x="189747" y="244475"/>
                      <a:pt x="244475" y="189747"/>
                      <a:pt x="244475" y="122237"/>
                    </a:cubicBezTo>
                    <a:cubicBezTo>
                      <a:pt x="244475" y="54728"/>
                      <a:pt x="189747" y="0"/>
                      <a:pt x="122237" y="0"/>
                    </a:cubicBezTo>
                    <a:cubicBezTo>
                      <a:pt x="54728" y="0"/>
                      <a:pt x="0" y="54728"/>
                      <a:pt x="0" y="122237"/>
                    </a:cubicBezTo>
                  </a:path>
                </a:pathLst>
              </a:custGeom>
              <a:noFill/>
              <a:ln w="19050">
                <a:solidFill>
                  <a:srgbClr val="1D1D1F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3463925" y="2609850"/>
                <a:ext cx="5238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2388" h="9525">
                    <a:moveTo>
                      <a:pt x="52388" y="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D1D1F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760788" y="2609850"/>
                <a:ext cx="5238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2388" h="9525">
                    <a:moveTo>
                      <a:pt x="0" y="0"/>
                    </a:moveTo>
                    <a:lnTo>
                      <a:pt x="52388" y="0"/>
                    </a:lnTo>
                  </a:path>
                </a:pathLst>
              </a:custGeom>
              <a:noFill/>
              <a:ln w="19050">
                <a:solidFill>
                  <a:srgbClr val="1D1D1F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603625" y="2574925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69850"/>
                    </a:moveTo>
                    <a:lnTo>
                      <a:pt x="0" y="0"/>
                    </a:lnTo>
                    <a:lnTo>
                      <a:pt x="34925" y="34925"/>
                    </a:lnTo>
                    <a:lnTo>
                      <a:pt x="69850" y="0"/>
                    </a:lnTo>
                    <a:lnTo>
                      <a:pt x="69850" y="69850"/>
                    </a:lnTo>
                  </a:path>
                </a:pathLst>
              </a:custGeom>
              <a:noFill/>
              <a:ln w="19050">
                <a:solidFill>
                  <a:srgbClr val="1D1D1F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35" name="TextBox 35"/>
            <p:cNvSpPr txBox="1"/>
            <p:nvPr/>
          </p:nvSpPr>
          <p:spPr>
            <a:xfrm>
              <a:off x="3408045" y="2965132"/>
              <a:ext cx="12548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底盘 STM32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414712" y="3345656"/>
              <a:ext cx="109370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STM32F103C8T6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414712" y="3593306"/>
              <a:ext cx="7786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麦轮运动学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414712" y="3840956"/>
              <a:ext cx="92868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电机指令下发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414712" y="4088606"/>
              <a:ext cx="91368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IMU 接口保留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3429000" y="4438650"/>
              <a:ext cx="1123950" cy="266700"/>
            </a:xfrm>
            <a:prstGeom prst="roundRect">
              <a:avLst>
                <a:gd name="adj" fmla="val 50000"/>
              </a:avLst>
            </a:prstGeom>
            <a:solidFill>
              <a:srgbClr val="EEEEF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727514" y="4522470"/>
              <a:ext cx="52692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实时控制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295900" y="2114550"/>
            <a:ext cx="1962150" cy="2781300"/>
            <a:chOff x="5295900" y="2114550"/>
            <a:chExt cx="1962150" cy="2781300"/>
          </a:xfrm>
        </p:grpSpPr>
        <p:sp>
          <p:nvSpPr>
            <p:cNvPr id="43" name="Rectangle 43"/>
            <p:cNvSpPr/>
            <p:nvPr/>
          </p:nvSpPr>
          <p:spPr>
            <a:xfrm>
              <a:off x="5295900" y="2114550"/>
              <a:ext cx="1962150" cy="2781300"/>
            </a:xfrm>
            <a:prstGeom prst="roundRect">
              <a:avLst>
                <a:gd name="adj" fmla="val 10680"/>
              </a:avLst>
            </a:prstGeom>
            <a:solidFill>
              <a:srgbClr val="F5F5F7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47" name="Group 47"/>
            <p:cNvGrpSpPr/>
            <p:nvPr/>
          </p:nvGrpSpPr>
          <p:grpSpPr>
            <a:xfrm>
              <a:off x="5634038" y="2452688"/>
              <a:ext cx="314324" cy="314324"/>
              <a:chOff x="5634038" y="2452688"/>
              <a:chExt cx="314324" cy="314324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34038" y="2697162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34925"/>
                    </a:moveTo>
                    <a:cubicBezTo>
                      <a:pt x="0" y="54214"/>
                      <a:pt x="15636" y="69850"/>
                      <a:pt x="34925" y="69850"/>
                    </a:cubicBezTo>
                    <a:cubicBezTo>
                      <a:pt x="54214" y="69850"/>
                      <a:pt x="69850" y="54214"/>
                      <a:pt x="69850" y="34925"/>
                    </a:cubicBezTo>
                    <a:cubicBezTo>
                      <a:pt x="69850" y="15636"/>
                      <a:pt x="54214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878512" y="2452688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34925" y="69850"/>
                    </a:moveTo>
                    <a:cubicBezTo>
                      <a:pt x="54214" y="69850"/>
                      <a:pt x="69850" y="54214"/>
                      <a:pt x="69850" y="34925"/>
                    </a:cubicBezTo>
                    <a:cubicBezTo>
                      <a:pt x="69850" y="15636"/>
                      <a:pt x="54214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  <a:cubicBezTo>
                      <a:pt x="0" y="54214"/>
                      <a:pt x="15636" y="69850"/>
                      <a:pt x="34925" y="69850"/>
                    </a:cubicBez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68962" y="2487612"/>
                <a:ext cx="261938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261938" h="244475">
                    <a:moveTo>
                      <a:pt x="104775" y="244475"/>
                    </a:moveTo>
                    <a:lnTo>
                      <a:pt x="200819" y="244475"/>
                    </a:lnTo>
                    <a:cubicBezTo>
                      <a:pt x="234574" y="244475"/>
                      <a:pt x="261938" y="217111"/>
                      <a:pt x="261938" y="183356"/>
                    </a:cubicBezTo>
                    <a:cubicBezTo>
                      <a:pt x="261938" y="149601"/>
                      <a:pt x="234574" y="122237"/>
                      <a:pt x="200819" y="122237"/>
                    </a:cubicBezTo>
                    <a:lnTo>
                      <a:pt x="61119" y="122237"/>
                    </a:lnTo>
                    <a:cubicBezTo>
                      <a:pt x="27364" y="122237"/>
                      <a:pt x="0" y="94874"/>
                      <a:pt x="0" y="61119"/>
                    </a:cubicBezTo>
                    <a:cubicBezTo>
                      <a:pt x="0" y="27364"/>
                      <a:pt x="27364" y="0"/>
                      <a:pt x="61119" y="0"/>
                    </a:cubicBezTo>
                    <a:lnTo>
                      <a:pt x="139700" y="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48" name="TextBox 48"/>
            <p:cNvSpPr txBox="1"/>
            <p:nvPr/>
          </p:nvSpPr>
          <p:spPr>
            <a:xfrm>
              <a:off x="5560695" y="296513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麦轮底盘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567362" y="33456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ZDT-X42 ×4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567362" y="3593306"/>
              <a:ext cx="113871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RS485 / Modbus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567362" y="3840956"/>
              <a:ext cx="76366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75mm 麦轮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567362" y="4088606"/>
              <a:ext cx="6286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全向移动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581650" y="4438650"/>
              <a:ext cx="1123950" cy="266700"/>
            </a:xfrm>
            <a:prstGeom prst="roundRect">
              <a:avLst>
                <a:gd name="adj" fmla="val 50000"/>
              </a:avLst>
            </a:prstGeom>
            <a:solidFill>
              <a:srgbClr val="EAF4F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880163" y="4522470"/>
              <a:ext cx="52692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0071E3"/>
                  </a:solidFill>
                  <a:latin typeface="Arial"/>
                  <a:ea typeface="Microsoft YaHei"/>
                  <a:cs typeface="Arial"/>
                </a:rPr>
                <a:t>运动执行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7448550" y="2114550"/>
            <a:ext cx="1962150" cy="2781300"/>
            <a:chOff x="7448550" y="2114550"/>
            <a:chExt cx="1962150" cy="2781300"/>
          </a:xfrm>
        </p:grpSpPr>
        <p:sp>
          <p:nvSpPr>
            <p:cNvPr id="56" name="Rectangle 56"/>
            <p:cNvSpPr/>
            <p:nvPr/>
          </p:nvSpPr>
          <p:spPr>
            <a:xfrm>
              <a:off x="7448550" y="2114550"/>
              <a:ext cx="1962150" cy="2781300"/>
            </a:xfrm>
            <a:prstGeom prst="roundRect">
              <a:avLst>
                <a:gd name="adj" fmla="val 10680"/>
              </a:avLst>
            </a:prstGeom>
            <a:solidFill>
              <a:srgbClr val="F5F5F7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66" name="Group 66"/>
            <p:cNvGrpSpPr/>
            <p:nvPr/>
          </p:nvGrpSpPr>
          <p:grpSpPr>
            <a:xfrm>
              <a:off x="7821612" y="2435225"/>
              <a:ext cx="244476" cy="331787"/>
              <a:chOff x="7821612" y="2435225"/>
              <a:chExt cx="244476" cy="331787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7839075" y="2470150"/>
                <a:ext cx="20955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139700">
                    <a:moveTo>
                      <a:pt x="0" y="34925"/>
                    </a:moveTo>
                    <a:cubicBezTo>
                      <a:pt x="0" y="15636"/>
                      <a:pt x="15636" y="0"/>
                      <a:pt x="34925" y="0"/>
                    </a:cubicBezTo>
                    <a:lnTo>
                      <a:pt x="174625" y="0"/>
                    </a:lnTo>
                    <a:cubicBezTo>
                      <a:pt x="193914" y="0"/>
                      <a:pt x="209550" y="15636"/>
                      <a:pt x="209550" y="34925"/>
                    </a:cubicBezTo>
                    <a:lnTo>
                      <a:pt x="209550" y="104775"/>
                    </a:lnTo>
                    <a:cubicBezTo>
                      <a:pt x="209550" y="124064"/>
                      <a:pt x="193914" y="139700"/>
                      <a:pt x="174625" y="139700"/>
                    </a:cubicBezTo>
                    <a:lnTo>
                      <a:pt x="34925" y="139700"/>
                    </a:lnTo>
                    <a:cubicBezTo>
                      <a:pt x="15636" y="139700"/>
                      <a:pt x="0" y="124064"/>
                      <a:pt x="0" y="104775"/>
                    </a:cubicBezTo>
                    <a:lnTo>
                      <a:pt x="0" y="34925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943850" y="2435225"/>
                <a:ext cx="9525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4925">
                    <a:moveTo>
                      <a:pt x="0" y="0"/>
                    </a:moveTo>
                    <a:lnTo>
                      <a:pt x="0" y="34925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7891462" y="2609850"/>
                <a:ext cx="952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57162">
                    <a:moveTo>
                      <a:pt x="0" y="0"/>
                    </a:moveTo>
                    <a:lnTo>
                      <a:pt x="0" y="157162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7996238" y="2609850"/>
                <a:ext cx="952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57162">
                    <a:moveTo>
                      <a:pt x="0" y="0"/>
                    </a:moveTo>
                    <a:lnTo>
                      <a:pt x="0" y="157162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1" name="Freeform 61"/>
              <p:cNvSpPr/>
              <p:nvPr/>
            </p:nvSpPr>
            <p:spPr>
              <a:xfrm>
                <a:off x="7821612" y="2644775"/>
                <a:ext cx="69850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34925">
                    <a:moveTo>
                      <a:pt x="0" y="34925"/>
                    </a:moveTo>
                    <a:lnTo>
                      <a:pt x="69850" y="0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2" name="Freeform 62"/>
              <p:cNvSpPr/>
              <p:nvPr/>
            </p:nvSpPr>
            <p:spPr>
              <a:xfrm>
                <a:off x="7996238" y="2644775"/>
                <a:ext cx="69850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34925">
                    <a:moveTo>
                      <a:pt x="0" y="0"/>
                    </a:moveTo>
                    <a:lnTo>
                      <a:pt x="69850" y="34925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7891462" y="2714625"/>
                <a:ext cx="1047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9525">
                    <a:moveTo>
                      <a:pt x="0" y="0"/>
                    </a:moveTo>
                    <a:lnTo>
                      <a:pt x="104775" y="0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7908925" y="2540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75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5" name="Freeform 65"/>
              <p:cNvSpPr/>
              <p:nvPr/>
            </p:nvSpPr>
            <p:spPr>
              <a:xfrm>
                <a:off x="7978775" y="2540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75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67" name="TextBox 67"/>
            <p:cNvSpPr txBox="1"/>
            <p:nvPr/>
          </p:nvSpPr>
          <p:spPr>
            <a:xfrm>
              <a:off x="7713345" y="2965132"/>
              <a:ext cx="734997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机械臂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720012" y="3345656"/>
              <a:ext cx="13112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独立 STM32 控制板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720012" y="3593306"/>
              <a:ext cx="7786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动作组保存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720012" y="3840956"/>
              <a:ext cx="80117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抓取 / 放置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720012" y="4088606"/>
              <a:ext cx="7786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复位与保护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7734300" y="4438650"/>
              <a:ext cx="1123950" cy="266700"/>
            </a:xfrm>
            <a:prstGeom prst="roundRect">
              <a:avLst>
                <a:gd name="adj" fmla="val 50000"/>
              </a:avLst>
            </a:prstGeom>
            <a:solidFill>
              <a:srgbClr val="E9F9ED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032813" y="4522470"/>
              <a:ext cx="52692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4C759"/>
                  </a:solidFill>
                  <a:latin typeface="Arial"/>
                  <a:ea typeface="Microsoft YaHei"/>
                  <a:cs typeface="Arial"/>
                </a:rPr>
                <a:t>动作执行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601200" y="2114550"/>
            <a:ext cx="1600200" cy="2781300"/>
            <a:chOff x="9601200" y="2114550"/>
            <a:chExt cx="1600200" cy="2781300"/>
          </a:xfrm>
        </p:grpSpPr>
        <p:sp>
          <p:nvSpPr>
            <p:cNvPr id="75" name="Rectangle 75"/>
            <p:cNvSpPr/>
            <p:nvPr/>
          </p:nvSpPr>
          <p:spPr>
            <a:xfrm>
              <a:off x="9601200" y="2114550"/>
              <a:ext cx="1600200" cy="2781300"/>
            </a:xfrm>
            <a:prstGeom prst="roundRect">
              <a:avLst>
                <a:gd name="adj" fmla="val 13095"/>
              </a:avLst>
            </a:prstGeom>
            <a:solidFill>
              <a:srgbClr val="F5F5F7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81" name="Group 81"/>
            <p:cNvGrpSpPr/>
            <p:nvPr/>
          </p:nvGrpSpPr>
          <p:grpSpPr>
            <a:xfrm>
              <a:off x="9939338" y="2470150"/>
              <a:ext cx="323849" cy="296863"/>
              <a:chOff x="9939338" y="2470150"/>
              <a:chExt cx="323849" cy="296863"/>
            </a:xfrm>
          </p:grpSpPr>
          <p:sp>
            <p:nvSpPr>
              <p:cNvPr id="76" name="Freeform 76"/>
              <p:cNvSpPr/>
              <p:nvPr/>
            </p:nvSpPr>
            <p:spPr>
              <a:xfrm>
                <a:off x="9939338" y="2470150"/>
                <a:ext cx="314325" cy="279400"/>
              </a:xfrm>
              <a:custGeom>
                <a:avLst/>
                <a:gdLst/>
                <a:ahLst/>
                <a:cxnLst/>
                <a:rect l="l" t="t" r="r" b="b"/>
                <a:pathLst>
                  <a:path w="314325" h="279400">
                    <a:moveTo>
                      <a:pt x="122237" y="279400"/>
                    </a:moveTo>
                    <a:lnTo>
                      <a:pt x="34925" y="279400"/>
                    </a:lnTo>
                    <a:cubicBezTo>
                      <a:pt x="15636" y="279400"/>
                      <a:pt x="0" y="263764"/>
                      <a:pt x="0" y="244475"/>
                    </a:cubicBezTo>
                    <a:lnTo>
                      <a:pt x="0" y="87313"/>
                    </a:lnTo>
                    <a:cubicBezTo>
                      <a:pt x="0" y="68024"/>
                      <a:pt x="15636" y="52388"/>
                      <a:pt x="34925" y="52388"/>
                    </a:cubicBezTo>
                    <a:lnTo>
                      <a:pt x="52388" y="52388"/>
                    </a:lnTo>
                    <a:cubicBezTo>
                      <a:pt x="71676" y="52388"/>
                      <a:pt x="87313" y="36751"/>
                      <a:pt x="87313" y="17463"/>
                    </a:cubicBezTo>
                    <a:cubicBezTo>
                      <a:pt x="87313" y="7818"/>
                      <a:pt x="95131" y="0"/>
                      <a:pt x="104775" y="0"/>
                    </a:cubicBezTo>
                    <a:lnTo>
                      <a:pt x="209550" y="0"/>
                    </a:lnTo>
                    <a:cubicBezTo>
                      <a:pt x="219194" y="0"/>
                      <a:pt x="227012" y="7818"/>
                      <a:pt x="227012" y="17463"/>
                    </a:cubicBezTo>
                    <a:cubicBezTo>
                      <a:pt x="227012" y="36751"/>
                      <a:pt x="242649" y="52388"/>
                      <a:pt x="261938" y="52388"/>
                    </a:cubicBezTo>
                    <a:lnTo>
                      <a:pt x="279400" y="52388"/>
                    </a:lnTo>
                    <a:cubicBezTo>
                      <a:pt x="298689" y="52388"/>
                      <a:pt x="314325" y="68024"/>
                      <a:pt x="314325" y="87313"/>
                    </a:cubicBezTo>
                    <a:lnTo>
                      <a:pt x="314325" y="122238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10041077" y="2571637"/>
                <a:ext cx="96669" cy="97812"/>
              </a:xfrm>
              <a:custGeom>
                <a:avLst/>
                <a:gdLst/>
                <a:ahLst/>
                <a:cxnLst/>
                <a:rect l="l" t="t" r="r" b="b"/>
                <a:pathLst>
                  <a:path w="96669" h="97812">
                    <a:moveTo>
                      <a:pt x="96669" y="23370"/>
                    </a:moveTo>
                    <a:cubicBezTo>
                      <a:pt x="84083" y="7297"/>
                      <a:pt x="63307" y="0"/>
                      <a:pt x="43435" y="4671"/>
                    </a:cubicBezTo>
                    <a:cubicBezTo>
                      <a:pt x="23563" y="9343"/>
                      <a:pt x="8214" y="25132"/>
                      <a:pt x="4107" y="45129"/>
                    </a:cubicBezTo>
                    <a:cubicBezTo>
                      <a:pt x="0" y="65125"/>
                      <a:pt x="7883" y="85686"/>
                      <a:pt x="24304" y="97812"/>
                    </a:cubicBez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10131425" y="2662238"/>
                <a:ext cx="69850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104775">
                    <a:moveTo>
                      <a:pt x="0" y="104775"/>
                    </a:moveTo>
                    <a:lnTo>
                      <a:pt x="0" y="34925"/>
                    </a:lnTo>
                    <a:cubicBezTo>
                      <a:pt x="0" y="15636"/>
                      <a:pt x="15636" y="0"/>
                      <a:pt x="34925" y="0"/>
                    </a:cubicBezTo>
                    <a:cubicBezTo>
                      <a:pt x="54214" y="0"/>
                      <a:pt x="69850" y="15636"/>
                      <a:pt x="69850" y="34925"/>
                    </a:cubicBezTo>
                    <a:lnTo>
                      <a:pt x="69850" y="104775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10131425" y="2732088"/>
                <a:ext cx="698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9525">
                    <a:moveTo>
                      <a:pt x="0" y="0"/>
                    </a:moveTo>
                    <a:lnTo>
                      <a:pt x="69850" y="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80" name="Freeform 80"/>
              <p:cNvSpPr/>
              <p:nvPr/>
            </p:nvSpPr>
            <p:spPr>
              <a:xfrm>
                <a:off x="10253662" y="2662238"/>
                <a:ext cx="9525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4775">
                    <a:moveTo>
                      <a:pt x="0" y="0"/>
                    </a:moveTo>
                    <a:lnTo>
                      <a:pt x="0" y="104775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82" name="TextBox 82"/>
            <p:cNvSpPr txBox="1"/>
            <p:nvPr/>
          </p:nvSpPr>
          <p:spPr>
            <a:xfrm>
              <a:off x="9865995" y="296513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感知扩展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9872662" y="3593306"/>
              <a:ext cx="68865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JY61P IMU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9872662" y="3840956"/>
              <a:ext cx="92868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激光测距接口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9886950" y="4438650"/>
              <a:ext cx="914400" cy="266700"/>
            </a:xfrm>
            <a:prstGeom prst="roundRect">
              <a:avLst>
                <a:gd name="adj" fmla="val 50000"/>
              </a:avLst>
            </a:prstGeom>
            <a:solidFill>
              <a:srgbClr val="FFF1F0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9997900" y="4522470"/>
              <a:ext cx="692498" cy="138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altLang="en-US" sz="900" b="1" dirty="0">
                  <a:solidFill>
                    <a:srgbClr val="FF3B30"/>
                  </a:solidFill>
                  <a:latin typeface="Arial"/>
                  <a:ea typeface="Microsoft YaHei"/>
                  <a:cs typeface="Arial"/>
                </a:rPr>
                <a:t>辅助路径修正</a:t>
              </a:r>
              <a:endParaRPr lang="zh-CN" sz="900" b="1" dirty="0">
                <a:solidFill>
                  <a:srgbClr val="FF3B30"/>
                </a:solidFill>
                <a:latin typeface="Arial"/>
                <a:ea typeface="Microsoft YaHei"/>
                <a:cs typeface="Arial"/>
              </a:endParaRP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2952750" y="3505200"/>
            <a:ext cx="6648450" cy="1"/>
            <a:chOff x="2952750" y="3505200"/>
            <a:chExt cx="6648450" cy="1"/>
          </a:xfrm>
        </p:grpSpPr>
        <p:sp>
          <p:nvSpPr>
            <p:cNvPr id="90" name="Line 90"/>
            <p:cNvSpPr/>
            <p:nvPr/>
          </p:nvSpPr>
          <p:spPr>
            <a:xfrm>
              <a:off x="2952750" y="3505200"/>
              <a:ext cx="190500" cy="1"/>
            </a:xfrm>
            <a:prstGeom prst="line">
              <a:avLst/>
            </a:prstGeom>
            <a:noFill/>
            <a:ln w="19050">
              <a:solidFill>
                <a:srgbClr val="A1A1A6"/>
              </a:solidFill>
              <a:tailEnd type="triangle" w="lg" len="lg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1" name="Line 91"/>
            <p:cNvSpPr/>
            <p:nvPr/>
          </p:nvSpPr>
          <p:spPr>
            <a:xfrm>
              <a:off x="5105400" y="3505200"/>
              <a:ext cx="190500" cy="1"/>
            </a:xfrm>
            <a:prstGeom prst="line">
              <a:avLst/>
            </a:prstGeom>
            <a:noFill/>
            <a:ln w="19050">
              <a:solidFill>
                <a:srgbClr val="A1A1A6"/>
              </a:solidFill>
              <a:tailEnd type="triangle" w="lg" len="lg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2" name="Line 92"/>
            <p:cNvSpPr/>
            <p:nvPr/>
          </p:nvSpPr>
          <p:spPr>
            <a:xfrm>
              <a:off x="7258050" y="3505200"/>
              <a:ext cx="190500" cy="1"/>
            </a:xfrm>
            <a:prstGeom prst="line">
              <a:avLst/>
            </a:prstGeom>
            <a:noFill/>
            <a:ln w="19050">
              <a:solidFill>
                <a:srgbClr val="A1A1A6"/>
              </a:solidFill>
              <a:tailEnd type="triangle" w="lg" len="lg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3" name="Line 93"/>
            <p:cNvSpPr/>
            <p:nvPr/>
          </p:nvSpPr>
          <p:spPr>
            <a:xfrm>
              <a:off x="9410700" y="3505200"/>
              <a:ext cx="190500" cy="1"/>
            </a:xfrm>
            <a:prstGeom prst="line">
              <a:avLst/>
            </a:prstGeom>
            <a:noFill/>
            <a:ln w="19050">
              <a:solidFill>
                <a:srgbClr val="A1A1A6"/>
              </a:solidFill>
              <a:tailEnd type="triangle" w="lg" len="lg"/>
            </a:ln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96" name="TextBox 96"/>
          <p:cNvSpPr txBox="1"/>
          <p:nvPr/>
        </p:nvSpPr>
        <p:spPr>
          <a:xfrm>
            <a:off x="11172254" y="639889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A1A1A6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7" dur="4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8" grpId="0"/>
      <p:bldP spid="42" grpId="0"/>
      <p:bldP spid="55" grpId="0"/>
      <p:bldP spid="74" grpId="0"/>
      <p:bldP spid="89" grpId="0"/>
      <p:bldP spid="9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575310" y="413385"/>
            <a:ext cx="8215498" cy="722471"/>
            <a:chOff x="575310" y="413385"/>
            <a:chExt cx="8215498" cy="722471"/>
          </a:xfrm>
        </p:grpSpPr>
        <p:sp>
          <p:nvSpPr>
            <p:cNvPr id="3" name="TextBox 3"/>
            <p:cNvSpPr txBox="1"/>
            <p:nvPr/>
          </p:nvSpPr>
          <p:spPr>
            <a:xfrm>
              <a:off x="575310" y="413385"/>
              <a:ext cx="8215498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树莓派是调度中心，两个 STM32 各自保持实时性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14362" y="907256"/>
              <a:ext cx="452913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两路串口把底盘控制和机械臂动作拆开，便于独立调试和联动扩展。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723900" y="1676400"/>
            <a:ext cx="3028950" cy="3733800"/>
            <a:chOff x="723900" y="1676400"/>
            <a:chExt cx="3028950" cy="3733800"/>
          </a:xfrm>
        </p:grpSpPr>
        <p:sp>
          <p:nvSpPr>
            <p:cNvPr id="6" name="Rectangle 6"/>
            <p:cNvSpPr/>
            <p:nvPr/>
          </p:nvSpPr>
          <p:spPr>
            <a:xfrm>
              <a:off x="723900" y="1676400"/>
              <a:ext cx="3028950" cy="3733800"/>
            </a:xfrm>
            <a:prstGeom prst="roundRect">
              <a:avLst>
                <a:gd name="adj" fmla="val 8805"/>
              </a:avLst>
            </a:prstGeom>
            <a:solidFill>
              <a:srgbClr val="FFFFFF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" name="Rectangle 7"/>
            <p:cNvSpPr/>
            <p:nvPr/>
          </p:nvSpPr>
          <p:spPr>
            <a:xfrm>
              <a:off x="723900" y="1676400"/>
              <a:ext cx="3028950" cy="609600"/>
            </a:xfrm>
            <a:prstGeom prst="roundRect">
              <a:avLst>
                <a:gd name="adj" fmla="val 43750"/>
              </a:avLst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351062" y="1879282"/>
              <a:ext cx="1774627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Raspberry Pi 4B</a:t>
              </a:r>
            </a:p>
          </p:txBody>
        </p:sp>
        <p:grpSp>
          <p:nvGrpSpPr>
            <p:cNvPr id="11" name="Group 11"/>
            <p:cNvGrpSpPr/>
            <p:nvPr/>
          </p:nvGrpSpPr>
          <p:grpSpPr>
            <a:xfrm>
              <a:off x="1859699" y="2783624"/>
              <a:ext cx="719252" cy="719252"/>
              <a:chOff x="1859699" y="2783624"/>
              <a:chExt cx="719252" cy="719252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859699" y="2783624"/>
                <a:ext cx="719252" cy="719252"/>
              </a:xfrm>
              <a:custGeom>
                <a:avLst/>
                <a:gdLst/>
                <a:ahLst/>
                <a:cxnLst/>
                <a:rect l="l" t="t" r="r" b="b"/>
                <a:pathLst>
                  <a:path w="719252" h="719252">
                    <a:moveTo>
                      <a:pt x="295808" y="66904"/>
                    </a:moveTo>
                    <a:cubicBezTo>
                      <a:pt x="312039" y="0"/>
                      <a:pt x="407213" y="0"/>
                      <a:pt x="423443" y="66904"/>
                    </a:cubicBezTo>
                    <a:cubicBezTo>
                      <a:pt x="428383" y="87289"/>
                      <a:pt x="442761" y="104090"/>
                      <a:pt x="462140" y="112119"/>
                    </a:cubicBezTo>
                    <a:cubicBezTo>
                      <a:pt x="481518" y="120147"/>
                      <a:pt x="503565" y="118438"/>
                      <a:pt x="521475" y="107518"/>
                    </a:cubicBezTo>
                    <a:cubicBezTo>
                      <a:pt x="580263" y="71704"/>
                      <a:pt x="647586" y="138989"/>
                      <a:pt x="611772" y="197815"/>
                    </a:cubicBezTo>
                    <a:cubicBezTo>
                      <a:pt x="600868" y="215717"/>
                      <a:pt x="599163" y="237747"/>
                      <a:pt x="607182" y="257113"/>
                    </a:cubicBezTo>
                    <a:cubicBezTo>
                      <a:pt x="615201" y="276479"/>
                      <a:pt x="631981" y="290855"/>
                      <a:pt x="652348" y="295808"/>
                    </a:cubicBezTo>
                    <a:cubicBezTo>
                      <a:pt x="719252" y="312039"/>
                      <a:pt x="719252" y="407213"/>
                      <a:pt x="652348" y="423443"/>
                    </a:cubicBezTo>
                    <a:cubicBezTo>
                      <a:pt x="631962" y="428383"/>
                      <a:pt x="615162" y="442761"/>
                      <a:pt x="607133" y="462140"/>
                    </a:cubicBezTo>
                    <a:cubicBezTo>
                      <a:pt x="599105" y="481518"/>
                      <a:pt x="600814" y="503565"/>
                      <a:pt x="611734" y="521475"/>
                    </a:cubicBezTo>
                    <a:cubicBezTo>
                      <a:pt x="647548" y="580263"/>
                      <a:pt x="580263" y="647586"/>
                      <a:pt x="521437" y="611772"/>
                    </a:cubicBezTo>
                    <a:cubicBezTo>
                      <a:pt x="503535" y="600868"/>
                      <a:pt x="481505" y="599163"/>
                      <a:pt x="462139" y="607182"/>
                    </a:cubicBezTo>
                    <a:cubicBezTo>
                      <a:pt x="442772" y="615201"/>
                      <a:pt x="428396" y="631981"/>
                      <a:pt x="423443" y="652348"/>
                    </a:cubicBezTo>
                    <a:cubicBezTo>
                      <a:pt x="407213" y="719252"/>
                      <a:pt x="312039" y="719252"/>
                      <a:pt x="295808" y="652348"/>
                    </a:cubicBezTo>
                    <a:cubicBezTo>
                      <a:pt x="290869" y="631962"/>
                      <a:pt x="276490" y="615162"/>
                      <a:pt x="257112" y="607133"/>
                    </a:cubicBezTo>
                    <a:cubicBezTo>
                      <a:pt x="237734" y="599105"/>
                      <a:pt x="215686" y="600814"/>
                      <a:pt x="197777" y="611734"/>
                    </a:cubicBezTo>
                    <a:cubicBezTo>
                      <a:pt x="138989" y="647548"/>
                      <a:pt x="71666" y="580263"/>
                      <a:pt x="107480" y="521437"/>
                    </a:cubicBezTo>
                    <a:cubicBezTo>
                      <a:pt x="118384" y="503535"/>
                      <a:pt x="120089" y="481505"/>
                      <a:pt x="112070" y="462139"/>
                    </a:cubicBezTo>
                    <a:cubicBezTo>
                      <a:pt x="104051" y="442772"/>
                      <a:pt x="87271" y="428396"/>
                      <a:pt x="66904" y="423443"/>
                    </a:cubicBezTo>
                    <a:cubicBezTo>
                      <a:pt x="0" y="407213"/>
                      <a:pt x="0" y="312039"/>
                      <a:pt x="66904" y="295808"/>
                    </a:cubicBezTo>
                    <a:cubicBezTo>
                      <a:pt x="87289" y="290869"/>
                      <a:pt x="104090" y="276490"/>
                      <a:pt x="112119" y="257112"/>
                    </a:cubicBezTo>
                    <a:cubicBezTo>
                      <a:pt x="120147" y="237734"/>
                      <a:pt x="118438" y="215686"/>
                      <a:pt x="107518" y="197777"/>
                    </a:cubicBezTo>
                    <a:cubicBezTo>
                      <a:pt x="71704" y="138989"/>
                      <a:pt x="138989" y="71666"/>
                      <a:pt x="197815" y="107480"/>
                    </a:cubicBezTo>
                    <a:cubicBezTo>
                      <a:pt x="235915" y="130645"/>
                      <a:pt x="285293" y="110147"/>
                      <a:pt x="295808" y="66904"/>
                    </a:cubicBez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0" name="Freeform 10"/>
              <p:cNvSpPr/>
              <p:nvPr/>
            </p:nvSpPr>
            <p:spPr>
              <a:xfrm>
                <a:off x="2143125" y="3028950"/>
                <a:ext cx="190500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228600">
                    <a:moveTo>
                      <a:pt x="0" y="0"/>
                    </a:moveTo>
                    <a:lnTo>
                      <a:pt x="0" y="228600"/>
                    </a:lnTo>
                    <a:lnTo>
                      <a:pt x="190500" y="114300"/>
                    </a:ln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1694259" y="3838575"/>
              <a:ext cx="108823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上位机调度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924050" y="4221956"/>
              <a:ext cx="6286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视觉识别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849041" y="4469606"/>
              <a:ext cx="7786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二维码任务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699022" y="4717256"/>
              <a:ext cx="107870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指令封装与下发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401050" y="1638300"/>
            <a:ext cx="3067050" cy="1676400"/>
            <a:chOff x="8401050" y="1638300"/>
            <a:chExt cx="3067050" cy="1676400"/>
          </a:xfrm>
        </p:grpSpPr>
        <p:sp>
          <p:nvSpPr>
            <p:cNvPr id="17" name="Rectangle 17"/>
            <p:cNvSpPr/>
            <p:nvPr/>
          </p:nvSpPr>
          <p:spPr>
            <a:xfrm>
              <a:off x="8401050" y="1638300"/>
              <a:ext cx="3067050" cy="16764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401050" y="1638300"/>
              <a:ext cx="3067050" cy="495300"/>
            </a:xfrm>
            <a:prstGeom prst="roundRect">
              <a:avLst>
                <a:gd name="adj" fmla="val 46154"/>
              </a:avLst>
            </a:prstGeom>
            <a:solidFill>
              <a:srgbClr val="EAF4FF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364206" y="1800225"/>
              <a:ext cx="114073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0071E3"/>
                  </a:solidFill>
                  <a:latin typeface="Arial"/>
                  <a:ea typeface="Microsoft YaHei"/>
                  <a:cs typeface="Arial"/>
                </a:rPr>
                <a:t>底盘 STM32</a:t>
              </a:r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8742362" y="2472531"/>
              <a:ext cx="365126" cy="255588"/>
              <a:chOff x="8742362" y="2472531"/>
              <a:chExt cx="365126" cy="255588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8797131" y="2472531"/>
                <a:ext cx="255587" cy="255588"/>
              </a:xfrm>
              <a:custGeom>
                <a:avLst/>
                <a:gdLst/>
                <a:ahLst/>
                <a:cxnLst/>
                <a:rect l="l" t="t" r="r" b="b"/>
                <a:pathLst>
                  <a:path w="255587" h="255588">
                    <a:moveTo>
                      <a:pt x="0" y="127794"/>
                    </a:moveTo>
                    <a:cubicBezTo>
                      <a:pt x="0" y="198372"/>
                      <a:pt x="57215" y="255588"/>
                      <a:pt x="127794" y="255588"/>
                    </a:cubicBezTo>
                    <a:cubicBezTo>
                      <a:pt x="198372" y="255588"/>
                      <a:pt x="255587" y="198372"/>
                      <a:pt x="255587" y="127794"/>
                    </a:cubicBezTo>
                    <a:cubicBezTo>
                      <a:pt x="255587" y="57215"/>
                      <a:pt x="198372" y="0"/>
                      <a:pt x="127794" y="0"/>
                    </a:cubicBezTo>
                    <a:cubicBezTo>
                      <a:pt x="57215" y="0"/>
                      <a:pt x="0" y="57215"/>
                      <a:pt x="0" y="127794"/>
                    </a:cubicBezTo>
                  </a:path>
                </a:pathLst>
              </a:custGeom>
              <a:noFill/>
              <a:ln w="19050">
                <a:solidFill>
                  <a:srgbClr val="1D1D1F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8742362" y="2600325"/>
                <a:ext cx="547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4769" h="9525">
                    <a:moveTo>
                      <a:pt x="54769" y="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D1D1F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9052719" y="2600325"/>
                <a:ext cx="547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4769" h="9525">
                    <a:moveTo>
                      <a:pt x="0" y="0"/>
                    </a:moveTo>
                    <a:lnTo>
                      <a:pt x="54769" y="0"/>
                    </a:lnTo>
                  </a:path>
                </a:pathLst>
              </a:custGeom>
              <a:noFill/>
              <a:ln w="19050">
                <a:solidFill>
                  <a:srgbClr val="1D1D1F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8888412" y="2563812"/>
                <a:ext cx="73025" cy="730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73025">
                    <a:moveTo>
                      <a:pt x="0" y="73025"/>
                    </a:moveTo>
                    <a:lnTo>
                      <a:pt x="0" y="0"/>
                    </a:lnTo>
                    <a:lnTo>
                      <a:pt x="36513" y="36512"/>
                    </a:lnTo>
                    <a:lnTo>
                      <a:pt x="73025" y="0"/>
                    </a:lnTo>
                    <a:lnTo>
                      <a:pt x="73025" y="73025"/>
                    </a:lnTo>
                  </a:path>
                </a:pathLst>
              </a:custGeom>
              <a:noFill/>
              <a:ln w="19050">
                <a:solidFill>
                  <a:srgbClr val="1D1D1F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9357360" y="2423160"/>
              <a:ext cx="103860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麦轮运动控制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359265" y="2687002"/>
              <a:ext cx="184689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速度、停止、路线、状态查询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8401050" y="3733800"/>
            <a:ext cx="3067050" cy="1676400"/>
            <a:chOff x="8401050" y="3733800"/>
            <a:chExt cx="3067050" cy="1676400"/>
          </a:xfrm>
        </p:grpSpPr>
        <p:sp>
          <p:nvSpPr>
            <p:cNvPr id="28" name="Rectangle 28"/>
            <p:cNvSpPr/>
            <p:nvPr/>
          </p:nvSpPr>
          <p:spPr>
            <a:xfrm>
              <a:off x="8401050" y="3733800"/>
              <a:ext cx="3067050" cy="16764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401050" y="3733800"/>
              <a:ext cx="3067050" cy="495300"/>
            </a:xfrm>
            <a:prstGeom prst="roundRect">
              <a:avLst>
                <a:gd name="adj" fmla="val 46154"/>
              </a:avLst>
            </a:prstGeom>
            <a:solidFill>
              <a:srgbClr val="E9F9ED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259193" y="3895725"/>
              <a:ext cx="135076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34C759"/>
                  </a:solidFill>
                  <a:latin typeface="Arial"/>
                  <a:ea typeface="Microsoft YaHei"/>
                  <a:cs typeface="Arial"/>
                </a:rPr>
                <a:t>机械臂 STM32</a:t>
              </a:r>
            </a:p>
          </p:txBody>
        </p:sp>
        <p:grpSp>
          <p:nvGrpSpPr>
            <p:cNvPr id="40" name="Group 40"/>
            <p:cNvGrpSpPr/>
            <p:nvPr/>
          </p:nvGrpSpPr>
          <p:grpSpPr>
            <a:xfrm>
              <a:off x="8797131" y="4513262"/>
              <a:ext cx="255588" cy="346869"/>
              <a:chOff x="8797131" y="4513262"/>
              <a:chExt cx="255588" cy="346869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8815388" y="4549775"/>
                <a:ext cx="21907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46050">
                    <a:moveTo>
                      <a:pt x="0" y="36512"/>
                    </a:moveTo>
                    <a:cubicBezTo>
                      <a:pt x="0" y="16347"/>
                      <a:pt x="16347" y="0"/>
                      <a:pt x="36513" y="0"/>
                    </a:cubicBezTo>
                    <a:lnTo>
                      <a:pt x="182562" y="0"/>
                    </a:lnTo>
                    <a:cubicBezTo>
                      <a:pt x="202728" y="0"/>
                      <a:pt x="219075" y="16347"/>
                      <a:pt x="219075" y="36512"/>
                    </a:cubicBezTo>
                    <a:lnTo>
                      <a:pt x="219075" y="109538"/>
                    </a:lnTo>
                    <a:cubicBezTo>
                      <a:pt x="219075" y="129703"/>
                      <a:pt x="202728" y="146050"/>
                      <a:pt x="182562" y="146050"/>
                    </a:cubicBezTo>
                    <a:lnTo>
                      <a:pt x="36513" y="146050"/>
                    </a:lnTo>
                    <a:cubicBezTo>
                      <a:pt x="16347" y="146050"/>
                      <a:pt x="0" y="129703"/>
                      <a:pt x="0" y="109538"/>
                    </a:cubicBezTo>
                    <a:lnTo>
                      <a:pt x="0" y="36512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8924925" y="4513262"/>
                <a:ext cx="9525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513">
                    <a:moveTo>
                      <a:pt x="0" y="0"/>
                    </a:moveTo>
                    <a:lnTo>
                      <a:pt x="0" y="36513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8870156" y="4695825"/>
                <a:ext cx="9525" cy="16430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64306">
                    <a:moveTo>
                      <a:pt x="0" y="0"/>
                    </a:moveTo>
                    <a:lnTo>
                      <a:pt x="0" y="164306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8979694" y="4695825"/>
                <a:ext cx="9525" cy="16430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64306">
                    <a:moveTo>
                      <a:pt x="0" y="0"/>
                    </a:moveTo>
                    <a:lnTo>
                      <a:pt x="0" y="164306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8797131" y="4732338"/>
                <a:ext cx="73025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36513">
                    <a:moveTo>
                      <a:pt x="0" y="36513"/>
                    </a:moveTo>
                    <a:lnTo>
                      <a:pt x="73025" y="0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6" name="Freeform 36"/>
              <p:cNvSpPr/>
              <p:nvPr/>
            </p:nvSpPr>
            <p:spPr>
              <a:xfrm>
                <a:off x="8979694" y="4732338"/>
                <a:ext cx="73025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36513">
                    <a:moveTo>
                      <a:pt x="0" y="0"/>
                    </a:moveTo>
                    <a:lnTo>
                      <a:pt x="73025" y="36513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7" name="Freeform 37"/>
              <p:cNvSpPr/>
              <p:nvPr/>
            </p:nvSpPr>
            <p:spPr>
              <a:xfrm>
                <a:off x="8870156" y="4805362"/>
                <a:ext cx="10953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9525">
                    <a:moveTo>
                      <a:pt x="0" y="0"/>
                    </a:moveTo>
                    <a:lnTo>
                      <a:pt x="109538" y="0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8" name="Freeform 38"/>
              <p:cNvSpPr/>
              <p:nvPr/>
            </p:nvSpPr>
            <p:spPr>
              <a:xfrm>
                <a:off x="8888412" y="46228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83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8961438" y="46228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83"/>
                    </a:lnTo>
                  </a:path>
                </a:pathLst>
              </a:custGeom>
              <a:noFill/>
              <a:ln w="19050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9357360" y="4518660"/>
              <a:ext cx="87058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动作组执行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359265" y="4782502"/>
              <a:ext cx="184689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动作编号、启动、停止、复位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3752850" y="2228850"/>
            <a:ext cx="4610100" cy="1123950"/>
            <a:chOff x="3752850" y="2228850"/>
            <a:chExt cx="4610100" cy="1123950"/>
          </a:xfrm>
        </p:grpSpPr>
        <p:sp>
          <p:nvSpPr>
            <p:cNvPr id="44" name="Line 44"/>
            <p:cNvSpPr/>
            <p:nvPr/>
          </p:nvSpPr>
          <p:spPr>
            <a:xfrm>
              <a:off x="3752850" y="2571750"/>
              <a:ext cx="4610100" cy="1"/>
            </a:xfrm>
            <a:prstGeom prst="line">
              <a:avLst/>
            </a:prstGeom>
            <a:noFill/>
            <a:ln w="28575">
              <a:solidFill>
                <a:srgbClr val="0071E3"/>
              </a:solidFill>
              <a:tailEnd type="triangle" w="lg" len="lg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" name="Rectangle 45"/>
            <p:cNvSpPr/>
            <p:nvPr/>
          </p:nvSpPr>
          <p:spPr>
            <a:xfrm>
              <a:off x="4953000" y="2228850"/>
              <a:ext cx="2209800" cy="3429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0071E3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384641" y="2336006"/>
              <a:ext cx="1346522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altLang="zh-CN" sz="1125" b="1" dirty="0">
                  <a:solidFill>
                    <a:srgbClr val="0071E3"/>
                  </a:solidFill>
                  <a:latin typeface="Arial"/>
                  <a:ea typeface="Microsoft YaHei"/>
                  <a:cs typeface="Arial"/>
                </a:rPr>
                <a:t>UART 2 115200 8N1</a:t>
              </a:r>
              <a:endParaRPr lang="zh-CN" sz="1125" b="1" dirty="0">
                <a:solidFill>
                  <a:srgbClr val="0071E3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47" name="Line 47"/>
            <p:cNvSpPr/>
            <p:nvPr/>
          </p:nvSpPr>
          <p:spPr>
            <a:xfrm flipH="1">
              <a:off x="3790950" y="2971800"/>
              <a:ext cx="4572000" cy="1"/>
            </a:xfrm>
            <a:prstGeom prst="line">
              <a:avLst/>
            </a:prstGeom>
            <a:noFill/>
            <a:ln w="19050">
              <a:solidFill>
                <a:srgbClr val="34C759"/>
              </a:solidFill>
              <a:tailEnd type="triangle" w="lg" len="lg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067300" y="3067050"/>
              <a:ext cx="1981200" cy="28575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34C759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489210" y="3152299"/>
              <a:ext cx="11373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4C759"/>
                  </a:solidFill>
                  <a:latin typeface="Arial"/>
                  <a:ea typeface="Microsoft YaHei"/>
                  <a:cs typeface="Arial"/>
                </a:rPr>
                <a:t>状态 / 传感器快照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3752850" y="4229100"/>
            <a:ext cx="4610100" cy="1123950"/>
            <a:chOff x="3752850" y="4229100"/>
            <a:chExt cx="4610100" cy="1123950"/>
          </a:xfrm>
        </p:grpSpPr>
        <p:sp>
          <p:nvSpPr>
            <p:cNvPr id="51" name="Line 51"/>
            <p:cNvSpPr/>
            <p:nvPr/>
          </p:nvSpPr>
          <p:spPr>
            <a:xfrm>
              <a:off x="3752850" y="4572000"/>
              <a:ext cx="4610100" cy="1"/>
            </a:xfrm>
            <a:prstGeom prst="line">
              <a:avLst/>
            </a:prstGeom>
            <a:noFill/>
            <a:ln w="28575">
              <a:solidFill>
                <a:srgbClr val="0071E3"/>
              </a:solidFill>
              <a:tailEnd type="triangle" w="lg" len="lg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895850" y="4229100"/>
              <a:ext cx="2324100" cy="3429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0071E3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669172" y="4336256"/>
              <a:ext cx="77745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altLang="zh-CN" sz="1125" b="1" dirty="0">
                  <a:solidFill>
                    <a:srgbClr val="0071E3"/>
                  </a:solidFill>
                  <a:latin typeface="Arial"/>
                  <a:ea typeface="Microsoft YaHei"/>
                  <a:cs typeface="Arial"/>
                </a:rPr>
                <a:t>BUND 9600</a:t>
              </a:r>
              <a:endParaRPr lang="zh-CN" sz="1125" b="1" dirty="0">
                <a:solidFill>
                  <a:srgbClr val="0071E3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54" name="Line 54"/>
            <p:cNvSpPr/>
            <p:nvPr/>
          </p:nvSpPr>
          <p:spPr>
            <a:xfrm flipH="1">
              <a:off x="3790950" y="4972050"/>
              <a:ext cx="4572000" cy="1"/>
            </a:xfrm>
            <a:prstGeom prst="line">
              <a:avLst/>
            </a:prstGeom>
            <a:noFill/>
            <a:ln w="19050">
              <a:solidFill>
                <a:srgbClr val="34C759"/>
              </a:solidFill>
              <a:tailEnd type="triangle" w="lg" len="lg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086350" y="5067300"/>
              <a:ext cx="1943100" cy="28575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34C759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420952" y="5152549"/>
              <a:ext cx="127389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4C759"/>
                  </a:solidFill>
                  <a:latin typeface="Arial"/>
                  <a:ea typeface="Microsoft YaHei"/>
                  <a:cs typeface="Arial"/>
                </a:rPr>
                <a:t>动作完成 / 异常状态</a:t>
              </a:r>
            </a:p>
          </p:txBody>
        </p:sp>
      </p:grpSp>
      <p:sp>
        <p:nvSpPr>
          <p:cNvPr id="62" name="TextBox 62"/>
          <p:cNvSpPr txBox="1"/>
          <p:nvPr/>
        </p:nvSpPr>
        <p:spPr>
          <a:xfrm>
            <a:off x="11172254" y="649414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A1A1A6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7" grpId="0"/>
      <p:bldP spid="43" grpId="0"/>
      <p:bldP spid="50" grpId="0"/>
      <p:bldP spid="5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background-fill">
            <a:extLst>
              <a:ext uri="{FF2B5EF4-FFF2-40B4-BE49-F238E27FC236}">
                <a16:creationId xmlns:a16="http://schemas.microsoft.com/office/drawing/2014/main" id="{3A6F7258-0BC5-2409-7050-2710751F087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 w="0">
            <a:solidFill>
              <a:srgbClr val="F5F5F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eyebrow">
            <a:extLst>
              <a:ext uri="{FF2B5EF4-FFF2-40B4-BE49-F238E27FC236}">
                <a16:creationId xmlns:a16="http://schemas.microsoft.com/office/drawing/2014/main" id="{DE453805-A984-4819-8357-6C09285E112A}"/>
              </a:ext>
            </a:extLst>
          </p:cNvPr>
          <p:cNvSpPr>
            <a:spLocks noGrp="1"/>
          </p:cNvSpPr>
          <p:nvPr/>
        </p:nvSpPr>
        <p:spPr>
          <a:xfrm>
            <a:off x="609600" y="4953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 b="1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rPr>
              <a:t>上位机控制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0139E70-EDA1-453A-92A9-B49AC9B3C4BF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6572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lnSpc>
                <a:spcPct val="104000"/>
              </a:lnSpc>
              <a:buNone/>
              <a:defRPr sz="2550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rPr>
              <a:t>树莓派不是“遥控器”，而是整车任务调度中心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F439474B-8D1A-4EBB-B468-35E50F0B23D4}"/>
              </a:ext>
            </a:extLst>
          </p:cNvPr>
          <p:cNvSpPr>
            <a:spLocks noGrp="1"/>
          </p:cNvSpPr>
          <p:nvPr/>
        </p:nvSpPr>
        <p:spPr>
          <a:xfrm>
            <a:off x="628650" y="167640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lnSpc>
                <a:spcPct val="120000"/>
              </a:lnSpc>
              <a:buNone/>
              <a:defRPr sz="1125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rPr>
              <a:t>它把视觉、二维码、状态反馈和两路 STM32 指令组织成可执行的任务状态机。</a:t>
            </a:r>
          </a:p>
        </p:txBody>
      </p:sp>
      <p:sp>
        <p:nvSpPr>
          <p:cNvPr id="5" name="pi-control-image-frame">
            <a:extLst>
              <a:ext uri="{FF2B5EF4-FFF2-40B4-BE49-F238E27FC236}">
                <a16:creationId xmlns:a16="http://schemas.microsoft.com/office/drawing/2014/main" id="{E9658691-1552-45A4-89F5-97CC6BA7D297}"/>
              </a:ext>
            </a:extLst>
          </p:cNvPr>
          <p:cNvSpPr>
            <a:spLocks noGrp="1"/>
          </p:cNvSpPr>
          <p:nvPr/>
        </p:nvSpPr>
        <p:spPr>
          <a:xfrm>
            <a:off x="6083343" y="1550241"/>
            <a:ext cx="5676900" cy="390525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 w="9525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151923" y="1735978"/>
            <a:ext cx="5654040" cy="3533775"/>
          </a:xfrm>
          <a:prstGeom prst="roundRect">
            <a:avLst>
              <a:gd name="adj" fmla="val 5455"/>
            </a:avLst>
          </a:prstGeom>
        </p:spPr>
      </p:pic>
      <p:sp>
        <p:nvSpPr>
          <p:cNvPr id="9" name="bullet-dot-pi-1">
            <a:extLst>
              <a:ext uri="{FF2B5EF4-FFF2-40B4-BE49-F238E27FC236}">
                <a16:creationId xmlns:a16="http://schemas.microsoft.com/office/drawing/2014/main" id="{7F888B33-984F-4948-9E8F-59CE1AF8EF67}"/>
              </a:ext>
            </a:extLst>
          </p:cNvPr>
          <p:cNvSpPr>
            <a:spLocks noGrp="1"/>
          </p:cNvSpPr>
          <p:nvPr/>
        </p:nvSpPr>
        <p:spPr>
          <a:xfrm>
            <a:off x="723900" y="2474166"/>
            <a:ext cx="114300" cy="114300"/>
          </a:xfrm>
          <a:prstGeom prst="ellipse">
            <a:avLst/>
          </a:prstGeom>
          <a:solidFill>
            <a:srgbClr val="0071E3"/>
          </a:solidFill>
          <a:ln w="0">
            <a:solidFill>
              <a:srgbClr val="0071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bullet-title-pi-1">
            <a:extLst>
              <a:ext uri="{FF2B5EF4-FFF2-40B4-BE49-F238E27FC236}">
                <a16:creationId xmlns:a16="http://schemas.microsoft.com/office/drawing/2014/main" id="{F1712717-5045-4666-B330-F4B7FBC99F6A}"/>
              </a:ext>
            </a:extLst>
          </p:cNvPr>
          <p:cNvSpPr>
            <a:spLocks noGrp="1"/>
          </p:cNvSpPr>
          <p:nvPr/>
        </p:nvSpPr>
        <p:spPr>
          <a:xfrm>
            <a:off x="971550" y="2388441"/>
            <a:ext cx="3314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rPr>
              <a:t>任务输入</a:t>
            </a:r>
          </a:p>
        </p:txBody>
      </p:sp>
      <p:sp>
        <p:nvSpPr>
          <p:cNvPr id="11" name="bullet-desc-pi-1">
            <a:extLst>
              <a:ext uri="{FF2B5EF4-FFF2-40B4-BE49-F238E27FC236}">
                <a16:creationId xmlns:a16="http://schemas.microsoft.com/office/drawing/2014/main" id="{67F3DD25-AB4A-4E06-9D12-6F49B289349E}"/>
              </a:ext>
            </a:extLst>
          </p:cNvPr>
          <p:cNvSpPr>
            <a:spLocks noGrp="1"/>
          </p:cNvSpPr>
          <p:nvPr/>
        </p:nvSpPr>
        <p:spPr>
          <a:xfrm>
            <a:off x="971550" y="2664666"/>
            <a:ext cx="3714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lnSpc>
                <a:spcPct val="115000"/>
              </a:lnSpc>
              <a:buNone/>
              <a:defRPr sz="1013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dirty="0" err="1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rPr>
              <a:t>二维码解析目标类别、搬运顺序或放置要求；YOLO</a:t>
            </a:r>
            <a:r>
              <a:rPr sz="1013" dirty="0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013" dirty="0" err="1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rPr>
              <a:t>输出类别、颜色、位置框与置信度</a:t>
            </a:r>
            <a:r>
              <a:rPr sz="1013" dirty="0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12" name="bullet-dot-pi-2">
            <a:extLst>
              <a:ext uri="{FF2B5EF4-FFF2-40B4-BE49-F238E27FC236}">
                <a16:creationId xmlns:a16="http://schemas.microsoft.com/office/drawing/2014/main" id="{CB6FBAC0-E441-4058-BE03-EAD8EFCCC799}"/>
              </a:ext>
            </a:extLst>
          </p:cNvPr>
          <p:cNvSpPr>
            <a:spLocks noGrp="1"/>
          </p:cNvSpPr>
          <p:nvPr/>
        </p:nvSpPr>
        <p:spPr>
          <a:xfrm>
            <a:off x="723900" y="3312366"/>
            <a:ext cx="114300" cy="114300"/>
          </a:xfrm>
          <a:prstGeom prst="ellipse">
            <a:avLst/>
          </a:prstGeom>
          <a:solidFill>
            <a:srgbClr val="34C759"/>
          </a:solidFill>
          <a:ln w="0">
            <a:solidFill>
              <a:srgbClr val="34C75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bullet-title-pi-2">
            <a:extLst>
              <a:ext uri="{FF2B5EF4-FFF2-40B4-BE49-F238E27FC236}">
                <a16:creationId xmlns:a16="http://schemas.microsoft.com/office/drawing/2014/main" id="{B5272E59-9EED-4C84-BA80-16D1A7DF685E}"/>
              </a:ext>
            </a:extLst>
          </p:cNvPr>
          <p:cNvSpPr>
            <a:spLocks noGrp="1"/>
          </p:cNvSpPr>
          <p:nvPr/>
        </p:nvSpPr>
        <p:spPr>
          <a:xfrm>
            <a:off x="971550" y="3226641"/>
            <a:ext cx="3314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rPr>
              <a:t>状态机调度</a:t>
            </a:r>
          </a:p>
        </p:txBody>
      </p:sp>
      <p:sp>
        <p:nvSpPr>
          <p:cNvPr id="14" name="bullet-desc-pi-2">
            <a:extLst>
              <a:ext uri="{FF2B5EF4-FFF2-40B4-BE49-F238E27FC236}">
                <a16:creationId xmlns:a16="http://schemas.microsoft.com/office/drawing/2014/main" id="{8B303405-93AE-4F34-B332-151C464531DC}"/>
              </a:ext>
            </a:extLst>
          </p:cNvPr>
          <p:cNvSpPr>
            <a:spLocks noGrp="1"/>
          </p:cNvSpPr>
          <p:nvPr/>
        </p:nvSpPr>
        <p:spPr>
          <a:xfrm>
            <a:off x="971550" y="3502866"/>
            <a:ext cx="3714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lnSpc>
                <a:spcPct val="115000"/>
              </a:lnSpc>
              <a:buNone/>
              <a:defRPr sz="1013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rPr>
              <a:t>按“识别、对位、抓取、运输、投放、复位”组织流程，避免底盘和机械臂互相阻塞。</a:t>
            </a:r>
          </a:p>
        </p:txBody>
      </p:sp>
      <p:sp>
        <p:nvSpPr>
          <p:cNvPr id="15" name="bullet-dot-pi-3">
            <a:extLst>
              <a:ext uri="{FF2B5EF4-FFF2-40B4-BE49-F238E27FC236}">
                <a16:creationId xmlns:a16="http://schemas.microsoft.com/office/drawing/2014/main" id="{6EB4D626-4645-4ADB-BEE8-60506FA80114}"/>
              </a:ext>
            </a:extLst>
          </p:cNvPr>
          <p:cNvSpPr>
            <a:spLocks noGrp="1"/>
          </p:cNvSpPr>
          <p:nvPr/>
        </p:nvSpPr>
        <p:spPr>
          <a:xfrm>
            <a:off x="723900" y="4150566"/>
            <a:ext cx="114300" cy="114300"/>
          </a:xfrm>
          <a:prstGeom prst="ellipse">
            <a:avLst/>
          </a:prstGeom>
          <a:solidFill>
            <a:srgbClr val="0071E3"/>
          </a:solidFill>
          <a:ln w="0">
            <a:solidFill>
              <a:srgbClr val="0071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bullet-title-pi-3">
            <a:extLst>
              <a:ext uri="{FF2B5EF4-FFF2-40B4-BE49-F238E27FC236}">
                <a16:creationId xmlns:a16="http://schemas.microsoft.com/office/drawing/2014/main" id="{DDC1CC8C-2F00-4DCB-8400-79C1DC41365A}"/>
              </a:ext>
            </a:extLst>
          </p:cNvPr>
          <p:cNvSpPr>
            <a:spLocks noGrp="1"/>
          </p:cNvSpPr>
          <p:nvPr/>
        </p:nvSpPr>
        <p:spPr>
          <a:xfrm>
            <a:off x="971550" y="4064841"/>
            <a:ext cx="3314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rPr>
              <a:t>双串口下发</a:t>
            </a:r>
          </a:p>
        </p:txBody>
      </p:sp>
      <p:sp>
        <p:nvSpPr>
          <p:cNvPr id="17" name="bullet-desc-pi-3">
            <a:extLst>
              <a:ext uri="{FF2B5EF4-FFF2-40B4-BE49-F238E27FC236}">
                <a16:creationId xmlns:a16="http://schemas.microsoft.com/office/drawing/2014/main" id="{4846C760-4E36-4F2B-95C1-A9BF60758ABE}"/>
              </a:ext>
            </a:extLst>
          </p:cNvPr>
          <p:cNvSpPr>
            <a:spLocks noGrp="1"/>
          </p:cNvSpPr>
          <p:nvPr/>
        </p:nvSpPr>
        <p:spPr>
          <a:xfrm>
            <a:off x="971550" y="4341066"/>
            <a:ext cx="3714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lnSpc>
                <a:spcPct val="115000"/>
              </a:lnSpc>
              <a:buNone/>
              <a:defRPr sz="1013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dirty="0" err="1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rPr>
              <a:t>一路到底盘</a:t>
            </a:r>
            <a:r>
              <a:rPr sz="1013" dirty="0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rPr>
              <a:t> STM32，另一路到机械臂 STM32；底盘命令包括 VEL、STOP、STAT、IMU。</a:t>
            </a:r>
          </a:p>
        </p:txBody>
      </p:sp>
      <p:sp>
        <p:nvSpPr>
          <p:cNvPr id="18" name="tech-serial">
            <a:extLst>
              <a:ext uri="{FF2B5EF4-FFF2-40B4-BE49-F238E27FC236}">
                <a16:creationId xmlns:a16="http://schemas.microsoft.com/office/drawing/2014/main" id="{A631E143-EDBB-45D3-AFD0-1BFC052299D5}"/>
              </a:ext>
            </a:extLst>
          </p:cNvPr>
          <p:cNvSpPr>
            <a:spLocks noGrp="1"/>
          </p:cNvSpPr>
          <p:nvPr/>
        </p:nvSpPr>
        <p:spPr>
          <a:xfrm>
            <a:off x="209550" y="5469684"/>
            <a:ext cx="2324100" cy="342900"/>
          </a:xfrm>
          <a:prstGeom prst="roundRect">
            <a:avLst>
              <a:gd name="adj" fmla="val 50000"/>
            </a:avLst>
          </a:prstGeom>
          <a:solidFill>
            <a:srgbClr val="EAF4FF"/>
          </a:solidFill>
          <a:ln w="9525">
            <a:solidFill>
              <a:srgbClr val="EAF4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ch-serial-text">
            <a:extLst>
              <a:ext uri="{FF2B5EF4-FFF2-40B4-BE49-F238E27FC236}">
                <a16:creationId xmlns:a16="http://schemas.microsoft.com/office/drawing/2014/main" id="{9C0F82DA-5B5D-4CFE-B8D4-763308FE1835}"/>
              </a:ext>
            </a:extLst>
          </p:cNvPr>
          <p:cNvSpPr>
            <a:spLocks noGrp="1"/>
          </p:cNvSpPr>
          <p:nvPr/>
        </p:nvSpPr>
        <p:spPr>
          <a:xfrm>
            <a:off x="209550" y="5517309"/>
            <a:ext cx="2324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0071E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 dirty="0">
                <a:solidFill>
                  <a:srgbClr val="0071E3"/>
                </a:solidFill>
                <a:latin typeface="Microsoft YaHei"/>
                <a:ea typeface="Microsoft YaHei"/>
                <a:cs typeface="Microsoft YaHei"/>
              </a:rPr>
              <a:t>USART2 / CH340N / 115200</a:t>
            </a:r>
          </a:p>
        </p:txBody>
      </p:sp>
      <p:sp>
        <p:nvSpPr>
          <p:cNvPr id="20" name="tech-arm">
            <a:extLst>
              <a:ext uri="{FF2B5EF4-FFF2-40B4-BE49-F238E27FC236}">
                <a16:creationId xmlns:a16="http://schemas.microsoft.com/office/drawing/2014/main" id="{858FF48A-69DF-4BEF-A7B9-0CA5B027E843}"/>
              </a:ext>
            </a:extLst>
          </p:cNvPr>
          <p:cNvSpPr>
            <a:spLocks noGrp="1"/>
          </p:cNvSpPr>
          <p:nvPr/>
        </p:nvSpPr>
        <p:spPr>
          <a:xfrm>
            <a:off x="2762250" y="5469684"/>
            <a:ext cx="1428750" cy="342900"/>
          </a:xfrm>
          <a:prstGeom prst="roundRect">
            <a:avLst>
              <a:gd name="adj" fmla="val 50000"/>
            </a:avLst>
          </a:prstGeom>
          <a:solidFill>
            <a:srgbClr val="E9F9ED"/>
          </a:solidFill>
          <a:ln w="9525">
            <a:solidFill>
              <a:srgbClr val="E9F9E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ch-arm-text">
            <a:extLst>
              <a:ext uri="{FF2B5EF4-FFF2-40B4-BE49-F238E27FC236}">
                <a16:creationId xmlns:a16="http://schemas.microsoft.com/office/drawing/2014/main" id="{DEC2F921-232F-499A-87CC-CD964FD70478}"/>
              </a:ext>
            </a:extLst>
          </p:cNvPr>
          <p:cNvSpPr>
            <a:spLocks noGrp="1"/>
          </p:cNvSpPr>
          <p:nvPr/>
        </p:nvSpPr>
        <p:spPr>
          <a:xfrm>
            <a:off x="2762250" y="5517309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34C7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34C759"/>
                </a:solidFill>
                <a:latin typeface="Microsoft YaHei"/>
                <a:ea typeface="Microsoft YaHei"/>
                <a:cs typeface="Microsoft YaHei"/>
              </a:rPr>
              <a:t>动作组触发</a:t>
            </a:r>
          </a:p>
        </p:txBody>
      </p:sp>
      <p:sp>
        <p:nvSpPr>
          <p:cNvPr id="22" name="tech-truth">
            <a:extLst>
              <a:ext uri="{FF2B5EF4-FFF2-40B4-BE49-F238E27FC236}">
                <a16:creationId xmlns:a16="http://schemas.microsoft.com/office/drawing/2014/main" id="{AF0D9826-FEC3-4531-BB81-D6B025AFAF02}"/>
              </a:ext>
            </a:extLst>
          </p:cNvPr>
          <p:cNvSpPr>
            <a:spLocks noGrp="1"/>
          </p:cNvSpPr>
          <p:nvPr/>
        </p:nvSpPr>
        <p:spPr>
          <a:xfrm>
            <a:off x="4400550" y="5469684"/>
            <a:ext cx="1504950" cy="342900"/>
          </a:xfrm>
          <a:prstGeom prst="roundRect">
            <a:avLst>
              <a:gd name="adj" fmla="val 50000"/>
            </a:avLst>
          </a:prstGeom>
          <a:solidFill>
            <a:srgbClr val="FFF1F0"/>
          </a:solidFill>
          <a:ln w="9525">
            <a:solidFill>
              <a:srgbClr val="FFF1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ch-truth-text">
            <a:extLst>
              <a:ext uri="{FF2B5EF4-FFF2-40B4-BE49-F238E27FC236}">
                <a16:creationId xmlns:a16="http://schemas.microsoft.com/office/drawing/2014/main" id="{7A8C41E5-7703-4F46-871B-55400662E0F0}"/>
              </a:ext>
            </a:extLst>
          </p:cNvPr>
          <p:cNvSpPr>
            <a:spLocks noGrp="1"/>
          </p:cNvSpPr>
          <p:nvPr/>
        </p:nvSpPr>
        <p:spPr>
          <a:xfrm>
            <a:off x="4400550" y="5517309"/>
            <a:ext cx="1504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FF3B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 dirty="0" err="1">
                <a:solidFill>
                  <a:srgbClr val="FF3B30"/>
                </a:solidFill>
                <a:latin typeface="Microsoft YaHei"/>
                <a:ea typeface="Microsoft YaHei"/>
                <a:cs typeface="Microsoft YaHei"/>
              </a:rPr>
              <a:t>不写未验证指标</a:t>
            </a:r>
            <a:endParaRPr sz="975" b="1" dirty="0">
              <a:solidFill>
                <a:srgbClr val="FF3B30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4" name="footer-left-05A">
            <a:extLst>
              <a:ext uri="{FF2B5EF4-FFF2-40B4-BE49-F238E27FC236}">
                <a16:creationId xmlns:a16="http://schemas.microsoft.com/office/drawing/2014/main" id="{B44AC2CE-051D-4D62-B2AF-08C5033F63F2}"/>
              </a:ext>
            </a:extLst>
          </p:cNvPr>
          <p:cNvSpPr>
            <a:spLocks noGrp="1"/>
          </p:cNvSpPr>
          <p:nvPr/>
        </p:nvSpPr>
        <p:spPr>
          <a:xfrm>
            <a:off x="609600" y="6572250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825">
                <a:solidFill>
                  <a:srgbClr val="A1A1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dirty="0">
                <a:solidFill>
                  <a:srgbClr val="A1A1A6"/>
                </a:solidFill>
                <a:latin typeface="Microsoft YaHei"/>
                <a:ea typeface="Microsoft YaHei"/>
                <a:cs typeface="Microsoft YaHei"/>
              </a:rPr>
              <a:t>Raspberry Pi upper-control detail</a:t>
            </a:r>
          </a:p>
        </p:txBody>
      </p:sp>
      <p:sp>
        <p:nvSpPr>
          <p:cNvPr id="25" name="footer-page-05A">
            <a:extLst>
              <a:ext uri="{FF2B5EF4-FFF2-40B4-BE49-F238E27FC236}">
                <a16:creationId xmlns:a16="http://schemas.microsoft.com/office/drawing/2014/main" id="{756E1AA3-EB1E-4D9A-8A1B-617CBBE5A862}"/>
              </a:ext>
            </a:extLst>
          </p:cNvPr>
          <p:cNvSpPr>
            <a:spLocks noGrp="1"/>
          </p:cNvSpPr>
          <p:nvPr/>
        </p:nvSpPr>
        <p:spPr>
          <a:xfrm>
            <a:off x="10915650" y="657225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>
                <a:solidFill>
                  <a:srgbClr val="A1A1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>
                <a:solidFill>
                  <a:srgbClr val="A1A1A6"/>
                </a:solidFill>
                <a:latin typeface="Microsoft YaHei"/>
                <a:ea typeface="Microsoft YaHei"/>
                <a:cs typeface="Microsoft YaHei"/>
              </a:rPr>
              <a:t>05A</a:t>
            </a:r>
          </a:p>
        </p:txBody>
      </p:sp>
    </p:spTree>
    <p:extLst>
      <p:ext uri="{BB962C8B-B14F-4D97-AF65-F5344CB8AC3E}">
        <p14:creationId xmlns:p14="http://schemas.microsoft.com/office/powerpoint/2010/main" val="13858636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-fill">
            <a:extLst>
              <a:ext uri="{FF2B5EF4-FFF2-40B4-BE49-F238E27FC236}">
                <a16:creationId xmlns:a16="http://schemas.microsoft.com/office/drawing/2014/main" id="{EBF7BD9B-9D65-4660-8808-CBCDCFF14C9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 w="0">
            <a:solidFill>
              <a:srgbClr val="F5F5F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eyebrow">
            <a:extLst>
              <a:ext uri="{FF2B5EF4-FFF2-40B4-BE49-F238E27FC236}">
                <a16:creationId xmlns:a16="http://schemas.microsoft.com/office/drawing/2014/main" id="{17E89F4D-B603-4AFE-B6E4-FEEB23BDD974}"/>
              </a:ext>
            </a:extLst>
          </p:cNvPr>
          <p:cNvSpPr>
            <a:spLocks noGrp="1"/>
          </p:cNvSpPr>
          <p:nvPr/>
        </p:nvSpPr>
        <p:spPr>
          <a:xfrm>
            <a:off x="609600" y="4953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 b="1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rPr>
              <a:t>视觉识别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F3C0AA2-768F-42F5-A892-C141C0303EB5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4953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lnSpc>
                <a:spcPct val="104000"/>
              </a:lnSpc>
              <a:buNone/>
              <a:defRPr sz="2550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rPr>
              <a:t>二维码告诉“搬什么”，YOLO 判断“在哪里”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BB1A2DC8-D918-474F-A3E8-10298A5AC4AB}"/>
              </a:ext>
            </a:extLst>
          </p:cNvPr>
          <p:cNvSpPr>
            <a:spLocks noGrp="1"/>
          </p:cNvSpPr>
          <p:nvPr/>
        </p:nvSpPr>
        <p:spPr>
          <a:xfrm>
            <a:off x="628650" y="1676400"/>
            <a:ext cx="4724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lnSpc>
                <a:spcPct val="120000"/>
              </a:lnSpc>
              <a:buNone/>
              <a:defRPr sz="1125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rPr>
              <a:t>视觉模块把任务文本变成可调度目标，不堆无法验证的准确率。</a:t>
            </a:r>
          </a:p>
        </p:txBody>
      </p:sp>
      <p:sp>
        <p:nvSpPr>
          <p:cNvPr id="5" name="vision-image-frame">
            <a:extLst>
              <a:ext uri="{FF2B5EF4-FFF2-40B4-BE49-F238E27FC236}">
                <a16:creationId xmlns:a16="http://schemas.microsoft.com/office/drawing/2014/main" id="{BA78DF97-7972-4540-BA0B-812ED55BD1E8}"/>
              </a:ext>
            </a:extLst>
          </p:cNvPr>
          <p:cNvSpPr>
            <a:spLocks noGrp="1"/>
          </p:cNvSpPr>
          <p:nvPr/>
        </p:nvSpPr>
        <p:spPr>
          <a:xfrm>
            <a:off x="5676900" y="1333500"/>
            <a:ext cx="5638800" cy="3600450"/>
          </a:xfrm>
          <a:prstGeom prst="roundRect">
            <a:avLst>
              <a:gd name="adj" fmla="val 6878"/>
            </a:avLst>
          </a:prstGeom>
          <a:solidFill>
            <a:srgbClr val="FFFFFF"/>
          </a:solidFill>
          <a:ln w="9525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bullet-dot-vision-1">
            <a:extLst>
              <a:ext uri="{FF2B5EF4-FFF2-40B4-BE49-F238E27FC236}">
                <a16:creationId xmlns:a16="http://schemas.microsoft.com/office/drawing/2014/main" id="{2F635C62-9319-437E-9729-9381F65949E9}"/>
              </a:ext>
            </a:extLst>
          </p:cNvPr>
          <p:cNvSpPr>
            <a:spLocks noGrp="1"/>
          </p:cNvSpPr>
          <p:nvPr/>
        </p:nvSpPr>
        <p:spPr>
          <a:xfrm>
            <a:off x="723900" y="2419350"/>
            <a:ext cx="114300" cy="114300"/>
          </a:xfrm>
          <a:prstGeom prst="ellipse">
            <a:avLst/>
          </a:prstGeom>
          <a:solidFill>
            <a:srgbClr val="0071E3"/>
          </a:solidFill>
          <a:ln w="0">
            <a:solidFill>
              <a:srgbClr val="0071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bullet-title-vision-1">
            <a:extLst>
              <a:ext uri="{FF2B5EF4-FFF2-40B4-BE49-F238E27FC236}">
                <a16:creationId xmlns:a16="http://schemas.microsoft.com/office/drawing/2014/main" id="{2785C1BE-F503-4C89-8217-A9D756A255EC}"/>
              </a:ext>
            </a:extLst>
          </p:cNvPr>
          <p:cNvSpPr>
            <a:spLocks noGrp="1"/>
          </p:cNvSpPr>
          <p:nvPr/>
        </p:nvSpPr>
        <p:spPr>
          <a:xfrm>
            <a:off x="971550" y="2333625"/>
            <a:ext cx="3314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rPr>
              <a:t>采集与预处理</a:t>
            </a:r>
          </a:p>
        </p:txBody>
      </p:sp>
      <p:sp>
        <p:nvSpPr>
          <p:cNvPr id="9" name="bullet-desc-vision-1">
            <a:extLst>
              <a:ext uri="{FF2B5EF4-FFF2-40B4-BE49-F238E27FC236}">
                <a16:creationId xmlns:a16="http://schemas.microsoft.com/office/drawing/2014/main" id="{42F8D7DA-0CF0-4676-91EF-C9F821246D53}"/>
              </a:ext>
            </a:extLst>
          </p:cNvPr>
          <p:cNvSpPr>
            <a:spLocks noGrp="1"/>
          </p:cNvSpPr>
          <p:nvPr/>
        </p:nvSpPr>
        <p:spPr>
          <a:xfrm>
            <a:off x="971550" y="2609850"/>
            <a:ext cx="3714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lnSpc>
                <a:spcPct val="115000"/>
              </a:lnSpc>
              <a:buNone/>
              <a:defRPr sz="1013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rPr>
              <a:t>摄像头读取图像帧，控制视角与曝光，为扫码和检测提供输入。</a:t>
            </a:r>
          </a:p>
        </p:txBody>
      </p:sp>
      <p:sp>
        <p:nvSpPr>
          <p:cNvPr id="10" name="bullet-dot-vision-2">
            <a:extLst>
              <a:ext uri="{FF2B5EF4-FFF2-40B4-BE49-F238E27FC236}">
                <a16:creationId xmlns:a16="http://schemas.microsoft.com/office/drawing/2014/main" id="{E8422045-F4D8-4778-A3CF-8D0429E37705}"/>
              </a:ext>
            </a:extLst>
          </p:cNvPr>
          <p:cNvSpPr>
            <a:spLocks noGrp="1"/>
          </p:cNvSpPr>
          <p:nvPr/>
        </p:nvSpPr>
        <p:spPr>
          <a:xfrm>
            <a:off x="723900" y="3314700"/>
            <a:ext cx="114300" cy="114300"/>
          </a:xfrm>
          <a:prstGeom prst="ellipse">
            <a:avLst/>
          </a:prstGeom>
          <a:solidFill>
            <a:srgbClr val="0071E3"/>
          </a:solidFill>
          <a:ln w="0">
            <a:solidFill>
              <a:srgbClr val="0071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bullet-title-vision-2">
            <a:extLst>
              <a:ext uri="{FF2B5EF4-FFF2-40B4-BE49-F238E27FC236}">
                <a16:creationId xmlns:a16="http://schemas.microsoft.com/office/drawing/2014/main" id="{067CA4D4-A95F-4258-91C3-C8812DFE18A1}"/>
              </a:ext>
            </a:extLst>
          </p:cNvPr>
          <p:cNvSpPr>
            <a:spLocks noGrp="1"/>
          </p:cNvSpPr>
          <p:nvPr/>
        </p:nvSpPr>
        <p:spPr>
          <a:xfrm>
            <a:off x="971550" y="3228975"/>
            <a:ext cx="3314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rPr>
              <a:t>二维码解析</a:t>
            </a:r>
          </a:p>
        </p:txBody>
      </p:sp>
      <p:sp>
        <p:nvSpPr>
          <p:cNvPr id="12" name="bullet-desc-vision-2">
            <a:extLst>
              <a:ext uri="{FF2B5EF4-FFF2-40B4-BE49-F238E27FC236}">
                <a16:creationId xmlns:a16="http://schemas.microsoft.com/office/drawing/2014/main" id="{D3DFC813-664F-49E6-B34B-2EC320A33E84}"/>
              </a:ext>
            </a:extLst>
          </p:cNvPr>
          <p:cNvSpPr>
            <a:spLocks noGrp="1"/>
          </p:cNvSpPr>
          <p:nvPr/>
        </p:nvSpPr>
        <p:spPr>
          <a:xfrm>
            <a:off x="971550" y="3505200"/>
            <a:ext cx="3714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lnSpc>
                <a:spcPct val="115000"/>
              </a:lnSpc>
              <a:buNone/>
              <a:defRPr sz="1013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rPr>
              <a:t>二维码给出任务或搬运顺序，作为上位机选择目标的约束条件。</a:t>
            </a:r>
          </a:p>
        </p:txBody>
      </p:sp>
      <p:sp>
        <p:nvSpPr>
          <p:cNvPr id="13" name="bullet-dot-vision-3">
            <a:extLst>
              <a:ext uri="{FF2B5EF4-FFF2-40B4-BE49-F238E27FC236}">
                <a16:creationId xmlns:a16="http://schemas.microsoft.com/office/drawing/2014/main" id="{7263717B-D21C-49E0-B897-421039AE108C}"/>
              </a:ext>
            </a:extLst>
          </p:cNvPr>
          <p:cNvSpPr>
            <a:spLocks noGrp="1"/>
          </p:cNvSpPr>
          <p:nvPr/>
        </p:nvSpPr>
        <p:spPr>
          <a:xfrm>
            <a:off x="723900" y="4210050"/>
            <a:ext cx="114300" cy="114300"/>
          </a:xfrm>
          <a:prstGeom prst="ellipse">
            <a:avLst/>
          </a:prstGeom>
          <a:solidFill>
            <a:srgbClr val="34C759"/>
          </a:solidFill>
          <a:ln w="0">
            <a:solidFill>
              <a:srgbClr val="34C75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bullet-title-vision-3">
            <a:extLst>
              <a:ext uri="{FF2B5EF4-FFF2-40B4-BE49-F238E27FC236}">
                <a16:creationId xmlns:a16="http://schemas.microsoft.com/office/drawing/2014/main" id="{42DB8910-81DA-4ED9-AB4C-26C7AB00C9EF}"/>
              </a:ext>
            </a:extLst>
          </p:cNvPr>
          <p:cNvSpPr>
            <a:spLocks noGrp="1"/>
          </p:cNvSpPr>
          <p:nvPr/>
        </p:nvSpPr>
        <p:spPr>
          <a:xfrm>
            <a:off x="971550" y="4124325"/>
            <a:ext cx="3314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rPr>
              <a:t>YOLO 后处理</a:t>
            </a:r>
          </a:p>
        </p:txBody>
      </p:sp>
      <p:sp>
        <p:nvSpPr>
          <p:cNvPr id="15" name="bullet-desc-vision-3">
            <a:extLst>
              <a:ext uri="{FF2B5EF4-FFF2-40B4-BE49-F238E27FC236}">
                <a16:creationId xmlns:a16="http://schemas.microsoft.com/office/drawing/2014/main" id="{89FE5DE7-695F-43BA-8A31-967AFD8E790D}"/>
              </a:ext>
            </a:extLst>
          </p:cNvPr>
          <p:cNvSpPr>
            <a:spLocks noGrp="1"/>
          </p:cNvSpPr>
          <p:nvPr/>
        </p:nvSpPr>
        <p:spPr>
          <a:xfrm>
            <a:off x="971550" y="4400550"/>
            <a:ext cx="3714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lnSpc>
                <a:spcPct val="115000"/>
              </a:lnSpc>
              <a:buNone/>
              <a:defRPr sz="1013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rPr>
              <a:t>检测结果包含类别、颜色、bbox、置信度；再通过阈值筛选和 NMS 保留候选目标。</a:t>
            </a:r>
          </a:p>
        </p:txBody>
      </p:sp>
      <p:sp>
        <p:nvSpPr>
          <p:cNvPr id="16" name="bullet-dot-vision-4">
            <a:extLst>
              <a:ext uri="{FF2B5EF4-FFF2-40B4-BE49-F238E27FC236}">
                <a16:creationId xmlns:a16="http://schemas.microsoft.com/office/drawing/2014/main" id="{A4F5EFD9-6629-4231-B3E2-7775194BE6B6}"/>
              </a:ext>
            </a:extLst>
          </p:cNvPr>
          <p:cNvSpPr>
            <a:spLocks noGrp="1"/>
          </p:cNvSpPr>
          <p:nvPr/>
        </p:nvSpPr>
        <p:spPr>
          <a:xfrm>
            <a:off x="723900" y="5105400"/>
            <a:ext cx="114300" cy="114300"/>
          </a:xfrm>
          <a:prstGeom prst="ellipse">
            <a:avLst/>
          </a:prstGeom>
          <a:solidFill>
            <a:srgbClr val="34C759"/>
          </a:solidFill>
          <a:ln w="0">
            <a:solidFill>
              <a:srgbClr val="34C75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bullet-title-vision-4">
            <a:extLst>
              <a:ext uri="{FF2B5EF4-FFF2-40B4-BE49-F238E27FC236}">
                <a16:creationId xmlns:a16="http://schemas.microsoft.com/office/drawing/2014/main" id="{2D9C1F10-8BF5-4F63-B034-0B103DD3E820}"/>
              </a:ext>
            </a:extLst>
          </p:cNvPr>
          <p:cNvSpPr>
            <a:spLocks noGrp="1"/>
          </p:cNvSpPr>
          <p:nvPr/>
        </p:nvSpPr>
        <p:spPr>
          <a:xfrm>
            <a:off x="971550" y="5019675"/>
            <a:ext cx="3314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rPr>
              <a:t>目标匹配与对位</a:t>
            </a:r>
          </a:p>
        </p:txBody>
      </p:sp>
      <p:sp>
        <p:nvSpPr>
          <p:cNvPr id="18" name="bullet-desc-vision-4">
            <a:extLst>
              <a:ext uri="{FF2B5EF4-FFF2-40B4-BE49-F238E27FC236}">
                <a16:creationId xmlns:a16="http://schemas.microsoft.com/office/drawing/2014/main" id="{7B3763C2-DF2F-4DC6-853C-3A9815C2E6BD}"/>
              </a:ext>
            </a:extLst>
          </p:cNvPr>
          <p:cNvSpPr>
            <a:spLocks noGrp="1"/>
          </p:cNvSpPr>
          <p:nvPr/>
        </p:nvSpPr>
        <p:spPr>
          <a:xfrm>
            <a:off x="971550" y="5295900"/>
            <a:ext cx="3714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lnSpc>
                <a:spcPct val="115000"/>
              </a:lnSpc>
              <a:buNone/>
              <a:defRPr sz="1013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rPr>
              <a:t>按任务筛选目标后，用框中心与画面中心的偏差，决定是否继续底盘微调或触发动作组。</a:t>
            </a:r>
          </a:p>
        </p:txBody>
      </p:sp>
      <p:sp>
        <p:nvSpPr>
          <p:cNvPr id="21" name="footer-left-05B">
            <a:extLst>
              <a:ext uri="{FF2B5EF4-FFF2-40B4-BE49-F238E27FC236}">
                <a16:creationId xmlns:a16="http://schemas.microsoft.com/office/drawing/2014/main" id="{1B0A9F85-7B2D-46BB-B70D-E7B9E8E931BE}"/>
              </a:ext>
            </a:extLst>
          </p:cNvPr>
          <p:cNvSpPr>
            <a:spLocks noGrp="1"/>
          </p:cNvSpPr>
          <p:nvPr/>
        </p:nvSpPr>
        <p:spPr>
          <a:xfrm>
            <a:off x="609600" y="6572250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825">
                <a:solidFill>
                  <a:srgbClr val="A1A1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>
                <a:solidFill>
                  <a:srgbClr val="A1A1A6"/>
                </a:solidFill>
                <a:latin typeface="Microsoft YaHei"/>
                <a:ea typeface="Microsoft YaHei"/>
                <a:cs typeface="Microsoft YaHei"/>
              </a:rPr>
              <a:t>Vision recognition detail</a:t>
            </a:r>
          </a:p>
        </p:txBody>
      </p:sp>
      <p:sp>
        <p:nvSpPr>
          <p:cNvPr id="22" name="footer-page-05B">
            <a:extLst>
              <a:ext uri="{FF2B5EF4-FFF2-40B4-BE49-F238E27FC236}">
                <a16:creationId xmlns:a16="http://schemas.microsoft.com/office/drawing/2014/main" id="{6EB64323-5FCF-4900-9DB7-63B84CBA5EE7}"/>
              </a:ext>
            </a:extLst>
          </p:cNvPr>
          <p:cNvSpPr>
            <a:spLocks noGrp="1"/>
          </p:cNvSpPr>
          <p:nvPr/>
        </p:nvSpPr>
        <p:spPr>
          <a:xfrm>
            <a:off x="10915650" y="657225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>
                <a:solidFill>
                  <a:srgbClr val="A1A1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>
                <a:solidFill>
                  <a:srgbClr val="A1A1A6"/>
                </a:solidFill>
                <a:latin typeface="Microsoft YaHei"/>
                <a:ea typeface="Microsoft YaHei"/>
                <a:cs typeface="Microsoft YaHei"/>
              </a:rPr>
              <a:t>05B</a:t>
            </a:r>
          </a:p>
        </p:txBody>
      </p:sp>
    </p:spTree>
    <p:extLst>
      <p:ext uri="{BB962C8B-B14F-4D97-AF65-F5344CB8AC3E}">
        <p14:creationId xmlns:p14="http://schemas.microsoft.com/office/powerpoint/2010/main" val="2080517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575310" y="413385"/>
            <a:ext cx="7629525" cy="722471"/>
            <a:chOff x="575310" y="413385"/>
            <a:chExt cx="7629525" cy="722471"/>
          </a:xfrm>
        </p:grpSpPr>
        <p:sp>
          <p:nvSpPr>
            <p:cNvPr id="3" name="TextBox 3"/>
            <p:cNvSpPr txBox="1"/>
            <p:nvPr/>
          </p:nvSpPr>
          <p:spPr>
            <a:xfrm>
              <a:off x="575310" y="413385"/>
              <a:ext cx="7629525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一条速度指令，最终变成四个电机的同步运动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14362" y="907256"/>
              <a:ext cx="509920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底盘 STM32 将高层速度抽象，逐步转换为可执行的 ZDT-X42 Modbus 指令。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609600" y="1543050"/>
            <a:ext cx="10972800" cy="3219450"/>
            <a:chOff x="609600" y="1543050"/>
            <a:chExt cx="10972800" cy="3219450"/>
          </a:xfrm>
        </p:grpSpPr>
        <p:sp>
          <p:nvSpPr>
            <p:cNvPr id="6" name="Rectangle 6"/>
            <p:cNvSpPr/>
            <p:nvPr/>
          </p:nvSpPr>
          <p:spPr>
            <a:xfrm>
              <a:off x="609600" y="1543050"/>
              <a:ext cx="10972800" cy="3219450"/>
            </a:xfrm>
            <a:prstGeom prst="roundRect">
              <a:avLst>
                <a:gd name="adj" fmla="val 8284"/>
              </a:avLst>
            </a:prstGeom>
            <a:solidFill>
              <a:srgbClr val="FFFFFF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109028" y="1802606"/>
              <a:ext cx="197394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0071E3"/>
                  </a:solidFill>
                  <a:latin typeface="Arial"/>
                  <a:ea typeface="Microsoft YaHei"/>
                  <a:cs typeface="Arial"/>
                </a:rPr>
                <a:t>CHASSIS CONTROL PIPELINE</a:t>
              </a:r>
            </a:p>
          </p:txBody>
        </p:sp>
        <p:grpSp>
          <p:nvGrpSpPr>
            <p:cNvPr id="16" name="Group 16"/>
            <p:cNvGrpSpPr/>
            <p:nvPr/>
          </p:nvGrpSpPr>
          <p:grpSpPr>
            <a:xfrm>
              <a:off x="933450" y="2286000"/>
              <a:ext cx="1866900" cy="2000250"/>
              <a:chOff x="933450" y="2286000"/>
              <a:chExt cx="1866900" cy="2000250"/>
            </a:xfrm>
          </p:grpSpPr>
          <p:sp>
            <p:nvSpPr>
              <p:cNvPr id="8" name="Rectangle 8"/>
              <p:cNvSpPr/>
              <p:nvPr/>
            </p:nvSpPr>
            <p:spPr>
              <a:xfrm>
                <a:off x="933450" y="2286000"/>
                <a:ext cx="1866900" cy="2000250"/>
              </a:xfrm>
              <a:prstGeom prst="roundRect">
                <a:avLst>
                  <a:gd name="adj" fmla="val 10204"/>
                </a:avLst>
              </a:prstGeom>
              <a:solidFill>
                <a:srgbClr val="F5F5F7"/>
              </a:solidFill>
              <a:ln w="9525">
                <a:solidFill>
                  <a:srgbClr val="D2D2D7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" name="Ellipse 9"/>
              <p:cNvSpPr/>
              <p:nvPr/>
            </p:nvSpPr>
            <p:spPr>
              <a:xfrm>
                <a:off x="1085850" y="2438400"/>
                <a:ext cx="342900" cy="342900"/>
              </a:xfrm>
              <a:prstGeom prst="ellipse">
                <a:avLst/>
              </a:prstGeom>
              <a:solidFill>
                <a:srgbClr val="0071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1221912" y="2563178"/>
                <a:ext cx="7077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562100" y="252412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速度接口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108710" y="2994660"/>
                <a:ext cx="1686687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0071E3"/>
                    </a:solidFill>
                    <a:latin typeface="Consolas"/>
                    <a:ea typeface="Microsoft YaHei"/>
                    <a:cs typeface="Consolas"/>
                  </a:rPr>
                  <a:t>Mecanum_SetVelocity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10615" y="3334702"/>
                <a:ext cx="117481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输入：vx, vy, wz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110615" y="3572828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抽象为底盘速度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1110615" y="38109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屏蔽四轮细节</a:t>
                </a:r>
              </a:p>
            </p:txBody>
          </p:sp>
        </p:grpSp>
        <p:sp>
          <p:nvSpPr>
            <p:cNvPr id="17" name="Line 17"/>
            <p:cNvSpPr/>
            <p:nvPr/>
          </p:nvSpPr>
          <p:spPr>
            <a:xfrm>
              <a:off x="2800350" y="3286125"/>
              <a:ext cx="266700" cy="1"/>
            </a:xfrm>
            <a:prstGeom prst="line">
              <a:avLst/>
            </a:prstGeom>
            <a:noFill/>
            <a:ln w="19050">
              <a:solidFill>
                <a:srgbClr val="A1A1A6"/>
              </a:solidFill>
              <a:tailEnd type="triangle" w="lg" len="lg"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26" name="Group 26"/>
            <p:cNvGrpSpPr/>
            <p:nvPr/>
          </p:nvGrpSpPr>
          <p:grpSpPr>
            <a:xfrm>
              <a:off x="3067050" y="2286000"/>
              <a:ext cx="1866900" cy="2000250"/>
              <a:chOff x="3067050" y="2286000"/>
              <a:chExt cx="1866900" cy="200025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3067050" y="2286000"/>
                <a:ext cx="1866900" cy="2000250"/>
              </a:xfrm>
              <a:prstGeom prst="roundRect">
                <a:avLst>
                  <a:gd name="adj" fmla="val 10204"/>
                </a:avLst>
              </a:prstGeom>
              <a:solidFill>
                <a:srgbClr val="F5F5F7"/>
              </a:solidFill>
              <a:ln w="9525">
                <a:solidFill>
                  <a:srgbClr val="D2D2D7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9" name="Ellipse 19"/>
              <p:cNvSpPr/>
              <p:nvPr/>
            </p:nvSpPr>
            <p:spPr>
              <a:xfrm>
                <a:off x="3219450" y="2438400"/>
                <a:ext cx="342900" cy="342900"/>
              </a:xfrm>
              <a:prstGeom prst="ellipse">
                <a:avLst/>
              </a:prstGeom>
              <a:solidFill>
                <a:srgbClr val="0071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337135" y="256317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2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695700" y="252412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逆运动学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243262" y="2983706"/>
                <a:ext cx="140124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1D1D1F"/>
                    </a:solidFill>
                    <a:latin typeface="Consolas"/>
                    <a:ea typeface="Microsoft YaHei"/>
                    <a:cs typeface="Consolas"/>
                  </a:rPr>
                  <a:t>FL = vy - vx - K*wz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3243262" y="3231356"/>
                <a:ext cx="140124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1D1D1F"/>
                    </a:solidFill>
                    <a:latin typeface="Consolas"/>
                    <a:ea typeface="Microsoft YaHei"/>
                    <a:cs typeface="Consolas"/>
                  </a:rPr>
                  <a:t>FR = vy + vx + K*wz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243262" y="3479006"/>
                <a:ext cx="140124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1D1D1F"/>
                    </a:solidFill>
                    <a:latin typeface="Consolas"/>
                    <a:ea typeface="Microsoft YaHei"/>
                    <a:cs typeface="Consolas"/>
                  </a:rPr>
                  <a:t>RL = vy + vx - K*wz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3243262" y="3726656"/>
                <a:ext cx="140124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1D1D1F"/>
                    </a:solidFill>
                    <a:latin typeface="Consolas"/>
                    <a:ea typeface="Microsoft YaHei"/>
                    <a:cs typeface="Consolas"/>
                  </a:rPr>
                  <a:t>RR = vy - vx + K*wz</a:t>
                </a:r>
              </a:p>
            </p:txBody>
          </p:sp>
        </p:grpSp>
        <p:sp>
          <p:nvSpPr>
            <p:cNvPr id="27" name="Line 27"/>
            <p:cNvSpPr/>
            <p:nvPr/>
          </p:nvSpPr>
          <p:spPr>
            <a:xfrm>
              <a:off x="4933950" y="3286125"/>
              <a:ext cx="266700" cy="1"/>
            </a:xfrm>
            <a:prstGeom prst="line">
              <a:avLst/>
            </a:prstGeom>
            <a:noFill/>
            <a:ln w="19050">
              <a:solidFill>
                <a:srgbClr val="A1A1A6"/>
              </a:solidFill>
              <a:tailEnd type="triangle" w="lg" len="lg"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36" name="Group 36"/>
            <p:cNvGrpSpPr/>
            <p:nvPr/>
          </p:nvGrpSpPr>
          <p:grpSpPr>
            <a:xfrm>
              <a:off x="5200650" y="2286000"/>
              <a:ext cx="1866900" cy="2000250"/>
              <a:chOff x="5200650" y="2286000"/>
              <a:chExt cx="1866900" cy="200025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200650" y="2286000"/>
                <a:ext cx="1866900" cy="2000250"/>
              </a:xfrm>
              <a:prstGeom prst="roundRect">
                <a:avLst>
                  <a:gd name="adj" fmla="val 10204"/>
                </a:avLst>
              </a:prstGeom>
              <a:solidFill>
                <a:srgbClr val="F5F5F7"/>
              </a:solidFill>
              <a:ln w="9525">
                <a:solidFill>
                  <a:srgbClr val="D2D2D7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5353050" y="2438400"/>
                <a:ext cx="342900" cy="342900"/>
              </a:xfrm>
              <a:prstGeom prst="ellipse">
                <a:avLst/>
              </a:prstGeom>
              <a:solidFill>
                <a:srgbClr val="0071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470735" y="256317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3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829300" y="252412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限幅保护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77815" y="3010852"/>
                <a:ext cx="133583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最大速度：0.60 m/s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5377815" y="3248978"/>
                <a:ext cx="15668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最大角速度：1.50 rad/s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5377815" y="3487102"/>
                <a:ext cx="125882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轮速限制：500 RPM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5377815" y="3725228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加速度限制保护机械冲击</a:t>
                </a:r>
              </a:p>
            </p:txBody>
          </p:sp>
        </p:grpSp>
        <p:sp>
          <p:nvSpPr>
            <p:cNvPr id="37" name="Line 37"/>
            <p:cNvSpPr/>
            <p:nvPr/>
          </p:nvSpPr>
          <p:spPr>
            <a:xfrm>
              <a:off x="7067550" y="3286125"/>
              <a:ext cx="266700" cy="1"/>
            </a:xfrm>
            <a:prstGeom prst="line">
              <a:avLst/>
            </a:prstGeom>
            <a:noFill/>
            <a:ln w="19050">
              <a:solidFill>
                <a:srgbClr val="A1A1A6"/>
              </a:solidFill>
              <a:tailEnd type="triangle" w="lg" len="lg"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49" name="Group 49"/>
            <p:cNvGrpSpPr/>
            <p:nvPr/>
          </p:nvGrpSpPr>
          <p:grpSpPr>
            <a:xfrm>
              <a:off x="7334250" y="2286000"/>
              <a:ext cx="1866900" cy="2000250"/>
              <a:chOff x="7334250" y="2286000"/>
              <a:chExt cx="1866900" cy="2000250"/>
            </a:xfrm>
          </p:grpSpPr>
          <p:sp>
            <p:nvSpPr>
              <p:cNvPr id="38" name="Rectangle 38"/>
              <p:cNvSpPr/>
              <p:nvPr/>
            </p:nvSpPr>
            <p:spPr>
              <a:xfrm>
                <a:off x="7334250" y="2286000"/>
                <a:ext cx="1866900" cy="2000250"/>
              </a:xfrm>
              <a:prstGeom prst="roundRect">
                <a:avLst>
                  <a:gd name="adj" fmla="val 10204"/>
                </a:avLst>
              </a:prstGeom>
              <a:solidFill>
                <a:srgbClr val="F5F5F7"/>
              </a:solidFill>
              <a:ln w="9525">
                <a:solidFill>
                  <a:srgbClr val="D2D2D7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9" name="Ellipse 39"/>
              <p:cNvSpPr/>
              <p:nvPr/>
            </p:nvSpPr>
            <p:spPr>
              <a:xfrm>
                <a:off x="7486650" y="2438400"/>
                <a:ext cx="342900" cy="342900"/>
              </a:xfrm>
              <a:prstGeom prst="ellipse">
                <a:avLst/>
              </a:prstGeom>
              <a:solidFill>
                <a:srgbClr val="0071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04335" y="256317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4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7962900" y="252412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电机管理</a:t>
                </a:r>
              </a:p>
            </p:txBody>
          </p:sp>
          <p:grpSp>
            <p:nvGrpSpPr>
              <p:cNvPr id="46" name="Group 46"/>
              <p:cNvGrpSpPr/>
              <p:nvPr/>
            </p:nvGrpSpPr>
            <p:grpSpPr>
              <a:xfrm>
                <a:off x="8081962" y="3155156"/>
                <a:ext cx="428626" cy="300038"/>
                <a:chOff x="8081962" y="3155156"/>
                <a:chExt cx="428626" cy="300038"/>
              </a:xfrm>
            </p:grpSpPr>
            <p:sp>
              <p:nvSpPr>
                <p:cNvPr id="42" name="Freeform 42"/>
                <p:cNvSpPr/>
                <p:nvPr/>
              </p:nvSpPr>
              <p:spPr>
                <a:xfrm>
                  <a:off x="8146256" y="3155156"/>
                  <a:ext cx="300038" cy="3000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0038" h="300038">
                      <a:moveTo>
                        <a:pt x="0" y="150019"/>
                      </a:moveTo>
                      <a:cubicBezTo>
                        <a:pt x="0" y="232872"/>
                        <a:pt x="67166" y="300038"/>
                        <a:pt x="150019" y="300038"/>
                      </a:cubicBezTo>
                      <a:cubicBezTo>
                        <a:pt x="232872" y="300038"/>
                        <a:pt x="300038" y="232872"/>
                        <a:pt x="300038" y="150019"/>
                      </a:cubicBezTo>
                      <a:cubicBezTo>
                        <a:pt x="300038" y="67166"/>
                        <a:pt x="232872" y="0"/>
                        <a:pt x="150019" y="0"/>
                      </a:cubicBezTo>
                      <a:cubicBezTo>
                        <a:pt x="67166" y="0"/>
                        <a:pt x="0" y="67166"/>
                        <a:pt x="0" y="150019"/>
                      </a:cubicBezTo>
                    </a:path>
                  </a:pathLst>
                </a:custGeom>
                <a:noFill/>
                <a:ln w="19050">
                  <a:solidFill>
                    <a:srgbClr val="1D1D1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3" name="Freeform 43"/>
                <p:cNvSpPr/>
                <p:nvPr/>
              </p:nvSpPr>
              <p:spPr>
                <a:xfrm>
                  <a:off x="8081962" y="3305175"/>
                  <a:ext cx="64294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294" h="9525">
                      <a:moveTo>
                        <a:pt x="64294" y="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9050">
                  <a:solidFill>
                    <a:srgbClr val="1D1D1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4" name="Freeform 44"/>
                <p:cNvSpPr/>
                <p:nvPr/>
              </p:nvSpPr>
              <p:spPr>
                <a:xfrm>
                  <a:off x="8446294" y="3305175"/>
                  <a:ext cx="64294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294" h="9525">
                      <a:moveTo>
                        <a:pt x="0" y="0"/>
                      </a:moveTo>
                      <a:lnTo>
                        <a:pt x="64294" y="0"/>
                      </a:lnTo>
                    </a:path>
                  </a:pathLst>
                </a:custGeom>
                <a:noFill/>
                <a:ln w="19050">
                  <a:solidFill>
                    <a:srgbClr val="1D1D1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5" name="Freeform 45"/>
                <p:cNvSpPr/>
                <p:nvPr/>
              </p:nvSpPr>
              <p:spPr>
                <a:xfrm>
                  <a:off x="8253412" y="3262312"/>
                  <a:ext cx="8572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725" h="85725">
                      <a:moveTo>
                        <a:pt x="0" y="85725"/>
                      </a:moveTo>
                      <a:lnTo>
                        <a:pt x="0" y="0"/>
                      </a:lnTo>
                      <a:lnTo>
                        <a:pt x="42862" y="42862"/>
                      </a:lnTo>
                      <a:lnTo>
                        <a:pt x="85725" y="0"/>
                      </a:lnTo>
                      <a:lnTo>
                        <a:pt x="85725" y="85725"/>
                      </a:lnTo>
                    </a:path>
                  </a:pathLst>
                </a:custGeom>
                <a:noFill/>
                <a:ln w="19050">
                  <a:solidFill>
                    <a:srgbClr val="1D1D1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47" name="TextBox 47"/>
              <p:cNvSpPr txBox="1"/>
              <p:nvPr/>
            </p:nvSpPr>
            <p:spPr>
              <a:xfrm>
                <a:off x="7511415" y="37347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四电机命令缓存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7511415" y="3972878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统一使能、速度、停止</a:t>
                </a:r>
              </a:p>
            </p:txBody>
          </p:sp>
        </p:grpSp>
        <p:sp>
          <p:nvSpPr>
            <p:cNvPr id="50" name="Line 50"/>
            <p:cNvSpPr/>
            <p:nvPr/>
          </p:nvSpPr>
          <p:spPr>
            <a:xfrm>
              <a:off x="9201150" y="3286125"/>
              <a:ext cx="266700" cy="1"/>
            </a:xfrm>
            <a:prstGeom prst="line">
              <a:avLst/>
            </a:prstGeom>
            <a:noFill/>
            <a:ln w="19050">
              <a:solidFill>
                <a:srgbClr val="A1A1A6"/>
              </a:solidFill>
              <a:tailEnd type="triangle" w="lg" len="lg"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59" name="Group 59"/>
            <p:cNvGrpSpPr/>
            <p:nvPr/>
          </p:nvGrpSpPr>
          <p:grpSpPr>
            <a:xfrm>
              <a:off x="9467850" y="2286000"/>
              <a:ext cx="1884902" cy="2000250"/>
              <a:chOff x="9467850" y="2286000"/>
              <a:chExt cx="1884902" cy="2000250"/>
            </a:xfrm>
          </p:grpSpPr>
          <p:sp>
            <p:nvSpPr>
              <p:cNvPr id="51" name="Rectangle 51"/>
              <p:cNvSpPr/>
              <p:nvPr/>
            </p:nvSpPr>
            <p:spPr>
              <a:xfrm>
                <a:off x="9467850" y="2286000"/>
                <a:ext cx="1866900" cy="2000250"/>
              </a:xfrm>
              <a:prstGeom prst="roundRect">
                <a:avLst>
                  <a:gd name="adj" fmla="val 10204"/>
                </a:avLst>
              </a:prstGeom>
              <a:solidFill>
                <a:srgbClr val="F5F5F7"/>
              </a:solidFill>
              <a:ln w="9525">
                <a:solidFill>
                  <a:srgbClr val="D2D2D7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2" name="Ellipse 52"/>
              <p:cNvSpPr/>
              <p:nvPr/>
            </p:nvSpPr>
            <p:spPr>
              <a:xfrm>
                <a:off x="9620250" y="2438400"/>
                <a:ext cx="342900" cy="342900"/>
              </a:xfrm>
              <a:prstGeom prst="ellipse">
                <a:avLst/>
              </a:prstGeom>
              <a:solidFill>
                <a:srgbClr val="34C759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9737935" y="256317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5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10096500" y="2524125"/>
                <a:ext cx="12562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Modbus 下发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9645015" y="3010852"/>
                <a:ext cx="999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USART1 + RS485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9645015" y="3248978"/>
                <a:ext cx="88077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波特率 115200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9645015" y="3487102"/>
                <a:ext cx="111180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FL=0x01 FR=0x02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9645015" y="3725228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RL=0x03 RR=0x04</a:t>
                </a:r>
              </a:p>
            </p:txBody>
          </p:sp>
        </p:grpSp>
      </p:grpSp>
      <p:grpSp>
        <p:nvGrpSpPr>
          <p:cNvPr id="64" name="Group 64"/>
          <p:cNvGrpSpPr/>
          <p:nvPr/>
        </p:nvGrpSpPr>
        <p:grpSpPr>
          <a:xfrm>
            <a:off x="1219200" y="5219700"/>
            <a:ext cx="9753600" cy="704850"/>
            <a:chOff x="1219200" y="5219700"/>
            <a:chExt cx="9753600" cy="704850"/>
          </a:xfrm>
        </p:grpSpPr>
        <p:sp>
          <p:nvSpPr>
            <p:cNvPr id="61" name="Rectangle 61"/>
            <p:cNvSpPr/>
            <p:nvPr/>
          </p:nvSpPr>
          <p:spPr>
            <a:xfrm>
              <a:off x="1219200" y="5219700"/>
              <a:ext cx="9753600" cy="704850"/>
            </a:xfrm>
            <a:prstGeom prst="roundRect">
              <a:avLst>
                <a:gd name="adj" fmla="val 40541"/>
              </a:avLst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640205" y="5493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控制参数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3127058" y="5501164"/>
              <a:ext cx="453794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轮径 75mm 轮距 320mm 轴距 220mm 旋转耦合臂长 0.270m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/>
      <p:bldP spid="6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-fill">
            <a:extLst>
              <a:ext uri="{FF2B5EF4-FFF2-40B4-BE49-F238E27FC236}">
                <a16:creationId xmlns:a16="http://schemas.microsoft.com/office/drawing/2014/main" id="{CADA9710-0B0E-43E8-A915-D29F78BD9A7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 w="0">
            <a:solidFill>
              <a:srgbClr val="F5F5F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eyebrow">
            <a:extLst>
              <a:ext uri="{FF2B5EF4-FFF2-40B4-BE49-F238E27FC236}">
                <a16:creationId xmlns:a16="http://schemas.microsoft.com/office/drawing/2014/main" id="{8A61723B-5C55-4FCD-9ED9-3D8CA3B572E0}"/>
              </a:ext>
            </a:extLst>
          </p:cNvPr>
          <p:cNvSpPr>
            <a:spLocks noGrp="1"/>
          </p:cNvSpPr>
          <p:nvPr/>
        </p:nvSpPr>
        <p:spPr>
          <a:xfrm>
            <a:off x="609600" y="4953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 b="1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rPr>
              <a:t>机械结构设计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94A7B26F-3297-47F6-886A-EB579306D835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6572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lnSpc>
                <a:spcPct val="104000"/>
              </a:lnSpc>
              <a:buNone/>
              <a:defRPr sz="2550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rPr>
              <a:t>结构不是外壳，而是识别、抓取和维护的共同约束</a:t>
            </a:r>
          </a:p>
        </p:txBody>
      </p:sp>
      <p:sp>
        <p:nvSpPr>
          <p:cNvPr id="5" name="mechanical-image-frame">
            <a:extLst>
              <a:ext uri="{FF2B5EF4-FFF2-40B4-BE49-F238E27FC236}">
                <a16:creationId xmlns:a16="http://schemas.microsoft.com/office/drawing/2014/main" id="{5702B07F-2F07-4A03-98A9-676F2DBAB4D8}"/>
              </a:ext>
            </a:extLst>
          </p:cNvPr>
          <p:cNvSpPr>
            <a:spLocks noGrp="1"/>
          </p:cNvSpPr>
          <p:nvPr/>
        </p:nvSpPr>
        <p:spPr>
          <a:xfrm>
            <a:off x="590550" y="2038350"/>
            <a:ext cx="6343650" cy="4038600"/>
          </a:xfrm>
          <a:prstGeom prst="roundRect">
            <a:avLst>
              <a:gd name="adj" fmla="val 6132"/>
            </a:avLst>
          </a:prstGeom>
          <a:solidFill>
            <a:srgbClr val="FFFFFF"/>
          </a:solidFill>
          <a:ln w="9525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mechanical-summary">
            <a:extLst>
              <a:ext uri="{FF2B5EF4-FFF2-40B4-BE49-F238E27FC236}">
                <a16:creationId xmlns:a16="http://schemas.microsoft.com/office/drawing/2014/main" id="{60A81DDD-3D59-451C-887D-310585B2E4FD}"/>
              </a:ext>
            </a:extLst>
          </p:cNvPr>
          <p:cNvSpPr>
            <a:spLocks noGrp="1"/>
          </p:cNvSpPr>
          <p:nvPr/>
        </p:nvSpPr>
        <p:spPr>
          <a:xfrm>
            <a:off x="7429500" y="2171700"/>
            <a:ext cx="3867150" cy="819150"/>
          </a:xfrm>
          <a:prstGeom prst="roundRect">
            <a:avLst>
              <a:gd name="adj" fmla="val 27907"/>
            </a:avLst>
          </a:prstGeom>
          <a:solidFill>
            <a:srgbClr val="1D1D1F"/>
          </a:solidFill>
          <a:ln w="9525">
            <a:solidFill>
              <a:srgbClr val="1D1D1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mechanical-summary-text">
            <a:extLst>
              <a:ext uri="{FF2B5EF4-FFF2-40B4-BE49-F238E27FC236}">
                <a16:creationId xmlns:a16="http://schemas.microsoft.com/office/drawing/2014/main" id="{C9BD9DBB-FAC3-46FB-8127-64E2635A43C2}"/>
              </a:ext>
            </a:extLst>
          </p:cNvPr>
          <p:cNvSpPr>
            <a:spLocks noGrp="1"/>
          </p:cNvSpPr>
          <p:nvPr/>
        </p:nvSpPr>
        <p:spPr>
          <a:xfrm>
            <a:off x="7715250" y="2400300"/>
            <a:ext cx="3295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lnSpc>
                <a:spcPct val="115000"/>
              </a:lnSpc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机械结构目标：让识别、抓取、放置和调试都能稳定发生</a:t>
            </a:r>
          </a:p>
        </p:txBody>
      </p:sp>
      <p:sp>
        <p:nvSpPr>
          <p:cNvPr id="9" name="bullet-dot-mech-1">
            <a:extLst>
              <a:ext uri="{FF2B5EF4-FFF2-40B4-BE49-F238E27FC236}">
                <a16:creationId xmlns:a16="http://schemas.microsoft.com/office/drawing/2014/main" id="{6C476B69-91AD-46D7-B694-EE78E988143F}"/>
              </a:ext>
            </a:extLst>
          </p:cNvPr>
          <p:cNvSpPr>
            <a:spLocks noGrp="1"/>
          </p:cNvSpPr>
          <p:nvPr/>
        </p:nvSpPr>
        <p:spPr>
          <a:xfrm>
            <a:off x="7486650" y="3448050"/>
            <a:ext cx="114300" cy="114300"/>
          </a:xfrm>
          <a:prstGeom prst="ellipse">
            <a:avLst/>
          </a:prstGeom>
          <a:solidFill>
            <a:srgbClr val="0071E3"/>
          </a:solidFill>
          <a:ln w="0">
            <a:solidFill>
              <a:srgbClr val="0071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bullet-title-mech-1">
            <a:extLst>
              <a:ext uri="{FF2B5EF4-FFF2-40B4-BE49-F238E27FC236}">
                <a16:creationId xmlns:a16="http://schemas.microsoft.com/office/drawing/2014/main" id="{0120D4C3-0D1D-4BAB-AC8D-15A8F382E28C}"/>
              </a:ext>
            </a:extLst>
          </p:cNvPr>
          <p:cNvSpPr>
            <a:spLocks noGrp="1"/>
          </p:cNvSpPr>
          <p:nvPr/>
        </p:nvSpPr>
        <p:spPr>
          <a:xfrm>
            <a:off x="7734300" y="3362325"/>
            <a:ext cx="3314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75" b="1" dirty="0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rPr>
              <a:t>上</a:t>
            </a:r>
            <a:r>
              <a:rPr sz="1275" b="1" dirty="0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rPr>
              <a:t>层</a:t>
            </a:r>
            <a:r>
              <a:rPr lang="zh-CN" altLang="en-US" sz="1275" b="1" dirty="0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rPr>
              <a:t>料</a:t>
            </a:r>
            <a:r>
              <a:rPr sz="1275" b="1" dirty="0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rPr>
              <a:t>盘</a:t>
            </a:r>
          </a:p>
        </p:txBody>
      </p:sp>
      <p:sp>
        <p:nvSpPr>
          <p:cNvPr id="11" name="bullet-desc-mech-1">
            <a:extLst>
              <a:ext uri="{FF2B5EF4-FFF2-40B4-BE49-F238E27FC236}">
                <a16:creationId xmlns:a16="http://schemas.microsoft.com/office/drawing/2014/main" id="{90FA83E0-B4AD-4F42-97AB-29792D653645}"/>
              </a:ext>
            </a:extLst>
          </p:cNvPr>
          <p:cNvSpPr>
            <a:spLocks noGrp="1"/>
          </p:cNvSpPr>
          <p:nvPr/>
        </p:nvSpPr>
        <p:spPr>
          <a:xfrm>
            <a:off x="7734300" y="3638550"/>
            <a:ext cx="3714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lnSpc>
                <a:spcPct val="115000"/>
              </a:lnSpc>
              <a:buNone/>
              <a:defRPr sz="1013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013" dirty="0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rPr>
              <a:t>分设两个物料盒，运载不同物料种类</a:t>
            </a:r>
            <a:endParaRPr sz="1013" dirty="0">
              <a:solidFill>
                <a:srgbClr val="6E6E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" name="bullet-dot-mech-2">
            <a:extLst>
              <a:ext uri="{FF2B5EF4-FFF2-40B4-BE49-F238E27FC236}">
                <a16:creationId xmlns:a16="http://schemas.microsoft.com/office/drawing/2014/main" id="{AB1234E6-208B-48DE-8168-D5C828E2EB01}"/>
              </a:ext>
            </a:extLst>
          </p:cNvPr>
          <p:cNvSpPr>
            <a:spLocks noGrp="1"/>
          </p:cNvSpPr>
          <p:nvPr/>
        </p:nvSpPr>
        <p:spPr>
          <a:xfrm>
            <a:off x="7486650" y="4286250"/>
            <a:ext cx="114300" cy="114300"/>
          </a:xfrm>
          <a:prstGeom prst="ellipse">
            <a:avLst/>
          </a:prstGeom>
          <a:solidFill>
            <a:srgbClr val="34C759"/>
          </a:solidFill>
          <a:ln w="0">
            <a:solidFill>
              <a:srgbClr val="34C75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bullet-title-mech-2">
            <a:extLst>
              <a:ext uri="{FF2B5EF4-FFF2-40B4-BE49-F238E27FC236}">
                <a16:creationId xmlns:a16="http://schemas.microsoft.com/office/drawing/2014/main" id="{F9101A32-1AA2-4EC8-82C2-A599A6E178CF}"/>
              </a:ext>
            </a:extLst>
          </p:cNvPr>
          <p:cNvSpPr>
            <a:spLocks noGrp="1"/>
          </p:cNvSpPr>
          <p:nvPr/>
        </p:nvSpPr>
        <p:spPr>
          <a:xfrm>
            <a:off x="7734300" y="4200525"/>
            <a:ext cx="3314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75" b="1" dirty="0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rPr>
              <a:t>底</a:t>
            </a:r>
            <a:r>
              <a:rPr sz="1275" b="1" dirty="0" err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rPr>
              <a:t>层电子平台</a:t>
            </a:r>
            <a:endParaRPr sz="1275" b="1" dirty="0">
              <a:solidFill>
                <a:srgbClr val="1D1D1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4" name="bullet-desc-mech-2">
            <a:extLst>
              <a:ext uri="{FF2B5EF4-FFF2-40B4-BE49-F238E27FC236}">
                <a16:creationId xmlns:a16="http://schemas.microsoft.com/office/drawing/2014/main" id="{1AB7222C-01C3-42E1-8543-79C8F5A237A9}"/>
              </a:ext>
            </a:extLst>
          </p:cNvPr>
          <p:cNvSpPr>
            <a:spLocks noGrp="1"/>
          </p:cNvSpPr>
          <p:nvPr/>
        </p:nvSpPr>
        <p:spPr>
          <a:xfrm>
            <a:off x="7734300" y="4476750"/>
            <a:ext cx="3714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lnSpc>
                <a:spcPct val="115000"/>
              </a:lnSpc>
              <a:buNone/>
              <a:defRPr sz="1013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dirty="0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rPr>
              <a:t>树莓派、STM32、电源和线束集中布置，预留烧录、串口和维护空间</a:t>
            </a:r>
            <a:r>
              <a:rPr lang="zh-CN" altLang="en-US" sz="1013" dirty="0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rPr>
              <a:t>，承载四个 </a:t>
            </a:r>
            <a:r>
              <a:rPr lang="en-US" altLang="zh-CN" sz="1013" dirty="0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rPr>
              <a:t>75mm </a:t>
            </a:r>
            <a:r>
              <a:rPr lang="zh-CN" altLang="en-US" sz="1013" dirty="0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rPr>
              <a:t>麦克纳姆轮与电机</a:t>
            </a:r>
            <a:endParaRPr sz="1013" dirty="0">
              <a:solidFill>
                <a:srgbClr val="6E6E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bullet-dot-mech-3">
            <a:extLst>
              <a:ext uri="{FF2B5EF4-FFF2-40B4-BE49-F238E27FC236}">
                <a16:creationId xmlns:a16="http://schemas.microsoft.com/office/drawing/2014/main" id="{2611741E-C36B-44C5-A9F5-85E0ED041E1E}"/>
              </a:ext>
            </a:extLst>
          </p:cNvPr>
          <p:cNvSpPr>
            <a:spLocks noGrp="1"/>
          </p:cNvSpPr>
          <p:nvPr/>
        </p:nvSpPr>
        <p:spPr>
          <a:xfrm>
            <a:off x="7486650" y="5124450"/>
            <a:ext cx="114300" cy="114300"/>
          </a:xfrm>
          <a:prstGeom prst="ellipse">
            <a:avLst/>
          </a:prstGeom>
          <a:solidFill>
            <a:srgbClr val="0071E3"/>
          </a:solidFill>
          <a:ln w="0">
            <a:solidFill>
              <a:srgbClr val="0071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bullet-title-mech-3">
            <a:extLst>
              <a:ext uri="{FF2B5EF4-FFF2-40B4-BE49-F238E27FC236}">
                <a16:creationId xmlns:a16="http://schemas.microsoft.com/office/drawing/2014/main" id="{0E4AB0B3-7E7D-44F1-BEA6-C40FA403E64D}"/>
              </a:ext>
            </a:extLst>
          </p:cNvPr>
          <p:cNvSpPr>
            <a:spLocks noGrp="1"/>
          </p:cNvSpPr>
          <p:nvPr/>
        </p:nvSpPr>
        <p:spPr>
          <a:xfrm>
            <a:off x="7734300" y="5038725"/>
            <a:ext cx="3314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D1D1F"/>
                </a:solidFill>
                <a:latin typeface="Microsoft YaHei"/>
                <a:ea typeface="Microsoft YaHei"/>
                <a:cs typeface="Microsoft YaHei"/>
              </a:rPr>
              <a:t>相机与机械臂</a:t>
            </a:r>
          </a:p>
        </p:txBody>
      </p:sp>
      <p:sp>
        <p:nvSpPr>
          <p:cNvPr id="17" name="bullet-desc-mech-3">
            <a:extLst>
              <a:ext uri="{FF2B5EF4-FFF2-40B4-BE49-F238E27FC236}">
                <a16:creationId xmlns:a16="http://schemas.microsoft.com/office/drawing/2014/main" id="{E78B1E25-4BE9-41B9-A15B-951CC3DB38FF}"/>
              </a:ext>
            </a:extLst>
          </p:cNvPr>
          <p:cNvSpPr>
            <a:spLocks noGrp="1"/>
          </p:cNvSpPr>
          <p:nvPr/>
        </p:nvSpPr>
        <p:spPr>
          <a:xfrm>
            <a:off x="7734300" y="5314950"/>
            <a:ext cx="3714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lnSpc>
                <a:spcPct val="115000"/>
              </a:lnSpc>
              <a:buNone/>
              <a:defRPr sz="1013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>
                <a:solidFill>
                  <a:srgbClr val="6E6E73"/>
                </a:solidFill>
                <a:latin typeface="Microsoft YaHei"/>
                <a:ea typeface="Microsoft YaHei"/>
                <a:cs typeface="Microsoft YaHei"/>
              </a:rPr>
              <a:t>相机视野覆盖二维码与抓取区；机械臂安装位围绕料框和抓取点布置。</a:t>
            </a:r>
          </a:p>
        </p:txBody>
      </p:sp>
      <p:sp>
        <p:nvSpPr>
          <p:cNvPr id="18" name="footer-left-05C">
            <a:extLst>
              <a:ext uri="{FF2B5EF4-FFF2-40B4-BE49-F238E27FC236}">
                <a16:creationId xmlns:a16="http://schemas.microsoft.com/office/drawing/2014/main" id="{D0511211-1ECD-44EA-9B11-DBCB8CACF197}"/>
              </a:ext>
            </a:extLst>
          </p:cNvPr>
          <p:cNvSpPr>
            <a:spLocks noGrp="1"/>
          </p:cNvSpPr>
          <p:nvPr/>
        </p:nvSpPr>
        <p:spPr>
          <a:xfrm>
            <a:off x="609600" y="6572250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825">
                <a:solidFill>
                  <a:srgbClr val="A1A1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>
                <a:solidFill>
                  <a:srgbClr val="A1A1A6"/>
                </a:solidFill>
                <a:latin typeface="Microsoft YaHei"/>
                <a:ea typeface="Microsoft YaHei"/>
                <a:cs typeface="Microsoft YaHei"/>
              </a:rPr>
              <a:t>Mechanical structure detail</a:t>
            </a:r>
          </a:p>
        </p:txBody>
      </p:sp>
      <p:sp>
        <p:nvSpPr>
          <p:cNvPr id="19" name="footer-page-05C">
            <a:extLst>
              <a:ext uri="{FF2B5EF4-FFF2-40B4-BE49-F238E27FC236}">
                <a16:creationId xmlns:a16="http://schemas.microsoft.com/office/drawing/2014/main" id="{811A1C4C-12EE-41C8-AE0F-FF1C62274D07}"/>
              </a:ext>
            </a:extLst>
          </p:cNvPr>
          <p:cNvSpPr>
            <a:spLocks noGrp="1"/>
          </p:cNvSpPr>
          <p:nvPr/>
        </p:nvSpPr>
        <p:spPr>
          <a:xfrm>
            <a:off x="10915650" y="657225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>
                <a:solidFill>
                  <a:srgbClr val="A1A1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>
                <a:solidFill>
                  <a:srgbClr val="A1A1A6"/>
                </a:solidFill>
                <a:latin typeface="Microsoft YaHei"/>
                <a:ea typeface="Microsoft YaHei"/>
                <a:cs typeface="Microsoft YaHei"/>
              </a:rPr>
              <a:t>05C</a:t>
            </a: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319A7997-21CC-9FCA-6AC5-88EDBCF9CD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2091737"/>
            <a:ext cx="2761227" cy="3923300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76316B21-0604-7DAF-2FCF-C1F2635A9B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9477" y="2125860"/>
            <a:ext cx="2675437" cy="390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9393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575310" y="413385"/>
            <a:ext cx="7251478" cy="722471"/>
            <a:chOff x="575310" y="413385"/>
            <a:chExt cx="7251478" cy="722471"/>
          </a:xfrm>
        </p:grpSpPr>
        <p:sp>
          <p:nvSpPr>
            <p:cNvPr id="3" name="TextBox 3"/>
            <p:cNvSpPr txBox="1"/>
            <p:nvPr/>
          </p:nvSpPr>
          <p:spPr>
            <a:xfrm>
              <a:off x="575310" y="413385"/>
              <a:ext cx="7251478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项目的真实价值，也在于把问题拆开并收敛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14362" y="907256"/>
              <a:ext cx="439412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以下不是“事故清单”，而是从工程问题到可执行方案的收敛过程。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78656" y="1933575"/>
            <a:ext cx="10858500" cy="4171950"/>
            <a:chOff x="666750" y="1466850"/>
            <a:chExt cx="10858500" cy="4171950"/>
          </a:xfrm>
        </p:grpSpPr>
        <p:sp>
          <p:nvSpPr>
            <p:cNvPr id="6" name="Rectangle 6"/>
            <p:cNvSpPr/>
            <p:nvPr/>
          </p:nvSpPr>
          <p:spPr>
            <a:xfrm>
              <a:off x="666750" y="1466850"/>
              <a:ext cx="10858500" cy="4171950"/>
            </a:xfrm>
            <a:prstGeom prst="roundRect">
              <a:avLst>
                <a:gd name="adj" fmla="val 5936"/>
              </a:avLst>
            </a:prstGeom>
            <a:solidFill>
              <a:srgbClr val="FFFFFF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" name="Line 7"/>
            <p:cNvSpPr/>
            <p:nvPr/>
          </p:nvSpPr>
          <p:spPr>
            <a:xfrm>
              <a:off x="666750" y="2076450"/>
              <a:ext cx="10858500" cy="9525"/>
            </a:xfrm>
            <a:custGeom>
              <a:avLst/>
              <a:gdLst/>
              <a:ahLst/>
              <a:cxnLst/>
              <a:rect l="l" t="t" r="r" b="b"/>
              <a:pathLst>
                <a:path w="10858500" h="9525">
                  <a:moveTo>
                    <a:pt x="0" y="0"/>
                  </a:moveTo>
                  <a:lnTo>
                    <a:pt x="10858500" y="0"/>
                  </a:lnTo>
                </a:path>
              </a:pathLst>
            </a:custGeom>
            <a:noFill/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77265" y="173450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问题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529965" y="173450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表现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30315" y="1734502"/>
              <a:ext cx="61474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处理方式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012347" y="173450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状态</a:t>
              </a:r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666750" y="2076450"/>
              <a:ext cx="10858500" cy="647700"/>
              <a:chOff x="666750" y="2076450"/>
              <a:chExt cx="10858500" cy="647700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666750" y="2076450"/>
                <a:ext cx="10858500" cy="647700"/>
              </a:xfrm>
              <a:prstGeom prst="rect">
                <a:avLst/>
              </a:prstGeom>
              <a:solidFill>
                <a:srgbClr val="F5F5F7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975360" y="2327910"/>
                <a:ext cx="1215028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USART 分配错误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3529012" y="2336006"/>
                <a:ext cx="191881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电机驱动曾误分配到 USART3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6329362" y="2336006"/>
                <a:ext cx="266890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审查后迁移至 USART1，与 PCB 设计一致</a:t>
                </a:r>
              </a:p>
            </p:txBody>
          </p:sp>
          <p:sp>
            <p:nvSpPr>
              <p:cNvPr id="16" name="Rectangle 16"/>
              <p:cNvSpPr/>
              <p:nvPr/>
            </p:nvSpPr>
            <p:spPr>
              <a:xfrm>
                <a:off x="9639300" y="2266950"/>
                <a:ext cx="1066800" cy="266700"/>
              </a:xfrm>
              <a:prstGeom prst="roundRect">
                <a:avLst>
                  <a:gd name="adj" fmla="val 50000"/>
                </a:avLst>
              </a:prstGeom>
              <a:solidFill>
                <a:srgbClr val="E9F9ED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9972246" y="2350770"/>
                <a:ext cx="40090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b="1" dirty="0">
                    <a:solidFill>
                      <a:srgbClr val="34C759"/>
                    </a:solidFill>
                    <a:latin typeface="Arial"/>
                    <a:ea typeface="Microsoft YaHei"/>
                    <a:cs typeface="Arial"/>
                  </a:rPr>
                  <a:t>已修正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666750" y="2724150"/>
              <a:ext cx="10858500" cy="495300"/>
              <a:chOff x="666750" y="2724150"/>
              <a:chExt cx="10858500" cy="495300"/>
            </a:xfrm>
          </p:grpSpPr>
          <p:sp>
            <p:nvSpPr>
              <p:cNvPr id="19" name="Line 19"/>
              <p:cNvSpPr/>
              <p:nvPr/>
            </p:nvSpPr>
            <p:spPr>
              <a:xfrm>
                <a:off x="666750" y="2724150"/>
                <a:ext cx="10858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858500" h="9525">
                    <a:moveTo>
                      <a:pt x="0" y="0"/>
                    </a:moveTo>
                    <a:lnTo>
                      <a:pt x="10858500" y="0"/>
                    </a:lnTo>
                  </a:path>
                </a:pathLst>
              </a:custGeom>
              <a:noFill/>
              <a:ln w="9525">
                <a:solidFill>
                  <a:srgbClr val="E5E5E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975360" y="2975610"/>
                <a:ext cx="1215028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RS485 只发不收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529012" y="2983706"/>
                <a:ext cx="174629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硬件未引出方向控制 GPIO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6329362" y="2983706"/>
                <a:ext cx="274391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采用“只发不收”开环策略，放弃反馈读取</a:t>
                </a:r>
              </a:p>
            </p:txBody>
          </p:sp>
          <p:sp>
            <p:nvSpPr>
              <p:cNvPr id="23" name="Rectangle 23"/>
              <p:cNvSpPr/>
              <p:nvPr/>
            </p:nvSpPr>
            <p:spPr>
              <a:xfrm>
                <a:off x="9639300" y="2914650"/>
                <a:ext cx="1066800" cy="266700"/>
              </a:xfrm>
              <a:prstGeom prst="roundRect">
                <a:avLst>
                  <a:gd name="adj" fmla="val 50000"/>
                </a:avLst>
              </a:prstGeom>
              <a:solidFill>
                <a:srgbClr val="FFF1F0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9909238" y="2998470"/>
                <a:ext cx="52692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b="1" dirty="0">
                    <a:solidFill>
                      <a:srgbClr val="FF3B30"/>
                    </a:solidFill>
                    <a:latin typeface="Arial"/>
                    <a:ea typeface="Microsoft YaHei"/>
                    <a:cs typeface="Arial"/>
                  </a:rPr>
                  <a:t>工程取舍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666750" y="3371850"/>
              <a:ext cx="10858500" cy="647700"/>
              <a:chOff x="666750" y="3371850"/>
              <a:chExt cx="10858500" cy="6477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666750" y="3371850"/>
                <a:ext cx="10858500" cy="647700"/>
              </a:xfrm>
              <a:prstGeom prst="rect">
                <a:avLst/>
              </a:prstGeom>
              <a:solidFill>
                <a:srgbClr val="F5F5F7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975360" y="3623310"/>
                <a:ext cx="1038606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路线误差累积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3529012" y="3631406"/>
                <a:ext cx="167878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多段开环运动会积累偏差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329362" y="3631406"/>
                <a:ext cx="3093796" cy="1731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先低速开环兜底，后续 IMU yaw 闭环</a:t>
                </a:r>
                <a:r>
                  <a:rPr lang="zh-CN" altLang="en-US" sz="1125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审查与微调</a:t>
                </a:r>
                <a:endPara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endParaRP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9639300" y="3562350"/>
                <a:ext cx="1066800" cy="266700"/>
              </a:xfrm>
              <a:prstGeom prst="roundRect">
                <a:avLst>
                  <a:gd name="adj" fmla="val 50000"/>
                </a:avLst>
              </a:prstGeom>
              <a:solidFill>
                <a:srgbClr val="EAF4FF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9972246" y="3646170"/>
                <a:ext cx="40090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b="1" dirty="0">
                    <a:solidFill>
                      <a:srgbClr val="0071E3"/>
                    </a:solidFill>
                    <a:latin typeface="Arial"/>
                    <a:ea typeface="Microsoft YaHei"/>
                    <a:cs typeface="Arial"/>
                  </a:rPr>
                  <a:t>待增强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666750" y="4019550"/>
              <a:ext cx="10858500" cy="495300"/>
              <a:chOff x="666750" y="4019550"/>
              <a:chExt cx="10858500" cy="495300"/>
            </a:xfrm>
          </p:grpSpPr>
          <p:sp>
            <p:nvSpPr>
              <p:cNvPr id="33" name="Line 33"/>
              <p:cNvSpPr/>
              <p:nvPr/>
            </p:nvSpPr>
            <p:spPr>
              <a:xfrm>
                <a:off x="666750" y="4019550"/>
                <a:ext cx="10858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858500" h="9525">
                    <a:moveTo>
                      <a:pt x="0" y="0"/>
                    </a:moveTo>
                    <a:lnTo>
                      <a:pt x="10858500" y="0"/>
                    </a:lnTo>
                  </a:path>
                </a:pathLst>
              </a:custGeom>
              <a:noFill/>
              <a:ln w="9525">
                <a:solidFill>
                  <a:srgbClr val="E5E5EA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975360" y="4271010"/>
                <a:ext cx="1542669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机械臂实时控制复杂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3529012" y="4279106"/>
                <a:ext cx="167878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上位机逐关节控制不稳定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6329362" y="4279106"/>
                <a:ext cx="281142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在机械臂 STM32 侧固化抓取与放置动作组</a:t>
                </a:r>
              </a:p>
            </p:txBody>
          </p:sp>
          <p:sp>
            <p:nvSpPr>
              <p:cNvPr id="37" name="Rectangle 37"/>
              <p:cNvSpPr/>
              <p:nvPr/>
            </p:nvSpPr>
            <p:spPr>
              <a:xfrm>
                <a:off x="9639300" y="4210050"/>
                <a:ext cx="1066800" cy="266700"/>
              </a:xfrm>
              <a:prstGeom prst="roundRect">
                <a:avLst>
                  <a:gd name="adj" fmla="val 50000"/>
                </a:avLst>
              </a:prstGeom>
              <a:solidFill>
                <a:srgbClr val="E9F9ED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9909238" y="4293870"/>
                <a:ext cx="52692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b="1" dirty="0">
                    <a:solidFill>
                      <a:srgbClr val="34C759"/>
                    </a:solidFill>
                    <a:latin typeface="Arial"/>
                    <a:ea typeface="Microsoft YaHei"/>
                    <a:cs typeface="Arial"/>
                  </a:rPr>
                  <a:t>方案明确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666750" y="4667250"/>
              <a:ext cx="10858500" cy="647700"/>
              <a:chOff x="666750" y="4667250"/>
              <a:chExt cx="10858500" cy="6477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666750" y="4667250"/>
                <a:ext cx="10858500" cy="647700"/>
              </a:xfrm>
              <a:prstGeom prst="rect">
                <a:avLst/>
              </a:prstGeom>
              <a:solidFill>
                <a:srgbClr val="F5F5F7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975360" y="4918710"/>
                <a:ext cx="1542669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文档与临时代码残留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3529012" y="4926806"/>
                <a:ext cx="257889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多版本资料并行，工程测试模块未清理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6329362" y="4926806"/>
                <a:ext cx="268390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统一 V3 文档口径，审查后清理临时模块</a:t>
                </a:r>
              </a:p>
            </p:txBody>
          </p:sp>
          <p:sp>
            <p:nvSpPr>
              <p:cNvPr id="44" name="Rectangle 44"/>
              <p:cNvSpPr/>
              <p:nvPr/>
            </p:nvSpPr>
            <p:spPr>
              <a:xfrm>
                <a:off x="9639300" y="4857750"/>
                <a:ext cx="1066800" cy="266700"/>
              </a:xfrm>
              <a:prstGeom prst="roundRect">
                <a:avLst>
                  <a:gd name="adj" fmla="val 50000"/>
                </a:avLst>
              </a:prstGeom>
              <a:solidFill>
                <a:srgbClr val="E9F9ED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9972246" y="4941570"/>
                <a:ext cx="40090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b="1" dirty="0">
                    <a:solidFill>
                      <a:srgbClr val="34C759"/>
                    </a:solidFill>
                    <a:latin typeface="Arial"/>
                    <a:ea typeface="Microsoft YaHei"/>
                    <a:cs typeface="Arial"/>
                  </a:rPr>
                  <a:t>已收敛</a:t>
                </a:r>
              </a:p>
            </p:txBody>
          </p:sp>
        </p:grpSp>
      </p:grpSp>
      <p:sp>
        <p:nvSpPr>
          <p:cNvPr id="52" name="TextBox 52"/>
          <p:cNvSpPr txBox="1"/>
          <p:nvPr/>
        </p:nvSpPr>
        <p:spPr>
          <a:xfrm>
            <a:off x="11202257" y="6532245"/>
            <a:ext cx="1248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A1A1A6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34C759">
                  <a:alpha val="13000"/>
                </a:srgbClr>
              </a:gs>
              <a:gs pos="100000">
                <a:srgbClr val="34C7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>
            <a:off x="575310" y="413385"/>
            <a:ext cx="8763667" cy="722471"/>
            <a:chOff x="575310" y="413385"/>
            <a:chExt cx="8763667" cy="722471"/>
          </a:xfrm>
        </p:grpSpPr>
        <p:sp>
          <p:nvSpPr>
            <p:cNvPr id="4" name="TextBox 4"/>
            <p:cNvSpPr txBox="1"/>
            <p:nvPr/>
          </p:nvSpPr>
          <p:spPr>
            <a:xfrm>
              <a:off x="575310" y="413385"/>
              <a:ext cx="8763667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当前成果：底盘能力最成熟，整车联调仍有提升空间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14362" y="907256"/>
              <a:ext cx="51292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完成度来自项目资料评估，用于描述阶段成熟度，不新增未验证的实测指标。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88670" y="1503045"/>
            <a:ext cx="4463415" cy="1964055"/>
            <a:chOff x="788670" y="1503045"/>
            <a:chExt cx="4463415" cy="1964055"/>
          </a:xfrm>
        </p:grpSpPr>
        <p:sp>
          <p:nvSpPr>
            <p:cNvPr id="7" name="TextBox 7"/>
            <p:cNvSpPr txBox="1"/>
            <p:nvPr/>
          </p:nvSpPr>
          <p:spPr>
            <a:xfrm>
              <a:off x="788670" y="1503045"/>
              <a:ext cx="1769359" cy="1402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90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90%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89635" y="2456498"/>
              <a:ext cx="1687735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底盘运动控制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97255" y="2883218"/>
              <a:ext cx="435483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麦轮运动学、四电机同步与速度规划已形成可用能力。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14400" y="3390900"/>
              <a:ext cx="3200400" cy="76200"/>
            </a:xfrm>
            <a:prstGeom prst="roundRect">
              <a:avLst>
                <a:gd name="adj" fmla="val 50000"/>
              </a:avLst>
            </a:prstGeom>
            <a:solidFill>
              <a:srgbClr val="D2D2D7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14400" y="3390900"/>
              <a:ext cx="2876550" cy="762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071E3"/>
                </a:gs>
                <a:gs pos="100000">
                  <a:srgbClr val="34C759"/>
                </a:gs>
              </a:gsLst>
              <a:lin ang="0" scaled="1"/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695450" y="3943350"/>
            <a:ext cx="1752600" cy="2138362"/>
            <a:chOff x="1695450" y="3943350"/>
            <a:chExt cx="1752600" cy="2138362"/>
          </a:xfrm>
        </p:grpSpPr>
        <p:sp>
          <p:nvSpPr>
            <p:cNvPr id="13" name="Ellipse 13"/>
            <p:cNvSpPr/>
            <p:nvPr/>
          </p:nvSpPr>
          <p:spPr>
            <a:xfrm>
              <a:off x="1695450" y="3943350"/>
              <a:ext cx="1752600" cy="175260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Ellipse 14"/>
            <p:cNvSpPr/>
            <p:nvPr/>
          </p:nvSpPr>
          <p:spPr>
            <a:xfrm>
              <a:off x="1943100" y="4191000"/>
              <a:ext cx="1257300" cy="1257300"/>
            </a:xfrm>
            <a:prstGeom prst="ellipse">
              <a:avLst/>
            </a:prstGeom>
            <a:noFill/>
            <a:ln w="133350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1971675" y="4191000"/>
              <a:ext cx="1257167" cy="1309660"/>
            </a:xfrm>
            <a:custGeom>
              <a:avLst/>
              <a:gdLst/>
              <a:ahLst/>
              <a:cxnLst/>
              <a:rect l="l" t="t" r="r" b="b"/>
              <a:pathLst>
                <a:path w="1257167" h="1309660">
                  <a:moveTo>
                    <a:pt x="600075" y="0"/>
                  </a:moveTo>
                  <a:cubicBezTo>
                    <a:pt x="922208" y="504"/>
                    <a:pt x="1191834" y="244427"/>
                    <a:pt x="1224501" y="564900"/>
                  </a:cubicBezTo>
                  <a:cubicBezTo>
                    <a:pt x="1257167" y="885373"/>
                    <a:pt x="1042301" y="1178681"/>
                    <a:pt x="726895" y="1244171"/>
                  </a:cubicBezTo>
                  <a:cubicBezTo>
                    <a:pt x="411489" y="1309660"/>
                    <a:pt x="97617" y="1126137"/>
                    <a:pt x="0" y="819150"/>
                  </a:cubicBezTo>
                </a:path>
              </a:pathLst>
            </a:custGeom>
            <a:noFill/>
            <a:ln w="133350" cap="rnd">
              <a:solidFill>
                <a:srgbClr val="34C759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2343150" y="4616450"/>
              <a:ext cx="457200" cy="415925"/>
              <a:chOff x="2343150" y="4616450"/>
              <a:chExt cx="457200" cy="415925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2343150" y="4819650"/>
                <a:ext cx="152400" cy="2032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203200">
                    <a:moveTo>
                      <a:pt x="0" y="25400"/>
                    </a:moveTo>
                    <a:cubicBezTo>
                      <a:pt x="0" y="11372"/>
                      <a:pt x="11372" y="0"/>
                      <a:pt x="25400" y="0"/>
                    </a:cubicBezTo>
                    <a:lnTo>
                      <a:pt x="127000" y="0"/>
                    </a:lnTo>
                    <a:cubicBezTo>
                      <a:pt x="141028" y="0"/>
                      <a:pt x="152400" y="11372"/>
                      <a:pt x="152400" y="25400"/>
                    </a:cubicBezTo>
                    <a:lnTo>
                      <a:pt x="152400" y="177800"/>
                    </a:lnTo>
                    <a:cubicBezTo>
                      <a:pt x="152400" y="191828"/>
                      <a:pt x="141028" y="203200"/>
                      <a:pt x="127000" y="203200"/>
                    </a:cubicBezTo>
                    <a:lnTo>
                      <a:pt x="25400" y="203200"/>
                    </a:lnTo>
                    <a:cubicBezTo>
                      <a:pt x="11372" y="203200"/>
                      <a:pt x="0" y="191828"/>
                      <a:pt x="0" y="177800"/>
                    </a:cubicBezTo>
                    <a:lnTo>
                      <a:pt x="0" y="2540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2647950" y="4718050"/>
                <a:ext cx="15240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304800">
                    <a:moveTo>
                      <a:pt x="0" y="25400"/>
                    </a:moveTo>
                    <a:cubicBezTo>
                      <a:pt x="0" y="11372"/>
                      <a:pt x="11372" y="0"/>
                      <a:pt x="25400" y="0"/>
                    </a:cubicBezTo>
                    <a:lnTo>
                      <a:pt x="127000" y="0"/>
                    </a:lnTo>
                    <a:cubicBezTo>
                      <a:pt x="141028" y="0"/>
                      <a:pt x="152400" y="11372"/>
                      <a:pt x="152400" y="25400"/>
                    </a:cubicBezTo>
                    <a:lnTo>
                      <a:pt x="152400" y="279400"/>
                    </a:lnTo>
                    <a:cubicBezTo>
                      <a:pt x="152400" y="293428"/>
                      <a:pt x="141028" y="304800"/>
                      <a:pt x="127000" y="304800"/>
                    </a:cubicBezTo>
                    <a:lnTo>
                      <a:pt x="25400" y="304800"/>
                    </a:lnTo>
                    <a:cubicBezTo>
                      <a:pt x="11372" y="304800"/>
                      <a:pt x="0" y="293428"/>
                      <a:pt x="0" y="279400"/>
                    </a:cubicBezTo>
                    <a:lnTo>
                      <a:pt x="0" y="2540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2495550" y="4616450"/>
                <a:ext cx="152400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406400">
                    <a:moveTo>
                      <a:pt x="0" y="25400"/>
                    </a:moveTo>
                    <a:cubicBezTo>
                      <a:pt x="0" y="11372"/>
                      <a:pt x="11372" y="0"/>
                      <a:pt x="25400" y="0"/>
                    </a:cubicBezTo>
                    <a:lnTo>
                      <a:pt x="127000" y="0"/>
                    </a:lnTo>
                    <a:cubicBezTo>
                      <a:pt x="141028" y="0"/>
                      <a:pt x="152400" y="11372"/>
                      <a:pt x="152400" y="25400"/>
                    </a:cubicBezTo>
                    <a:lnTo>
                      <a:pt x="152400" y="381000"/>
                    </a:lnTo>
                    <a:cubicBezTo>
                      <a:pt x="152400" y="395028"/>
                      <a:pt x="141028" y="406400"/>
                      <a:pt x="127000" y="406400"/>
                    </a:cubicBezTo>
                    <a:lnTo>
                      <a:pt x="25400" y="406400"/>
                    </a:lnTo>
                    <a:cubicBezTo>
                      <a:pt x="11372" y="406400"/>
                      <a:pt x="0" y="395028"/>
                      <a:pt x="0" y="381000"/>
                    </a:cubicBezTo>
                    <a:lnTo>
                      <a:pt x="0" y="2540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2368550" y="5022850"/>
                <a:ext cx="355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55600" h="9525">
                    <a:moveTo>
                      <a:pt x="0" y="0"/>
                    </a:moveTo>
                    <a:lnTo>
                      <a:pt x="355600" y="0"/>
                    </a:lnTo>
                  </a:path>
                </a:pathLst>
              </a:custGeom>
              <a:noFill/>
              <a:ln w="19050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1998345" y="5868352"/>
              <a:ext cx="114681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结果最清晰的模块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5334000" y="1562100"/>
            <a:ext cx="5791200" cy="4038600"/>
            <a:chOff x="5334000" y="1562100"/>
            <a:chExt cx="5791200" cy="4038600"/>
          </a:xfrm>
        </p:grpSpPr>
        <p:sp>
          <p:nvSpPr>
            <p:cNvPr id="23" name="Rectangle 23"/>
            <p:cNvSpPr/>
            <p:nvPr/>
          </p:nvSpPr>
          <p:spPr>
            <a:xfrm>
              <a:off x="5334000" y="1562100"/>
              <a:ext cx="5791200" cy="4038600"/>
            </a:xfrm>
            <a:prstGeom prst="roundRect">
              <a:avLst>
                <a:gd name="adj" fmla="val 6604"/>
              </a:avLst>
            </a:prstGeom>
            <a:solidFill>
              <a:srgbClr val="FFFFFF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734050" y="1857375"/>
              <a:ext cx="108823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阶段完成度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739765" y="2172652"/>
              <a:ext cx="244897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可用 / 代码就绪 / 待联调三类状态并存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5736908" y="2635568"/>
              <a:ext cx="4833937" cy="741044"/>
              <a:chOff x="5736908" y="2635568"/>
              <a:chExt cx="4833937" cy="741044"/>
            </a:xfrm>
          </p:grpSpPr>
          <p:sp>
            <p:nvSpPr>
              <p:cNvPr id="26" name="TextBox 26"/>
              <p:cNvSpPr txBox="1"/>
              <p:nvPr/>
            </p:nvSpPr>
            <p:spPr>
              <a:xfrm>
                <a:off x="5736908" y="2643664"/>
                <a:ext cx="1103519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底盘运动控制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10224666" y="2635568"/>
                <a:ext cx="346179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1350" b="1" dirty="0">
                    <a:solidFill>
                      <a:srgbClr val="34C759"/>
                    </a:solidFill>
                    <a:latin typeface="Arial"/>
                    <a:ea typeface="Microsoft YaHei"/>
                    <a:cs typeface="Arial"/>
                  </a:rPr>
                  <a:t>90%</a:t>
                </a:r>
              </a:p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5753100" y="2971800"/>
                <a:ext cx="4800600" cy="66675"/>
              </a:xfrm>
              <a:prstGeom prst="roundRect">
                <a:avLst>
                  <a:gd name="adj" fmla="val 50000"/>
                </a:avLst>
              </a:prstGeom>
              <a:solidFill>
                <a:srgbClr val="E5E5E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5753099" y="2971801"/>
                <a:ext cx="4618283" cy="48100"/>
              </a:xfrm>
              <a:prstGeom prst="roundRect">
                <a:avLst>
                  <a:gd name="adj" fmla="val 50000"/>
                </a:avLst>
              </a:prstGeom>
              <a:solidFill>
                <a:srgbClr val="34C759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739765" y="3163252"/>
                <a:ext cx="268700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麦轮运动学、四电机同步、速度规划已完成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5736908" y="3511868"/>
              <a:ext cx="4833937" cy="689267"/>
              <a:chOff x="5736908" y="3511868"/>
              <a:chExt cx="4833937" cy="689267"/>
            </a:xfrm>
          </p:grpSpPr>
          <p:sp>
            <p:nvSpPr>
              <p:cNvPr id="32" name="TextBox 32"/>
              <p:cNvSpPr txBox="1"/>
              <p:nvPr/>
            </p:nvSpPr>
            <p:spPr>
              <a:xfrm>
                <a:off x="5736908" y="3519964"/>
                <a:ext cx="924997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传感器系统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10224666" y="3511868"/>
                <a:ext cx="346179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1350" b="1" dirty="0">
                    <a:solidFill>
                      <a:srgbClr val="0071E3"/>
                    </a:solidFill>
                    <a:latin typeface="Arial"/>
                    <a:ea typeface="Microsoft YaHei"/>
                    <a:cs typeface="Arial"/>
                  </a:rPr>
                  <a:t>70%</a:t>
                </a:r>
              </a:p>
            </p:txBody>
          </p:sp>
          <p:sp>
            <p:nvSpPr>
              <p:cNvPr id="34" name="Rectangle 34"/>
              <p:cNvSpPr/>
              <p:nvPr/>
            </p:nvSpPr>
            <p:spPr>
              <a:xfrm>
                <a:off x="5753100" y="3848100"/>
                <a:ext cx="4800600" cy="66675"/>
              </a:xfrm>
              <a:prstGeom prst="roundRect">
                <a:avLst>
                  <a:gd name="adj" fmla="val 50000"/>
                </a:avLst>
              </a:prstGeom>
              <a:solidFill>
                <a:srgbClr val="E5E5E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5" name="Rectangle 35"/>
              <p:cNvSpPr/>
              <p:nvPr/>
            </p:nvSpPr>
            <p:spPr>
              <a:xfrm>
                <a:off x="5753100" y="3848100"/>
                <a:ext cx="4200972" cy="55721"/>
              </a:xfrm>
              <a:prstGeom prst="roundRect">
                <a:avLst>
                  <a:gd name="adj" fmla="val 50000"/>
                </a:avLst>
              </a:prstGeom>
              <a:solidFill>
                <a:srgbClr val="0071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5739765" y="4039552"/>
                <a:ext cx="1630254" cy="1615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IMU 就绪</a:t>
                </a:r>
                <a:r>
                  <a:rPr lang="zh-CN" altLang="en-US" sz="105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，闭环控制待完善</a:t>
                </a:r>
                <a:endParaRPr lang="zh-CN" sz="1050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endParaRP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5736908" y="4388168"/>
              <a:ext cx="4833937" cy="741044"/>
              <a:chOff x="5736908" y="4388168"/>
              <a:chExt cx="4833937" cy="741044"/>
            </a:xfrm>
          </p:grpSpPr>
          <p:sp>
            <p:nvSpPr>
              <p:cNvPr id="38" name="TextBox 38"/>
              <p:cNvSpPr txBox="1"/>
              <p:nvPr/>
            </p:nvSpPr>
            <p:spPr>
              <a:xfrm>
                <a:off x="5736908" y="4396264"/>
                <a:ext cx="746474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通信链路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10224666" y="4388168"/>
                <a:ext cx="346179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1350" b="1" dirty="0">
                    <a:solidFill>
                      <a:srgbClr val="FF3B30"/>
                    </a:solidFill>
                    <a:latin typeface="Arial"/>
                    <a:ea typeface="Microsoft YaHei"/>
                    <a:cs typeface="Arial"/>
                  </a:rPr>
                  <a:t>60%</a:t>
                </a:r>
              </a:p>
            </p:txBody>
          </p:sp>
          <p:sp>
            <p:nvSpPr>
              <p:cNvPr id="40" name="Rectangle 40"/>
              <p:cNvSpPr/>
              <p:nvPr/>
            </p:nvSpPr>
            <p:spPr>
              <a:xfrm>
                <a:off x="5753100" y="4724400"/>
                <a:ext cx="4800600" cy="66675"/>
              </a:xfrm>
              <a:prstGeom prst="roundRect">
                <a:avLst>
                  <a:gd name="adj" fmla="val 50000"/>
                </a:avLst>
              </a:prstGeom>
              <a:solidFill>
                <a:srgbClr val="E5E5EA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5753100" y="4724400"/>
                <a:ext cx="2876550" cy="66675"/>
              </a:xfrm>
              <a:prstGeom prst="roundRect">
                <a:avLst>
                  <a:gd name="adj" fmla="val 50000"/>
                </a:avLst>
              </a:prstGeom>
              <a:solidFill>
                <a:srgbClr val="FF3B30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5739765" y="4915852"/>
                <a:ext cx="307905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Modbus 完成，树莓派协议代码就绪但未完全联调</a:t>
                </a:r>
              </a:p>
            </p:txBody>
          </p:sp>
        </p:grpSp>
      </p:grpSp>
      <p:grpSp>
        <p:nvGrpSpPr>
          <p:cNvPr id="51" name="Group 51"/>
          <p:cNvGrpSpPr/>
          <p:nvPr/>
        </p:nvGrpSpPr>
        <p:grpSpPr>
          <a:xfrm>
            <a:off x="5334000" y="5867400"/>
            <a:ext cx="5791200" cy="438150"/>
            <a:chOff x="5334000" y="5867400"/>
            <a:chExt cx="5791200" cy="438150"/>
          </a:xfrm>
        </p:grpSpPr>
        <p:sp>
          <p:nvSpPr>
            <p:cNvPr id="45" name="Rectangle 45"/>
            <p:cNvSpPr/>
            <p:nvPr/>
          </p:nvSpPr>
          <p:spPr>
            <a:xfrm>
              <a:off x="5334000" y="5867400"/>
              <a:ext cx="2724150" cy="43815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643562" y="602218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路线执行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270428" y="6014085"/>
              <a:ext cx="460062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altLang="en-US" sz="1200" b="1" dirty="0">
                  <a:solidFill>
                    <a:srgbClr val="34C759"/>
                  </a:solidFill>
                  <a:latin typeface="Arial"/>
                  <a:ea typeface="Microsoft YaHei"/>
                  <a:cs typeface="Arial"/>
                </a:rPr>
                <a:t>约</a:t>
              </a:r>
              <a:r>
                <a:rPr lang="en-US" altLang="zh-CN" sz="1200" b="1" dirty="0">
                  <a:solidFill>
                    <a:srgbClr val="34C759"/>
                  </a:solidFill>
                  <a:latin typeface="Arial"/>
                  <a:ea typeface="Microsoft YaHei"/>
                  <a:cs typeface="Arial"/>
                </a:rPr>
                <a:t>90</a:t>
              </a:r>
              <a:r>
                <a:rPr lang="zh-CN" sz="1200" b="1" dirty="0">
                  <a:solidFill>
                    <a:srgbClr val="34C759"/>
                  </a:solidFill>
                  <a:latin typeface="Arial"/>
                  <a:ea typeface="Microsoft YaHei"/>
                  <a:cs typeface="Arial"/>
                </a:rPr>
                <a:t>%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401050" y="5867400"/>
              <a:ext cx="2724150" cy="43815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710612" y="602218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功能调试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337478" y="6014085"/>
              <a:ext cx="460062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altLang="en-US" sz="1200" b="1" dirty="0">
                  <a:solidFill>
                    <a:srgbClr val="0071E3"/>
                  </a:solidFill>
                  <a:latin typeface="Arial"/>
                  <a:ea typeface="Microsoft YaHei"/>
                  <a:cs typeface="Arial"/>
                </a:rPr>
                <a:t>约</a:t>
              </a:r>
              <a:r>
                <a:rPr lang="en-US" altLang="zh-CN" sz="1200" b="1" dirty="0">
                  <a:solidFill>
                    <a:srgbClr val="0071E3"/>
                  </a:solidFill>
                  <a:latin typeface="Arial"/>
                  <a:ea typeface="Microsoft YaHei"/>
                  <a:cs typeface="Arial"/>
                </a:rPr>
                <a:t>70</a:t>
              </a:r>
              <a:r>
                <a:rPr lang="zh-CN" sz="1200" b="1" dirty="0">
                  <a:solidFill>
                    <a:srgbClr val="0071E3"/>
                  </a:solidFill>
                  <a:latin typeface="Arial"/>
                  <a:ea typeface="Microsoft YaHei"/>
                  <a:cs typeface="Arial"/>
                </a:rPr>
                <a:t>%</a:t>
              </a:r>
            </a:p>
          </p:txBody>
        </p:sp>
      </p:grpSp>
      <p:sp>
        <p:nvSpPr>
          <p:cNvPr id="53" name="TextBox 53"/>
          <p:cNvSpPr txBox="1"/>
          <p:nvPr/>
        </p:nvSpPr>
        <p:spPr>
          <a:xfrm>
            <a:off x="11202257" y="6532245"/>
            <a:ext cx="1248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A1A1A6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22" grpId="0"/>
      <p:bldP spid="44" grpId="0"/>
      <p:bldP spid="5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575310" y="413385"/>
            <a:ext cx="9595371" cy="722471"/>
            <a:chOff x="575310" y="413385"/>
            <a:chExt cx="9595371" cy="722471"/>
          </a:xfrm>
        </p:grpSpPr>
        <p:sp>
          <p:nvSpPr>
            <p:cNvPr id="3" name="TextBox 3"/>
            <p:cNvSpPr txBox="1"/>
            <p:nvPr/>
          </p:nvSpPr>
          <p:spPr>
            <a:xfrm>
              <a:off x="575310" y="413385"/>
              <a:ext cx="9595371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下一步不是加功能，而是让系统从“可运行”走向“可闭环”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14362" y="907256"/>
              <a:ext cx="60293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展望聚焦工程可实现路径：先补齐证明材料，再提升闭环控制，最后扩展完整任务状态机。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6400" y="1485900"/>
            <a:ext cx="9525" cy="4381500"/>
            <a:chOff x="1676400" y="1485900"/>
            <a:chExt cx="9525" cy="4381500"/>
          </a:xfrm>
        </p:grpSpPr>
        <p:sp>
          <p:nvSpPr>
            <p:cNvPr id="6" name="Line 6"/>
            <p:cNvSpPr/>
            <p:nvPr/>
          </p:nvSpPr>
          <p:spPr>
            <a:xfrm>
              <a:off x="1676400" y="1485900"/>
              <a:ext cx="9525" cy="4381500"/>
            </a:xfrm>
            <a:custGeom>
              <a:avLst/>
              <a:gdLst/>
              <a:ahLst/>
              <a:cxnLst/>
              <a:rect l="l" t="t" r="r" b="b"/>
              <a:pathLst>
                <a:path w="9525" h="4381500">
                  <a:moveTo>
                    <a:pt x="0" y="0"/>
                  </a:moveTo>
                  <a:lnTo>
                    <a:pt x="0" y="4381500"/>
                  </a:lnTo>
                </a:path>
              </a:pathLst>
            </a:custGeom>
            <a:noFill/>
            <a:ln w="28575" cap="rnd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" name="Line 7"/>
            <p:cNvSpPr/>
            <p:nvPr/>
          </p:nvSpPr>
          <p:spPr>
            <a:xfrm>
              <a:off x="1676400" y="1485900"/>
              <a:ext cx="9525" cy="1924050"/>
            </a:xfrm>
            <a:custGeom>
              <a:avLst/>
              <a:gdLst/>
              <a:ahLst/>
              <a:cxnLst/>
              <a:rect l="l" t="t" r="r" b="b"/>
              <a:pathLst>
                <a:path w="9525" h="1924050">
                  <a:moveTo>
                    <a:pt x="0" y="0"/>
                  </a:moveTo>
                  <a:lnTo>
                    <a:pt x="0" y="1924050"/>
                  </a:lnTo>
                </a:path>
              </a:pathLst>
            </a:custGeom>
            <a:noFill/>
            <a:ln w="28575" cap="rnd">
              <a:solidFill>
                <a:srgbClr val="0071E3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69741" y="1295400"/>
            <a:ext cx="5540609" cy="723900"/>
            <a:chOff x="1069741" y="1295400"/>
            <a:chExt cx="5540609" cy="723900"/>
          </a:xfrm>
        </p:grpSpPr>
        <p:sp>
          <p:nvSpPr>
            <p:cNvPr id="9" name="TextBox 9"/>
            <p:cNvSpPr txBox="1"/>
            <p:nvPr/>
          </p:nvSpPr>
          <p:spPr>
            <a:xfrm>
              <a:off x="1069741" y="1535906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b="1" dirty="0">
                  <a:solidFill>
                    <a:srgbClr val="0071E3"/>
                  </a:solidFill>
                  <a:latin typeface="Arial"/>
                  <a:ea typeface="Microsoft YaHei"/>
                  <a:cs typeface="Arial"/>
                </a:rPr>
                <a:t>P0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1504950" y="1428750"/>
              <a:ext cx="342900" cy="3429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0071E3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Ellipse 11"/>
            <p:cNvSpPr/>
            <p:nvPr/>
          </p:nvSpPr>
          <p:spPr>
            <a:xfrm>
              <a:off x="1609725" y="1533525"/>
              <a:ext cx="133350" cy="133350"/>
            </a:xfrm>
            <a:prstGeom prst="ellipse">
              <a:avLst/>
            </a:prstGeom>
            <a:solidFill>
              <a:srgbClr val="0071E3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095500" y="1295400"/>
              <a:ext cx="4514850" cy="723900"/>
            </a:xfrm>
            <a:prstGeom prst="roundRect">
              <a:avLst>
                <a:gd name="adj" fmla="val 21053"/>
              </a:avLst>
            </a:prstGeom>
            <a:solidFill>
              <a:srgbClr val="FFFFFF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345055" y="1416368"/>
              <a:ext cx="173550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补齐展示与验收素材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348865" y="1715452"/>
              <a:ext cx="337308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整车联动流程图、机械臂动作组编号、YOLO 展示截图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109121" y="2247900"/>
            <a:ext cx="5501229" cy="723900"/>
            <a:chOff x="1109121" y="2247900"/>
            <a:chExt cx="5501229" cy="723900"/>
          </a:xfrm>
        </p:grpSpPr>
        <p:sp>
          <p:nvSpPr>
            <p:cNvPr id="16" name="TextBox 16"/>
            <p:cNvSpPr txBox="1"/>
            <p:nvPr/>
          </p:nvSpPr>
          <p:spPr>
            <a:xfrm>
              <a:off x="1109121" y="2488406"/>
              <a:ext cx="16246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b="1" dirty="0">
                  <a:solidFill>
                    <a:srgbClr val="0071E3"/>
                  </a:solidFill>
                  <a:latin typeface="Arial"/>
                  <a:ea typeface="Microsoft YaHei"/>
                  <a:cs typeface="Arial"/>
                </a:rPr>
                <a:t>P1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1504950" y="2381250"/>
              <a:ext cx="342900" cy="3429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0071E3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Ellipse 18"/>
            <p:cNvSpPr/>
            <p:nvPr/>
          </p:nvSpPr>
          <p:spPr>
            <a:xfrm>
              <a:off x="1609725" y="2486025"/>
              <a:ext cx="133350" cy="133350"/>
            </a:xfrm>
            <a:prstGeom prst="ellipse">
              <a:avLst/>
            </a:prstGeom>
            <a:solidFill>
              <a:srgbClr val="0071E3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9" name="Rectangle 19"/>
            <p:cNvSpPr/>
            <p:nvPr/>
          </p:nvSpPr>
          <p:spPr>
            <a:xfrm>
              <a:off x="2095500" y="2247900"/>
              <a:ext cx="4514850" cy="723900"/>
            </a:xfrm>
            <a:prstGeom prst="roundRect">
              <a:avLst>
                <a:gd name="adj" fmla="val 21053"/>
              </a:avLst>
            </a:prstGeom>
            <a:solidFill>
              <a:srgbClr val="FFFFFF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345055" y="2368868"/>
              <a:ext cx="221751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统一树莓派与 STM32 协议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348865" y="2667952"/>
              <a:ext cx="296703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增加底盘到位判断，让调度不再只依赖时间估计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109121" y="3200400"/>
            <a:ext cx="5501229" cy="723900"/>
            <a:chOff x="1109121" y="3200400"/>
            <a:chExt cx="5501229" cy="723900"/>
          </a:xfrm>
        </p:grpSpPr>
        <p:sp>
          <p:nvSpPr>
            <p:cNvPr id="23" name="TextBox 23"/>
            <p:cNvSpPr txBox="1"/>
            <p:nvPr/>
          </p:nvSpPr>
          <p:spPr>
            <a:xfrm>
              <a:off x="1109121" y="3440906"/>
              <a:ext cx="16246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b="1" dirty="0">
                  <a:solidFill>
                    <a:srgbClr val="34C759"/>
                  </a:solidFill>
                  <a:latin typeface="Arial"/>
                  <a:ea typeface="Microsoft YaHei"/>
                  <a:cs typeface="Arial"/>
                </a:rPr>
                <a:t>P1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1504950" y="3333750"/>
              <a:ext cx="342900" cy="3429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34C759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5" name="Ellipse 25"/>
            <p:cNvSpPr/>
            <p:nvPr/>
          </p:nvSpPr>
          <p:spPr>
            <a:xfrm>
              <a:off x="1609725" y="3438525"/>
              <a:ext cx="133350" cy="133350"/>
            </a:xfrm>
            <a:prstGeom prst="ellipse">
              <a:avLst/>
            </a:prstGeom>
            <a:solidFill>
              <a:srgbClr val="34C759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6" name="Rectangle 26"/>
            <p:cNvSpPr/>
            <p:nvPr/>
          </p:nvSpPr>
          <p:spPr>
            <a:xfrm>
              <a:off x="2095500" y="3200400"/>
              <a:ext cx="4514850" cy="723900"/>
            </a:xfrm>
            <a:prstGeom prst="roundRect">
              <a:avLst>
                <a:gd name="adj" fmla="val 21053"/>
              </a:avLst>
            </a:prstGeom>
            <a:solidFill>
              <a:srgbClr val="FFFFFF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345055" y="3321368"/>
              <a:ext cx="161263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恢复 IMU yaw 闭环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348865" y="3620452"/>
              <a:ext cx="324707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提高直线保持与转角一致性，降低固定路线误差累积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069741" y="4152900"/>
            <a:ext cx="5540609" cy="723900"/>
            <a:chOff x="1069741" y="4152900"/>
            <a:chExt cx="5540609" cy="723900"/>
          </a:xfrm>
        </p:grpSpPr>
        <p:sp>
          <p:nvSpPr>
            <p:cNvPr id="30" name="TextBox 30"/>
            <p:cNvSpPr txBox="1"/>
            <p:nvPr/>
          </p:nvSpPr>
          <p:spPr>
            <a:xfrm>
              <a:off x="1069741" y="4393406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b="1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P2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1524000" y="4305300"/>
              <a:ext cx="304800" cy="304800"/>
            </a:xfrm>
            <a:prstGeom prst="ellipse">
              <a:avLst/>
            </a:prstGeom>
            <a:solidFill>
              <a:srgbClr val="F5F5F7"/>
            </a:solidFill>
            <a:ln w="28575">
              <a:solidFill>
                <a:srgbClr val="A1A1A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" name="Ellipse 32"/>
            <p:cNvSpPr/>
            <p:nvPr/>
          </p:nvSpPr>
          <p:spPr>
            <a:xfrm>
              <a:off x="1619250" y="4400550"/>
              <a:ext cx="114300" cy="114300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3" name="Rectangle 33"/>
            <p:cNvSpPr/>
            <p:nvPr/>
          </p:nvSpPr>
          <p:spPr>
            <a:xfrm>
              <a:off x="2095500" y="4152900"/>
              <a:ext cx="4514850" cy="723900"/>
            </a:xfrm>
            <a:prstGeom prst="roundRect">
              <a:avLst>
                <a:gd name="adj" fmla="val 21053"/>
              </a:avLst>
            </a:prstGeom>
            <a:solidFill>
              <a:srgbClr val="FFFFFF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345055" y="4273868"/>
              <a:ext cx="24915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恢复测距安全或替代传感方案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348865" y="4572952"/>
              <a:ext cx="296703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为低速搬运、对位停车与障碍保护提供输入基础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069741" y="5105400"/>
            <a:ext cx="5540609" cy="723900"/>
            <a:chOff x="1069741" y="5105400"/>
            <a:chExt cx="5540609" cy="723900"/>
          </a:xfrm>
        </p:grpSpPr>
        <p:sp>
          <p:nvSpPr>
            <p:cNvPr id="37" name="TextBox 37"/>
            <p:cNvSpPr txBox="1"/>
            <p:nvPr/>
          </p:nvSpPr>
          <p:spPr>
            <a:xfrm>
              <a:off x="1069741" y="5345906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b="1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P2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1524000" y="5257800"/>
              <a:ext cx="304800" cy="304800"/>
            </a:xfrm>
            <a:prstGeom prst="ellipse">
              <a:avLst/>
            </a:prstGeom>
            <a:solidFill>
              <a:srgbClr val="F5F5F7"/>
            </a:solidFill>
            <a:ln w="28575">
              <a:solidFill>
                <a:srgbClr val="A1A1A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" name="Ellipse 39"/>
            <p:cNvSpPr/>
            <p:nvPr/>
          </p:nvSpPr>
          <p:spPr>
            <a:xfrm>
              <a:off x="1619250" y="5353050"/>
              <a:ext cx="114300" cy="114300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0" name="Rectangle 40"/>
            <p:cNvSpPr/>
            <p:nvPr/>
          </p:nvSpPr>
          <p:spPr>
            <a:xfrm>
              <a:off x="2095500" y="5105400"/>
              <a:ext cx="4514850" cy="723900"/>
            </a:xfrm>
            <a:prstGeom prst="roundRect">
              <a:avLst>
                <a:gd name="adj" fmla="val 21053"/>
              </a:avLst>
            </a:prstGeom>
            <a:solidFill>
              <a:srgbClr val="FFFFFF"/>
            </a:solidFill>
            <a:ln w="9525">
              <a:solidFill>
                <a:srgbClr val="D2D2D7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345055" y="5226368"/>
              <a:ext cx="173550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建立完整任务状态机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348865" y="5525452"/>
              <a:ext cx="296703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串联扫码、识别、抓取、运输、投放与异常处理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7334250" y="1352550"/>
            <a:ext cx="3752850" cy="4476750"/>
            <a:chOff x="7334250" y="1352550"/>
            <a:chExt cx="3752850" cy="4476750"/>
          </a:xfrm>
        </p:grpSpPr>
        <p:sp>
          <p:nvSpPr>
            <p:cNvPr id="44" name="Rectangle 44"/>
            <p:cNvSpPr/>
            <p:nvPr/>
          </p:nvSpPr>
          <p:spPr>
            <a:xfrm>
              <a:off x="7334250" y="1352550"/>
              <a:ext cx="3752850" cy="4476750"/>
            </a:xfrm>
            <a:prstGeom prst="roundRect">
              <a:avLst>
                <a:gd name="adj" fmla="val 7107"/>
              </a:avLst>
            </a:prstGeom>
            <a:solidFill>
              <a:srgbClr val="1D1D1F">
                <a:alpha val="90000"/>
              </a:srgbClr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709535" y="1637348"/>
              <a:ext cx="1141667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闭环目标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740015" y="2058352"/>
              <a:ext cx="243497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A1A1A6"/>
                  </a:solidFill>
                  <a:latin typeface="Arial"/>
                  <a:ea typeface="Microsoft YaHei"/>
                  <a:cs typeface="Arial"/>
                </a:rPr>
                <a:t>从“动作能执行”推进到“状态可判断”。</a:t>
              </a:r>
            </a:p>
          </p:txBody>
        </p:sp>
        <p:grpSp>
          <p:nvGrpSpPr>
            <p:cNvPr id="63" name="Group 63"/>
            <p:cNvGrpSpPr/>
            <p:nvPr/>
          </p:nvGrpSpPr>
          <p:grpSpPr>
            <a:xfrm>
              <a:off x="7762875" y="2581275"/>
              <a:ext cx="2229803" cy="502444"/>
              <a:chOff x="7762875" y="2581275"/>
              <a:chExt cx="2229803" cy="502444"/>
            </a:xfrm>
          </p:grpSpPr>
          <p:sp>
            <p:nvSpPr>
              <p:cNvPr id="47" name="Ellipse 47"/>
              <p:cNvSpPr/>
              <p:nvPr/>
            </p:nvSpPr>
            <p:spPr>
              <a:xfrm>
                <a:off x="7762875" y="2581275"/>
                <a:ext cx="438150" cy="438150"/>
              </a:xfrm>
              <a:prstGeom prst="ellipse">
                <a:avLst/>
              </a:prstGeom>
              <a:solidFill>
                <a:srgbClr val="0071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60" name="Group 60"/>
              <p:cNvGrpSpPr/>
              <p:nvPr/>
            </p:nvGrpSpPr>
            <p:grpSpPr>
              <a:xfrm>
                <a:off x="7893050" y="2711450"/>
                <a:ext cx="187325" cy="187325"/>
                <a:chOff x="7893050" y="2711450"/>
                <a:chExt cx="187325" cy="187325"/>
              </a:xfrm>
            </p:grpSpPr>
            <p:sp>
              <p:nvSpPr>
                <p:cNvPr id="48" name="Freeform 48"/>
                <p:cNvSpPr/>
                <p:nvPr/>
              </p:nvSpPr>
              <p:spPr>
                <a:xfrm>
                  <a:off x="7893050" y="2711450"/>
                  <a:ext cx="66675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66675">
                      <a:moveTo>
                        <a:pt x="0" y="11112"/>
                      </a:moveTo>
                      <a:cubicBezTo>
                        <a:pt x="0" y="4975"/>
                        <a:pt x="4975" y="0"/>
                        <a:pt x="11113" y="0"/>
                      </a:cubicBezTo>
                      <a:lnTo>
                        <a:pt x="55563" y="0"/>
                      </a:lnTo>
                      <a:cubicBezTo>
                        <a:pt x="61700" y="0"/>
                        <a:pt x="66675" y="4975"/>
                        <a:pt x="66675" y="11112"/>
                      </a:cubicBezTo>
                      <a:lnTo>
                        <a:pt x="66675" y="55562"/>
                      </a:lnTo>
                      <a:cubicBezTo>
                        <a:pt x="66675" y="61700"/>
                        <a:pt x="61700" y="66675"/>
                        <a:pt x="55563" y="66675"/>
                      </a:cubicBezTo>
                      <a:lnTo>
                        <a:pt x="11113" y="66675"/>
                      </a:lnTo>
                      <a:cubicBezTo>
                        <a:pt x="4975" y="66675"/>
                        <a:pt x="0" y="61700"/>
                        <a:pt x="0" y="55562"/>
                      </a:cubicBezTo>
                      <a:lnTo>
                        <a:pt x="0" y="11112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9" name="Freeform 49"/>
                <p:cNvSpPr/>
                <p:nvPr/>
              </p:nvSpPr>
              <p:spPr>
                <a:xfrm>
                  <a:off x="7926388" y="285591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11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0" name="Freeform 50"/>
                <p:cNvSpPr/>
                <p:nvPr/>
              </p:nvSpPr>
              <p:spPr>
                <a:xfrm>
                  <a:off x="8004175" y="2711450"/>
                  <a:ext cx="66675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66675">
                      <a:moveTo>
                        <a:pt x="0" y="11112"/>
                      </a:moveTo>
                      <a:cubicBezTo>
                        <a:pt x="0" y="4975"/>
                        <a:pt x="4975" y="0"/>
                        <a:pt x="11112" y="0"/>
                      </a:cubicBezTo>
                      <a:lnTo>
                        <a:pt x="55562" y="0"/>
                      </a:lnTo>
                      <a:cubicBezTo>
                        <a:pt x="61700" y="0"/>
                        <a:pt x="66675" y="4975"/>
                        <a:pt x="66675" y="11112"/>
                      </a:cubicBezTo>
                      <a:lnTo>
                        <a:pt x="66675" y="55562"/>
                      </a:lnTo>
                      <a:cubicBezTo>
                        <a:pt x="66675" y="61700"/>
                        <a:pt x="61700" y="66675"/>
                        <a:pt x="55562" y="66675"/>
                      </a:cubicBezTo>
                      <a:lnTo>
                        <a:pt x="11112" y="66675"/>
                      </a:lnTo>
                      <a:cubicBezTo>
                        <a:pt x="4975" y="66675"/>
                        <a:pt x="0" y="61700"/>
                        <a:pt x="0" y="55562"/>
                      </a:cubicBezTo>
                      <a:lnTo>
                        <a:pt x="0" y="11112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1" name="Freeform 51"/>
                <p:cNvSpPr/>
                <p:nvPr/>
              </p:nvSpPr>
              <p:spPr>
                <a:xfrm>
                  <a:off x="7926388" y="274478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11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2" name="Freeform 52"/>
                <p:cNvSpPr/>
                <p:nvPr/>
              </p:nvSpPr>
              <p:spPr>
                <a:xfrm>
                  <a:off x="7893050" y="2822575"/>
                  <a:ext cx="66675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66675">
                      <a:moveTo>
                        <a:pt x="0" y="11113"/>
                      </a:moveTo>
                      <a:cubicBezTo>
                        <a:pt x="0" y="4975"/>
                        <a:pt x="4975" y="0"/>
                        <a:pt x="11113" y="0"/>
                      </a:cubicBezTo>
                      <a:lnTo>
                        <a:pt x="55563" y="0"/>
                      </a:lnTo>
                      <a:cubicBezTo>
                        <a:pt x="61700" y="0"/>
                        <a:pt x="66675" y="4975"/>
                        <a:pt x="66675" y="11113"/>
                      </a:cubicBezTo>
                      <a:lnTo>
                        <a:pt x="66675" y="55563"/>
                      </a:lnTo>
                      <a:cubicBezTo>
                        <a:pt x="66675" y="61700"/>
                        <a:pt x="61700" y="66675"/>
                        <a:pt x="55563" y="66675"/>
                      </a:cubicBezTo>
                      <a:lnTo>
                        <a:pt x="11113" y="66675"/>
                      </a:lnTo>
                      <a:cubicBezTo>
                        <a:pt x="4975" y="66675"/>
                        <a:pt x="0" y="61700"/>
                        <a:pt x="0" y="55563"/>
                      </a:cubicBezTo>
                      <a:lnTo>
                        <a:pt x="0" y="11113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8037512" y="274478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11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4" name="Freeform 54"/>
                <p:cNvSpPr/>
                <p:nvPr/>
              </p:nvSpPr>
              <p:spPr>
                <a:xfrm>
                  <a:off x="8004175" y="2822575"/>
                  <a:ext cx="33338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9525">
                      <a:moveTo>
                        <a:pt x="0" y="0"/>
                      </a:moveTo>
                      <a:lnTo>
                        <a:pt x="33338" y="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5" name="Freeform 55"/>
                <p:cNvSpPr/>
                <p:nvPr/>
              </p:nvSpPr>
              <p:spPr>
                <a:xfrm>
                  <a:off x="8070850" y="282257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11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6" name="Freeform 56"/>
                <p:cNvSpPr/>
                <p:nvPr/>
              </p:nvSpPr>
              <p:spPr>
                <a:xfrm>
                  <a:off x="8004175" y="2822575"/>
                  <a:ext cx="9525" cy="33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3338">
                      <a:moveTo>
                        <a:pt x="0" y="0"/>
                      </a:moveTo>
                      <a:lnTo>
                        <a:pt x="0" y="33338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7" name="Freeform 57"/>
                <p:cNvSpPr/>
                <p:nvPr/>
              </p:nvSpPr>
              <p:spPr>
                <a:xfrm>
                  <a:off x="8004175" y="2889250"/>
                  <a:ext cx="33338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9525">
                      <a:moveTo>
                        <a:pt x="0" y="0"/>
                      </a:moveTo>
                      <a:lnTo>
                        <a:pt x="33338" y="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8" name="Freeform 58"/>
                <p:cNvSpPr/>
                <p:nvPr/>
              </p:nvSpPr>
              <p:spPr>
                <a:xfrm>
                  <a:off x="8037512" y="2855912"/>
                  <a:ext cx="33338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9525">
                      <a:moveTo>
                        <a:pt x="0" y="0"/>
                      </a:moveTo>
                      <a:lnTo>
                        <a:pt x="33338" y="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9" name="Freeform 59"/>
                <p:cNvSpPr/>
                <p:nvPr/>
              </p:nvSpPr>
              <p:spPr>
                <a:xfrm>
                  <a:off x="8070850" y="2855912"/>
                  <a:ext cx="9525" cy="33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3338">
                      <a:moveTo>
                        <a:pt x="0" y="0"/>
                      </a:moveTo>
                      <a:lnTo>
                        <a:pt x="0" y="33338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61" name="TextBox 61"/>
              <p:cNvSpPr txBox="1"/>
              <p:nvPr/>
            </p:nvSpPr>
            <p:spPr>
              <a:xfrm>
                <a:off x="8403908" y="2605564"/>
                <a:ext cx="746474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任务输入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8407718" y="2885599"/>
                <a:ext cx="158496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A1A1A6"/>
                    </a:solidFill>
                    <a:latin typeface="Arial"/>
                    <a:ea typeface="Microsoft YaHei"/>
                    <a:cs typeface="Arial"/>
                  </a:rPr>
                  <a:t>二维码解析搬运对象与顺序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7762875" y="3362325"/>
              <a:ext cx="2476834" cy="502444"/>
              <a:chOff x="7762875" y="3362325"/>
              <a:chExt cx="2476834" cy="502444"/>
            </a:xfrm>
          </p:grpSpPr>
          <p:sp>
            <p:nvSpPr>
              <p:cNvPr id="64" name="Ellipse 64"/>
              <p:cNvSpPr/>
              <p:nvPr/>
            </p:nvSpPr>
            <p:spPr>
              <a:xfrm>
                <a:off x="7762875" y="3362325"/>
                <a:ext cx="438150" cy="438150"/>
              </a:xfrm>
              <a:prstGeom prst="ellipse">
                <a:avLst/>
              </a:prstGeom>
              <a:solidFill>
                <a:srgbClr val="34C759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70" name="Group 70"/>
              <p:cNvGrpSpPr/>
              <p:nvPr/>
            </p:nvGrpSpPr>
            <p:grpSpPr>
              <a:xfrm>
                <a:off x="7881938" y="3492500"/>
                <a:ext cx="209549" cy="188913"/>
                <a:chOff x="7881938" y="3492500"/>
                <a:chExt cx="209549" cy="188913"/>
              </a:xfrm>
            </p:grpSpPr>
            <p:sp>
              <p:nvSpPr>
                <p:cNvPr id="65" name="Freeform 65"/>
                <p:cNvSpPr/>
                <p:nvPr/>
              </p:nvSpPr>
              <p:spPr>
                <a:xfrm>
                  <a:off x="7881938" y="3492500"/>
                  <a:ext cx="200025" cy="177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177800">
                      <a:moveTo>
                        <a:pt x="77787" y="177800"/>
                      </a:moveTo>
                      <a:lnTo>
                        <a:pt x="22225" y="177800"/>
                      </a:lnTo>
                      <a:cubicBezTo>
                        <a:pt x="9950" y="177800"/>
                        <a:pt x="0" y="167850"/>
                        <a:pt x="0" y="155575"/>
                      </a:cubicBezTo>
                      <a:lnTo>
                        <a:pt x="0" y="55562"/>
                      </a:lnTo>
                      <a:cubicBezTo>
                        <a:pt x="0" y="43288"/>
                        <a:pt x="9950" y="33338"/>
                        <a:pt x="22225" y="33338"/>
                      </a:cubicBezTo>
                      <a:lnTo>
                        <a:pt x="33338" y="33338"/>
                      </a:lnTo>
                      <a:cubicBezTo>
                        <a:pt x="45612" y="33338"/>
                        <a:pt x="55563" y="23387"/>
                        <a:pt x="55563" y="11112"/>
                      </a:cubicBezTo>
                      <a:cubicBezTo>
                        <a:pt x="55563" y="4975"/>
                        <a:pt x="60538" y="0"/>
                        <a:pt x="66675" y="0"/>
                      </a:cubicBezTo>
                      <a:lnTo>
                        <a:pt x="133350" y="0"/>
                      </a:lnTo>
                      <a:cubicBezTo>
                        <a:pt x="139487" y="0"/>
                        <a:pt x="144462" y="4975"/>
                        <a:pt x="144462" y="11112"/>
                      </a:cubicBezTo>
                      <a:cubicBezTo>
                        <a:pt x="144462" y="23387"/>
                        <a:pt x="154413" y="33338"/>
                        <a:pt x="166688" y="33338"/>
                      </a:cubicBezTo>
                      <a:lnTo>
                        <a:pt x="177800" y="33338"/>
                      </a:lnTo>
                      <a:cubicBezTo>
                        <a:pt x="190075" y="33338"/>
                        <a:pt x="200025" y="43288"/>
                        <a:pt x="200025" y="55562"/>
                      </a:cubicBezTo>
                      <a:lnTo>
                        <a:pt x="200025" y="77787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66" name="Freeform 66"/>
                <p:cNvSpPr/>
                <p:nvPr/>
              </p:nvSpPr>
              <p:spPr>
                <a:xfrm>
                  <a:off x="7946681" y="3557083"/>
                  <a:ext cx="61517" cy="622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517" h="62244">
                      <a:moveTo>
                        <a:pt x="61517" y="14872"/>
                      </a:moveTo>
                      <a:cubicBezTo>
                        <a:pt x="53507" y="4644"/>
                        <a:pt x="40286" y="0"/>
                        <a:pt x="27641" y="2973"/>
                      </a:cubicBezTo>
                      <a:cubicBezTo>
                        <a:pt x="14995" y="5946"/>
                        <a:pt x="5227" y="15993"/>
                        <a:pt x="2614" y="28718"/>
                      </a:cubicBezTo>
                      <a:cubicBezTo>
                        <a:pt x="0" y="41443"/>
                        <a:pt x="5016" y="54528"/>
                        <a:pt x="15466" y="62244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67" name="Freeform 67"/>
                <p:cNvSpPr/>
                <p:nvPr/>
              </p:nvSpPr>
              <p:spPr>
                <a:xfrm>
                  <a:off x="8004175" y="3614738"/>
                  <a:ext cx="4445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66675">
                      <a:moveTo>
                        <a:pt x="0" y="66675"/>
                      </a:moveTo>
                      <a:lnTo>
                        <a:pt x="0" y="22225"/>
                      </a:lnTo>
                      <a:cubicBezTo>
                        <a:pt x="0" y="9950"/>
                        <a:pt x="9950" y="0"/>
                        <a:pt x="22225" y="0"/>
                      </a:cubicBezTo>
                      <a:cubicBezTo>
                        <a:pt x="34500" y="0"/>
                        <a:pt x="44450" y="9950"/>
                        <a:pt x="44450" y="22225"/>
                      </a:cubicBezTo>
                      <a:lnTo>
                        <a:pt x="44450" y="66675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68" name="Freeform 68"/>
                <p:cNvSpPr/>
                <p:nvPr/>
              </p:nvSpPr>
              <p:spPr>
                <a:xfrm>
                  <a:off x="8004175" y="3659188"/>
                  <a:ext cx="44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9525">
                      <a:moveTo>
                        <a:pt x="0" y="0"/>
                      </a:moveTo>
                      <a:lnTo>
                        <a:pt x="44450" y="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69" name="Freeform 69"/>
                <p:cNvSpPr/>
                <p:nvPr/>
              </p:nvSpPr>
              <p:spPr>
                <a:xfrm>
                  <a:off x="8081962" y="3614738"/>
                  <a:ext cx="9525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66675">
                      <a:moveTo>
                        <a:pt x="0" y="0"/>
                      </a:moveTo>
                      <a:lnTo>
                        <a:pt x="0" y="66675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71" name="TextBox 71"/>
              <p:cNvSpPr txBox="1"/>
              <p:nvPr/>
            </p:nvSpPr>
            <p:spPr>
              <a:xfrm>
                <a:off x="8403908" y="3386614"/>
                <a:ext cx="746474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状态感知</a:t>
                </a:r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8407718" y="3666649"/>
                <a:ext cx="183199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A1A1A6"/>
                    </a:solidFill>
                    <a:latin typeface="Arial"/>
                    <a:ea typeface="Microsoft YaHei"/>
                    <a:cs typeface="Arial"/>
                  </a:rPr>
                  <a:t>视觉、IMU 与到位判断形成反馈</a:t>
                </a:r>
              </a:p>
            </p:txBody>
          </p:sp>
        </p:grpSp>
        <p:grpSp>
          <p:nvGrpSpPr>
            <p:cNvPr id="80" name="Group 80"/>
            <p:cNvGrpSpPr/>
            <p:nvPr/>
          </p:nvGrpSpPr>
          <p:grpSpPr>
            <a:xfrm>
              <a:off x="7762875" y="4143375"/>
              <a:ext cx="2489835" cy="502444"/>
              <a:chOff x="7762875" y="4143375"/>
              <a:chExt cx="2489835" cy="502444"/>
            </a:xfrm>
          </p:grpSpPr>
          <p:sp>
            <p:nvSpPr>
              <p:cNvPr id="74" name="Ellipse 74"/>
              <p:cNvSpPr/>
              <p:nvPr/>
            </p:nvSpPr>
            <p:spPr>
              <a:xfrm>
                <a:off x="7762875" y="4143375"/>
                <a:ext cx="438150" cy="438150"/>
              </a:xfrm>
              <a:prstGeom prst="ellipse">
                <a:avLst/>
              </a:prstGeom>
              <a:solidFill>
                <a:srgbClr val="0071E3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77" name="Group 77"/>
              <p:cNvGrpSpPr/>
              <p:nvPr/>
            </p:nvGrpSpPr>
            <p:grpSpPr>
              <a:xfrm>
                <a:off x="7877059" y="4257559"/>
                <a:ext cx="209782" cy="209782"/>
                <a:chOff x="7877059" y="4257559"/>
                <a:chExt cx="209782" cy="209782"/>
              </a:xfrm>
            </p:grpSpPr>
            <p:sp>
              <p:nvSpPr>
                <p:cNvPr id="75" name="Freeform 75"/>
                <p:cNvSpPr/>
                <p:nvPr/>
              </p:nvSpPr>
              <p:spPr>
                <a:xfrm>
                  <a:off x="7877059" y="4257559"/>
                  <a:ext cx="209782" cy="2097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782" h="209782">
                      <a:moveTo>
                        <a:pt x="86277" y="19514"/>
                      </a:moveTo>
                      <a:cubicBezTo>
                        <a:pt x="91011" y="0"/>
                        <a:pt x="118770" y="0"/>
                        <a:pt x="123504" y="19514"/>
                      </a:cubicBezTo>
                      <a:cubicBezTo>
                        <a:pt x="124945" y="25459"/>
                        <a:pt x="129139" y="30360"/>
                        <a:pt x="134791" y="32701"/>
                      </a:cubicBezTo>
                      <a:cubicBezTo>
                        <a:pt x="140443" y="35043"/>
                        <a:pt x="146873" y="34544"/>
                        <a:pt x="152097" y="31359"/>
                      </a:cubicBezTo>
                      <a:cubicBezTo>
                        <a:pt x="169243" y="20914"/>
                        <a:pt x="188879" y="40538"/>
                        <a:pt x="178433" y="57696"/>
                      </a:cubicBezTo>
                      <a:cubicBezTo>
                        <a:pt x="175253" y="62917"/>
                        <a:pt x="174756" y="69343"/>
                        <a:pt x="177095" y="74991"/>
                      </a:cubicBezTo>
                      <a:cubicBezTo>
                        <a:pt x="179434" y="80640"/>
                        <a:pt x="184328" y="84833"/>
                        <a:pt x="190268" y="86277"/>
                      </a:cubicBezTo>
                      <a:cubicBezTo>
                        <a:pt x="209782" y="91011"/>
                        <a:pt x="209782" y="118770"/>
                        <a:pt x="190268" y="123504"/>
                      </a:cubicBezTo>
                      <a:cubicBezTo>
                        <a:pt x="184322" y="124945"/>
                        <a:pt x="179422" y="129139"/>
                        <a:pt x="177081" y="134791"/>
                      </a:cubicBezTo>
                      <a:cubicBezTo>
                        <a:pt x="174739" y="140443"/>
                        <a:pt x="175237" y="146873"/>
                        <a:pt x="178422" y="152097"/>
                      </a:cubicBezTo>
                      <a:cubicBezTo>
                        <a:pt x="188868" y="169243"/>
                        <a:pt x="169243" y="188879"/>
                        <a:pt x="152086" y="178433"/>
                      </a:cubicBezTo>
                      <a:cubicBezTo>
                        <a:pt x="146864" y="175253"/>
                        <a:pt x="140439" y="174756"/>
                        <a:pt x="134790" y="177095"/>
                      </a:cubicBezTo>
                      <a:cubicBezTo>
                        <a:pt x="129142" y="179434"/>
                        <a:pt x="124949" y="184328"/>
                        <a:pt x="123504" y="190268"/>
                      </a:cubicBezTo>
                      <a:cubicBezTo>
                        <a:pt x="118770" y="209782"/>
                        <a:pt x="91011" y="209782"/>
                        <a:pt x="86277" y="190268"/>
                      </a:cubicBezTo>
                      <a:cubicBezTo>
                        <a:pt x="84837" y="184322"/>
                        <a:pt x="80643" y="179422"/>
                        <a:pt x="74991" y="177081"/>
                      </a:cubicBezTo>
                      <a:cubicBezTo>
                        <a:pt x="69339" y="174739"/>
                        <a:pt x="62909" y="175237"/>
                        <a:pt x="57685" y="178422"/>
                      </a:cubicBezTo>
                      <a:cubicBezTo>
                        <a:pt x="40538" y="188868"/>
                        <a:pt x="20903" y="169243"/>
                        <a:pt x="31348" y="152086"/>
                      </a:cubicBezTo>
                      <a:cubicBezTo>
                        <a:pt x="34529" y="146864"/>
                        <a:pt x="35026" y="140439"/>
                        <a:pt x="32687" y="134790"/>
                      </a:cubicBezTo>
                      <a:cubicBezTo>
                        <a:pt x="30348" y="129142"/>
                        <a:pt x="25454" y="124949"/>
                        <a:pt x="19514" y="123504"/>
                      </a:cubicBezTo>
                      <a:cubicBezTo>
                        <a:pt x="0" y="118770"/>
                        <a:pt x="0" y="91011"/>
                        <a:pt x="19514" y="86277"/>
                      </a:cubicBezTo>
                      <a:cubicBezTo>
                        <a:pt x="25459" y="84837"/>
                        <a:pt x="30360" y="80643"/>
                        <a:pt x="32701" y="74991"/>
                      </a:cubicBezTo>
                      <a:cubicBezTo>
                        <a:pt x="35043" y="69339"/>
                        <a:pt x="34544" y="62909"/>
                        <a:pt x="31359" y="57685"/>
                      </a:cubicBezTo>
                      <a:cubicBezTo>
                        <a:pt x="20914" y="40538"/>
                        <a:pt x="40538" y="20903"/>
                        <a:pt x="57696" y="31348"/>
                      </a:cubicBezTo>
                      <a:cubicBezTo>
                        <a:pt x="68809" y="38105"/>
                        <a:pt x="83210" y="32126"/>
                        <a:pt x="86277" y="19514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76" name="Freeform 76"/>
                <p:cNvSpPr/>
                <p:nvPr/>
              </p:nvSpPr>
              <p:spPr>
                <a:xfrm>
                  <a:off x="7959725" y="4329112"/>
                  <a:ext cx="55563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563" h="66675">
                      <a:moveTo>
                        <a:pt x="0" y="0"/>
                      </a:moveTo>
                      <a:lnTo>
                        <a:pt x="0" y="66675"/>
                      </a:lnTo>
                      <a:lnTo>
                        <a:pt x="55563" y="33338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78" name="TextBox 78"/>
              <p:cNvSpPr txBox="1"/>
              <p:nvPr/>
            </p:nvSpPr>
            <p:spPr>
              <a:xfrm>
                <a:off x="8403908" y="4167664"/>
                <a:ext cx="746474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动作调度</a:t>
                </a:r>
              </a:p>
            </p:txBody>
          </p:sp>
          <p:sp>
            <p:nvSpPr>
              <p:cNvPr id="79" name="TextBox 79"/>
              <p:cNvSpPr txBox="1"/>
              <p:nvPr/>
            </p:nvSpPr>
            <p:spPr>
              <a:xfrm>
                <a:off x="8407718" y="4447699"/>
                <a:ext cx="184499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A1A1A6"/>
                    </a:solidFill>
                    <a:latin typeface="Arial"/>
                    <a:ea typeface="Microsoft YaHei"/>
                    <a:cs typeface="Arial"/>
                  </a:rPr>
                  <a:t>底盘与机械臂按状态机协同执行</a:t>
                </a:r>
              </a:p>
            </p:txBody>
          </p:sp>
        </p:grpSp>
        <p:sp>
          <p:nvSpPr>
            <p:cNvPr id="81" name="Line 81"/>
            <p:cNvSpPr/>
            <p:nvPr/>
          </p:nvSpPr>
          <p:spPr>
            <a:xfrm>
              <a:off x="7981950" y="3057525"/>
              <a:ext cx="9525" cy="266700"/>
            </a:xfrm>
            <a:custGeom>
              <a:avLst/>
              <a:gdLst/>
              <a:ahLst/>
              <a:cxnLst/>
              <a:rect l="l" t="t" r="r" b="b"/>
              <a:pathLst>
                <a:path w="9525" h="266700">
                  <a:moveTo>
                    <a:pt x="0" y="0"/>
                  </a:moveTo>
                  <a:lnTo>
                    <a:pt x="0" y="266700"/>
                  </a:lnTo>
                </a:path>
              </a:pathLst>
            </a:custGeom>
            <a:noFill/>
            <a:ln w="19050">
              <a:solidFill>
                <a:srgbClr val="FFFFFF">
                  <a:alpha val="34000"/>
                </a:srgbClr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2" name="Line 82"/>
            <p:cNvSpPr/>
            <p:nvPr/>
          </p:nvSpPr>
          <p:spPr>
            <a:xfrm>
              <a:off x="7981950" y="3838575"/>
              <a:ext cx="9525" cy="266700"/>
            </a:xfrm>
            <a:custGeom>
              <a:avLst/>
              <a:gdLst/>
              <a:ahLst/>
              <a:cxnLst/>
              <a:rect l="l" t="t" r="r" b="b"/>
              <a:pathLst>
                <a:path w="9525" h="266700">
                  <a:moveTo>
                    <a:pt x="0" y="0"/>
                  </a:moveTo>
                  <a:lnTo>
                    <a:pt x="0" y="266700"/>
                  </a:lnTo>
                </a:path>
              </a:pathLst>
            </a:custGeom>
            <a:noFill/>
            <a:ln w="19050">
              <a:solidFill>
                <a:srgbClr val="FFFFFF">
                  <a:alpha val="34000"/>
                </a:srgbClr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3" name="Rectangle 83"/>
            <p:cNvSpPr/>
            <p:nvPr/>
          </p:nvSpPr>
          <p:spPr>
            <a:xfrm>
              <a:off x="7753350" y="5105400"/>
              <a:ext cx="2914650" cy="40005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10000"/>
              </a:srgbClr>
            </a:solidFill>
            <a:ln w="9525">
              <a:solidFill>
                <a:srgbClr val="FFFFFF">
                  <a:alpha val="18000"/>
                </a:srgbClr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8172510" y="5241131"/>
              <a:ext cx="207633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真实可验收，而不是口头完成</a:t>
              </a:r>
            </a:p>
          </p:txBody>
        </p:sp>
      </p:grpSp>
      <p:sp>
        <p:nvSpPr>
          <p:cNvPr id="87" name="TextBox 87"/>
          <p:cNvSpPr txBox="1"/>
          <p:nvPr/>
        </p:nvSpPr>
        <p:spPr>
          <a:xfrm>
            <a:off x="11202257" y="6532245"/>
            <a:ext cx="1248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A1A1A6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5" grpId="0"/>
      <p:bldP spid="22" grpId="0"/>
      <p:bldP spid="29" grpId="0"/>
      <p:bldP spid="36" grpId="0"/>
      <p:bldP spid="43" grpId="0"/>
      <p:bldP spid="8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71E3">
                  <a:alpha val="12000"/>
                </a:srgbClr>
              </a:gs>
              <a:gs pos="100000">
                <a:srgbClr val="0071E3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11" name="Group 11"/>
          <p:cNvGrpSpPr/>
          <p:nvPr/>
        </p:nvGrpSpPr>
        <p:grpSpPr>
          <a:xfrm>
            <a:off x="558165" y="716756"/>
            <a:ext cx="6232475" cy="3274219"/>
            <a:chOff x="558165" y="716756"/>
            <a:chExt cx="6232475" cy="3274219"/>
          </a:xfrm>
        </p:grpSpPr>
        <p:sp>
          <p:nvSpPr>
            <p:cNvPr id="4" name="TextBox 4"/>
            <p:cNvSpPr txBox="1"/>
            <p:nvPr/>
          </p:nvSpPr>
          <p:spPr>
            <a:xfrm>
              <a:off x="595312" y="716756"/>
              <a:ext cx="144625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商业应用与项目收束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58165" y="1277302"/>
              <a:ext cx="2938224" cy="8229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05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小车之外，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58165" y="1944052"/>
              <a:ext cx="6232475" cy="6232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050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rPr>
                <a:t>是一套智能搬运单元的雏形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47700" y="2705100"/>
              <a:ext cx="33528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071E3"/>
                </a:gs>
                <a:gs pos="100000">
                  <a:srgbClr val="34C759"/>
                </a:gs>
              </a:gsLst>
              <a:lin ang="0" scaled="1"/>
            </a:gra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0550" y="3038475"/>
              <a:ext cx="30384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它的价值不止在比赛或课程演示，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90550" y="3362325"/>
              <a:ext cx="38385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而在于把嵌入式控制、视觉感知和动作执行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90550" y="3686175"/>
              <a:ext cx="3238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rPr>
                <a:t>组织成一个可继续验证的系统平台。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781050" y="4106862"/>
            <a:ext cx="10058065" cy="1684338"/>
            <a:chOff x="781050" y="4106862"/>
            <a:chExt cx="10058065" cy="1684338"/>
          </a:xfrm>
        </p:grpSpPr>
        <p:grpSp>
          <p:nvGrpSpPr>
            <p:cNvPr id="38" name="Group 38"/>
            <p:cNvGrpSpPr/>
            <p:nvPr/>
          </p:nvGrpSpPr>
          <p:grpSpPr>
            <a:xfrm>
              <a:off x="781050" y="4121944"/>
              <a:ext cx="1650206" cy="1669256"/>
              <a:chOff x="781050" y="4121944"/>
              <a:chExt cx="1650206" cy="1669256"/>
            </a:xfrm>
          </p:grpSpPr>
          <p:sp>
            <p:nvSpPr>
              <p:cNvPr id="23" name="Line 23"/>
              <p:cNvSpPr/>
              <p:nvPr/>
            </p:nvSpPr>
            <p:spPr>
              <a:xfrm>
                <a:off x="781050" y="4133850"/>
                <a:ext cx="9525" cy="16573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657350">
                    <a:moveTo>
                      <a:pt x="0" y="0"/>
                    </a:moveTo>
                    <a:lnTo>
                      <a:pt x="0" y="1657350"/>
                    </a:lnTo>
                  </a:path>
                </a:pathLst>
              </a:custGeom>
              <a:noFill/>
              <a:ln w="47625" cap="rnd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34" name="Group 34"/>
              <p:cNvGrpSpPr/>
              <p:nvPr/>
            </p:nvGrpSpPr>
            <p:grpSpPr>
              <a:xfrm>
                <a:off x="1112044" y="4121944"/>
                <a:ext cx="271462" cy="271463"/>
                <a:chOff x="1112044" y="4121944"/>
                <a:chExt cx="271462" cy="271463"/>
              </a:xfrm>
            </p:grpSpPr>
            <p:sp>
              <p:nvSpPr>
                <p:cNvPr id="24" name="Freeform 24"/>
                <p:cNvSpPr/>
                <p:nvPr/>
              </p:nvSpPr>
              <p:spPr>
                <a:xfrm>
                  <a:off x="1142206" y="4152106"/>
                  <a:ext cx="211138" cy="2111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1138" h="211137">
                      <a:moveTo>
                        <a:pt x="0" y="15081"/>
                      </a:moveTo>
                      <a:cubicBezTo>
                        <a:pt x="0" y="6752"/>
                        <a:pt x="6752" y="0"/>
                        <a:pt x="15081" y="0"/>
                      </a:cubicBezTo>
                      <a:lnTo>
                        <a:pt x="196056" y="0"/>
                      </a:lnTo>
                      <a:cubicBezTo>
                        <a:pt x="204385" y="0"/>
                        <a:pt x="211138" y="6752"/>
                        <a:pt x="211138" y="15081"/>
                      </a:cubicBezTo>
                      <a:lnTo>
                        <a:pt x="211138" y="196056"/>
                      </a:lnTo>
                      <a:cubicBezTo>
                        <a:pt x="211138" y="204385"/>
                        <a:pt x="204385" y="211137"/>
                        <a:pt x="196056" y="211137"/>
                      </a:cubicBezTo>
                      <a:lnTo>
                        <a:pt x="15081" y="211137"/>
                      </a:lnTo>
                      <a:cubicBezTo>
                        <a:pt x="6752" y="211137"/>
                        <a:pt x="0" y="204385"/>
                        <a:pt x="0" y="196056"/>
                      </a:cubicBezTo>
                      <a:lnTo>
                        <a:pt x="0" y="15081"/>
                      </a:lnTo>
                    </a:path>
                  </a:pathLst>
                </a:custGeom>
                <a:noFill/>
                <a:ln w="19050">
                  <a:solidFill>
                    <a:srgbClr val="0071E3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1202531" y="4212431"/>
                  <a:ext cx="90488" cy="904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0488" h="90488">
                      <a:moveTo>
                        <a:pt x="0" y="0"/>
                      </a:moveTo>
                      <a:lnTo>
                        <a:pt x="90488" y="0"/>
                      </a:lnTo>
                      <a:lnTo>
                        <a:pt x="90488" y="90488"/>
                      </a:lnTo>
                      <a:lnTo>
                        <a:pt x="0" y="90488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19050">
                  <a:solidFill>
                    <a:srgbClr val="0071E3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1112044" y="4227512"/>
                  <a:ext cx="30163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63" h="9525">
                      <a:moveTo>
                        <a:pt x="0" y="0"/>
                      </a:moveTo>
                      <a:lnTo>
                        <a:pt x="30163" y="0"/>
                      </a:lnTo>
                    </a:path>
                  </a:pathLst>
                </a:custGeom>
                <a:noFill/>
                <a:ln w="19050">
                  <a:solidFill>
                    <a:srgbClr val="0071E3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7"/>
                <p:cNvSpPr/>
                <p:nvPr/>
              </p:nvSpPr>
              <p:spPr>
                <a:xfrm>
                  <a:off x="1112044" y="4287838"/>
                  <a:ext cx="30163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63" h="9525">
                      <a:moveTo>
                        <a:pt x="0" y="0"/>
                      </a:moveTo>
                      <a:lnTo>
                        <a:pt x="30163" y="0"/>
                      </a:lnTo>
                    </a:path>
                  </a:pathLst>
                </a:custGeom>
                <a:noFill/>
                <a:ln w="19050">
                  <a:solidFill>
                    <a:srgbClr val="0071E3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8" name="Freeform 28"/>
                <p:cNvSpPr/>
                <p:nvPr/>
              </p:nvSpPr>
              <p:spPr>
                <a:xfrm>
                  <a:off x="1217612" y="4121944"/>
                  <a:ext cx="9525" cy="301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0163">
                      <a:moveTo>
                        <a:pt x="0" y="0"/>
                      </a:moveTo>
                      <a:lnTo>
                        <a:pt x="0" y="30163"/>
                      </a:lnTo>
                    </a:path>
                  </a:pathLst>
                </a:custGeom>
                <a:noFill/>
                <a:ln w="19050">
                  <a:solidFill>
                    <a:srgbClr val="0071E3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29" name="Freeform 29"/>
                <p:cNvSpPr/>
                <p:nvPr/>
              </p:nvSpPr>
              <p:spPr>
                <a:xfrm>
                  <a:off x="1277938" y="4121944"/>
                  <a:ext cx="9525" cy="301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0163">
                      <a:moveTo>
                        <a:pt x="0" y="0"/>
                      </a:moveTo>
                      <a:lnTo>
                        <a:pt x="0" y="30163"/>
                      </a:lnTo>
                    </a:path>
                  </a:pathLst>
                </a:custGeom>
                <a:noFill/>
                <a:ln w="19050">
                  <a:solidFill>
                    <a:srgbClr val="0071E3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1353344" y="4227512"/>
                  <a:ext cx="30162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62" h="9525">
                      <a:moveTo>
                        <a:pt x="30162" y="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9050">
                  <a:solidFill>
                    <a:srgbClr val="0071E3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1353344" y="4287838"/>
                  <a:ext cx="30162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62" h="9525">
                      <a:moveTo>
                        <a:pt x="30162" y="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9050">
                  <a:solidFill>
                    <a:srgbClr val="0071E3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2" name="Freeform 32"/>
                <p:cNvSpPr/>
                <p:nvPr/>
              </p:nvSpPr>
              <p:spPr>
                <a:xfrm>
                  <a:off x="1277938" y="4363244"/>
                  <a:ext cx="9525" cy="301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0163">
                      <a:moveTo>
                        <a:pt x="0" y="3016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9050">
                  <a:solidFill>
                    <a:srgbClr val="0071E3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1217612" y="4363244"/>
                  <a:ext cx="9525" cy="301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0163">
                      <a:moveTo>
                        <a:pt x="0" y="3016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9050">
                  <a:solidFill>
                    <a:srgbClr val="0071E3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35" name="TextBox 35"/>
              <p:cNvSpPr txBox="1"/>
              <p:nvPr/>
            </p:nvSpPr>
            <p:spPr>
              <a:xfrm>
                <a:off x="1046798" y="4554379"/>
                <a:ext cx="807913" cy="24237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altLang="en-US" sz="1575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竞赛</a:t>
                </a:r>
                <a:r>
                  <a:rPr lang="zh-CN" sz="1575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实训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1052512" y="494585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覆盖嵌入式、视觉、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052512" y="517445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运动控制与系统集成</a:t>
                </a:r>
              </a:p>
            </p:txBody>
          </p:sp>
        </p:grpSp>
        <p:grpSp>
          <p:nvGrpSpPr>
            <p:cNvPr id="47" name="Group 47"/>
            <p:cNvGrpSpPr/>
            <p:nvPr/>
          </p:nvGrpSpPr>
          <p:grpSpPr>
            <a:xfrm>
              <a:off x="3562350" y="4121944"/>
              <a:ext cx="1950243" cy="1669256"/>
              <a:chOff x="3562350" y="4121944"/>
              <a:chExt cx="1950243" cy="1669256"/>
            </a:xfrm>
          </p:grpSpPr>
          <p:sp>
            <p:nvSpPr>
              <p:cNvPr id="39" name="Line 39"/>
              <p:cNvSpPr/>
              <p:nvPr/>
            </p:nvSpPr>
            <p:spPr>
              <a:xfrm>
                <a:off x="3562350" y="4133850"/>
                <a:ext cx="9525" cy="16573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657350">
                    <a:moveTo>
                      <a:pt x="0" y="0"/>
                    </a:moveTo>
                    <a:lnTo>
                      <a:pt x="0" y="1657350"/>
                    </a:lnTo>
                  </a:path>
                </a:pathLst>
              </a:custGeom>
              <a:noFill/>
              <a:ln w="47625" cap="rnd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43" name="Group 43"/>
              <p:cNvGrpSpPr/>
              <p:nvPr/>
            </p:nvGrpSpPr>
            <p:grpSpPr>
              <a:xfrm>
                <a:off x="3893344" y="4121944"/>
                <a:ext cx="271462" cy="271462"/>
                <a:chOff x="3893344" y="4121944"/>
                <a:chExt cx="271462" cy="271462"/>
              </a:xfrm>
            </p:grpSpPr>
            <p:sp>
              <p:nvSpPr>
                <p:cNvPr id="40" name="Freeform 40"/>
                <p:cNvSpPr/>
                <p:nvPr/>
              </p:nvSpPr>
              <p:spPr>
                <a:xfrm>
                  <a:off x="3893344" y="4333081"/>
                  <a:ext cx="60325" cy="60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325" h="60325">
                      <a:moveTo>
                        <a:pt x="0" y="30162"/>
                      </a:moveTo>
                      <a:cubicBezTo>
                        <a:pt x="0" y="46821"/>
                        <a:pt x="13504" y="60325"/>
                        <a:pt x="30163" y="60325"/>
                      </a:cubicBezTo>
                      <a:cubicBezTo>
                        <a:pt x="46821" y="60325"/>
                        <a:pt x="60325" y="46821"/>
                        <a:pt x="60325" y="30162"/>
                      </a:cubicBezTo>
                      <a:cubicBezTo>
                        <a:pt x="60325" y="13504"/>
                        <a:pt x="46821" y="0"/>
                        <a:pt x="30163" y="0"/>
                      </a:cubicBezTo>
                      <a:cubicBezTo>
                        <a:pt x="13504" y="0"/>
                        <a:pt x="0" y="13504"/>
                        <a:pt x="0" y="30162"/>
                      </a:cubicBezTo>
                    </a:path>
                  </a:pathLst>
                </a:custGeom>
                <a:noFill/>
                <a:ln w="19050">
                  <a:solidFill>
                    <a:srgbClr val="34C759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1" name="Freeform 41"/>
                <p:cNvSpPr/>
                <p:nvPr/>
              </p:nvSpPr>
              <p:spPr>
                <a:xfrm>
                  <a:off x="4104481" y="4121944"/>
                  <a:ext cx="60325" cy="60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325" h="60325">
                      <a:moveTo>
                        <a:pt x="30162" y="60325"/>
                      </a:moveTo>
                      <a:cubicBezTo>
                        <a:pt x="46821" y="60325"/>
                        <a:pt x="60325" y="46821"/>
                        <a:pt x="60325" y="30163"/>
                      </a:cubicBezTo>
                      <a:cubicBezTo>
                        <a:pt x="60325" y="13504"/>
                        <a:pt x="46821" y="0"/>
                        <a:pt x="30162" y="0"/>
                      </a:cubicBezTo>
                      <a:cubicBezTo>
                        <a:pt x="13504" y="0"/>
                        <a:pt x="0" y="13504"/>
                        <a:pt x="0" y="30163"/>
                      </a:cubicBezTo>
                      <a:cubicBezTo>
                        <a:pt x="0" y="46821"/>
                        <a:pt x="13504" y="60325"/>
                        <a:pt x="30162" y="60325"/>
                      </a:cubicBezTo>
                    </a:path>
                  </a:pathLst>
                </a:custGeom>
                <a:noFill/>
                <a:ln w="19050">
                  <a:solidFill>
                    <a:srgbClr val="34C759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42" name="Freeform 42"/>
                <p:cNvSpPr/>
                <p:nvPr/>
              </p:nvSpPr>
              <p:spPr>
                <a:xfrm>
                  <a:off x="3923506" y="4152106"/>
                  <a:ext cx="226219" cy="2111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6219" h="211137">
                      <a:moveTo>
                        <a:pt x="90488" y="211137"/>
                      </a:moveTo>
                      <a:lnTo>
                        <a:pt x="173434" y="211137"/>
                      </a:lnTo>
                      <a:cubicBezTo>
                        <a:pt x="202586" y="211137"/>
                        <a:pt x="226219" y="187505"/>
                        <a:pt x="226219" y="158353"/>
                      </a:cubicBezTo>
                      <a:cubicBezTo>
                        <a:pt x="226219" y="129201"/>
                        <a:pt x="202586" y="105569"/>
                        <a:pt x="173434" y="105569"/>
                      </a:cubicBezTo>
                      <a:lnTo>
                        <a:pt x="52784" y="105569"/>
                      </a:lnTo>
                      <a:cubicBezTo>
                        <a:pt x="23632" y="105569"/>
                        <a:pt x="0" y="81936"/>
                        <a:pt x="0" y="52784"/>
                      </a:cubicBezTo>
                      <a:cubicBezTo>
                        <a:pt x="0" y="23632"/>
                        <a:pt x="23632" y="0"/>
                        <a:pt x="52784" y="0"/>
                      </a:cubicBezTo>
                      <a:lnTo>
                        <a:pt x="120650" y="0"/>
                      </a:lnTo>
                    </a:path>
                  </a:pathLst>
                </a:custGeom>
                <a:noFill/>
                <a:ln w="19050">
                  <a:solidFill>
                    <a:srgbClr val="34C759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44" name="TextBox 44"/>
              <p:cNvSpPr txBox="1"/>
              <p:nvPr/>
            </p:nvSpPr>
            <p:spPr>
              <a:xfrm>
                <a:off x="3828098" y="4554379"/>
                <a:ext cx="922115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仓储试验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3833812" y="4945856"/>
                <a:ext cx="107870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适合轻量物料、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3833812" y="5174456"/>
                <a:ext cx="167878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定点搬运与固定路线验证</a:t>
                </a:r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6343650" y="4106862"/>
              <a:ext cx="1950243" cy="1684338"/>
              <a:chOff x="6343650" y="4106862"/>
              <a:chExt cx="1950243" cy="1684338"/>
            </a:xfrm>
          </p:grpSpPr>
          <p:sp>
            <p:nvSpPr>
              <p:cNvPr id="48" name="Line 48"/>
              <p:cNvSpPr/>
              <p:nvPr/>
            </p:nvSpPr>
            <p:spPr>
              <a:xfrm>
                <a:off x="6343650" y="4133850"/>
                <a:ext cx="9525" cy="16573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657350">
                    <a:moveTo>
                      <a:pt x="0" y="0"/>
                    </a:moveTo>
                    <a:lnTo>
                      <a:pt x="0" y="1657350"/>
                    </a:lnTo>
                  </a:path>
                </a:pathLst>
              </a:custGeom>
              <a:noFill/>
              <a:ln w="47625" cap="rnd">
                <a:solidFill>
                  <a:srgbClr val="0071E3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58" name="Group 58"/>
              <p:cNvGrpSpPr/>
              <p:nvPr/>
            </p:nvGrpSpPr>
            <p:grpSpPr>
              <a:xfrm>
                <a:off x="6704806" y="4106862"/>
                <a:ext cx="211138" cy="286544"/>
                <a:chOff x="6704806" y="4106862"/>
                <a:chExt cx="211138" cy="286544"/>
              </a:xfrm>
            </p:grpSpPr>
            <p:sp>
              <p:nvSpPr>
                <p:cNvPr id="49" name="Freeform 49"/>
                <p:cNvSpPr/>
                <p:nvPr/>
              </p:nvSpPr>
              <p:spPr>
                <a:xfrm>
                  <a:off x="6719888" y="4137025"/>
                  <a:ext cx="180975" cy="120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5" h="120650">
                      <a:moveTo>
                        <a:pt x="0" y="30163"/>
                      </a:moveTo>
                      <a:cubicBezTo>
                        <a:pt x="0" y="13504"/>
                        <a:pt x="13504" y="0"/>
                        <a:pt x="30162" y="0"/>
                      </a:cubicBezTo>
                      <a:lnTo>
                        <a:pt x="150813" y="0"/>
                      </a:lnTo>
                      <a:cubicBezTo>
                        <a:pt x="167471" y="0"/>
                        <a:pt x="180975" y="13504"/>
                        <a:pt x="180975" y="30163"/>
                      </a:cubicBezTo>
                      <a:lnTo>
                        <a:pt x="180975" y="90488"/>
                      </a:lnTo>
                      <a:cubicBezTo>
                        <a:pt x="180975" y="107146"/>
                        <a:pt x="167471" y="120650"/>
                        <a:pt x="150813" y="120650"/>
                      </a:cubicBezTo>
                      <a:lnTo>
                        <a:pt x="30162" y="120650"/>
                      </a:lnTo>
                      <a:cubicBezTo>
                        <a:pt x="13504" y="120650"/>
                        <a:pt x="0" y="107146"/>
                        <a:pt x="0" y="90488"/>
                      </a:cubicBezTo>
                      <a:lnTo>
                        <a:pt x="0" y="30163"/>
                      </a:lnTo>
                    </a:path>
                  </a:pathLst>
                </a:custGeom>
                <a:noFill/>
                <a:ln w="19050">
                  <a:solidFill>
                    <a:srgbClr val="0071E3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0" name="Freeform 50"/>
                <p:cNvSpPr/>
                <p:nvPr/>
              </p:nvSpPr>
              <p:spPr>
                <a:xfrm>
                  <a:off x="6810375" y="4106862"/>
                  <a:ext cx="9525" cy="301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0162">
                      <a:moveTo>
                        <a:pt x="0" y="0"/>
                      </a:moveTo>
                      <a:lnTo>
                        <a:pt x="0" y="30162"/>
                      </a:lnTo>
                    </a:path>
                  </a:pathLst>
                </a:custGeom>
                <a:noFill/>
                <a:ln w="19050">
                  <a:solidFill>
                    <a:srgbClr val="0071E3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1" name="Freeform 51"/>
                <p:cNvSpPr/>
                <p:nvPr/>
              </p:nvSpPr>
              <p:spPr>
                <a:xfrm>
                  <a:off x="6765131" y="4257675"/>
                  <a:ext cx="9525" cy="1357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35731">
                      <a:moveTo>
                        <a:pt x="0" y="0"/>
                      </a:moveTo>
                      <a:lnTo>
                        <a:pt x="0" y="135731"/>
                      </a:lnTo>
                    </a:path>
                  </a:pathLst>
                </a:custGeom>
                <a:noFill/>
                <a:ln w="19050">
                  <a:solidFill>
                    <a:srgbClr val="0071E3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2" name="Freeform 52"/>
                <p:cNvSpPr/>
                <p:nvPr/>
              </p:nvSpPr>
              <p:spPr>
                <a:xfrm>
                  <a:off x="6855619" y="4257675"/>
                  <a:ext cx="9525" cy="1357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35731">
                      <a:moveTo>
                        <a:pt x="0" y="0"/>
                      </a:moveTo>
                      <a:lnTo>
                        <a:pt x="0" y="135731"/>
                      </a:lnTo>
                    </a:path>
                  </a:pathLst>
                </a:custGeom>
                <a:noFill/>
                <a:ln w="19050">
                  <a:solidFill>
                    <a:srgbClr val="0071E3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6704806" y="4287838"/>
                  <a:ext cx="60325" cy="301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325" h="30162">
                      <a:moveTo>
                        <a:pt x="0" y="30162"/>
                      </a:moveTo>
                      <a:lnTo>
                        <a:pt x="60325" y="0"/>
                      </a:lnTo>
                    </a:path>
                  </a:pathLst>
                </a:custGeom>
                <a:noFill/>
                <a:ln w="19050">
                  <a:solidFill>
                    <a:srgbClr val="0071E3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4" name="Freeform 54"/>
                <p:cNvSpPr/>
                <p:nvPr/>
              </p:nvSpPr>
              <p:spPr>
                <a:xfrm>
                  <a:off x="6855619" y="4287838"/>
                  <a:ext cx="60325" cy="301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325" h="30162">
                      <a:moveTo>
                        <a:pt x="0" y="0"/>
                      </a:moveTo>
                      <a:lnTo>
                        <a:pt x="60325" y="30162"/>
                      </a:lnTo>
                    </a:path>
                  </a:pathLst>
                </a:custGeom>
                <a:noFill/>
                <a:ln w="19050">
                  <a:solidFill>
                    <a:srgbClr val="0071E3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5" name="Freeform 55"/>
                <p:cNvSpPr/>
                <p:nvPr/>
              </p:nvSpPr>
              <p:spPr>
                <a:xfrm>
                  <a:off x="6765131" y="4348162"/>
                  <a:ext cx="90488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0488" h="9525">
                      <a:moveTo>
                        <a:pt x="0" y="0"/>
                      </a:moveTo>
                      <a:lnTo>
                        <a:pt x="90488" y="0"/>
                      </a:lnTo>
                    </a:path>
                  </a:pathLst>
                </a:custGeom>
                <a:noFill/>
                <a:ln w="19050">
                  <a:solidFill>
                    <a:srgbClr val="0071E3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6" name="Freeform 56"/>
                <p:cNvSpPr/>
                <p:nvPr/>
              </p:nvSpPr>
              <p:spPr>
                <a:xfrm>
                  <a:off x="6780212" y="419735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51"/>
                      </a:lnTo>
                    </a:path>
                  </a:pathLst>
                </a:custGeom>
                <a:noFill/>
                <a:ln w="19050">
                  <a:solidFill>
                    <a:srgbClr val="0071E3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7" name="Freeform 57"/>
                <p:cNvSpPr/>
                <p:nvPr/>
              </p:nvSpPr>
              <p:spPr>
                <a:xfrm>
                  <a:off x="6840538" y="419735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51"/>
                      </a:lnTo>
                    </a:path>
                  </a:pathLst>
                </a:custGeom>
                <a:noFill/>
                <a:ln w="19050">
                  <a:solidFill>
                    <a:srgbClr val="0071E3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59" name="TextBox 59"/>
              <p:cNvSpPr txBox="1"/>
              <p:nvPr/>
            </p:nvSpPr>
            <p:spPr>
              <a:xfrm>
                <a:off x="6609398" y="4554379"/>
                <a:ext cx="922115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工业辅助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6615112" y="4945856"/>
                <a:ext cx="122872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扩展为视觉定位、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6615112" y="5174456"/>
                <a:ext cx="167878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扫码分拣与柔性投放单元</a:t>
                </a:r>
              </a:p>
            </p:txBody>
          </p:sp>
        </p:grpSp>
        <p:grpSp>
          <p:nvGrpSpPr>
            <p:cNvPr id="70" name="Group 70"/>
            <p:cNvGrpSpPr/>
            <p:nvPr/>
          </p:nvGrpSpPr>
          <p:grpSpPr>
            <a:xfrm>
              <a:off x="9124950" y="4115323"/>
              <a:ext cx="1714165" cy="1675877"/>
              <a:chOff x="9124950" y="4115323"/>
              <a:chExt cx="1714165" cy="1675877"/>
            </a:xfrm>
          </p:grpSpPr>
          <p:sp>
            <p:nvSpPr>
              <p:cNvPr id="63" name="Line 63"/>
              <p:cNvSpPr/>
              <p:nvPr/>
            </p:nvSpPr>
            <p:spPr>
              <a:xfrm>
                <a:off x="9124950" y="4133850"/>
                <a:ext cx="9525" cy="16573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657350">
                    <a:moveTo>
                      <a:pt x="0" y="0"/>
                    </a:moveTo>
                    <a:lnTo>
                      <a:pt x="0" y="1657350"/>
                    </a:lnTo>
                  </a:path>
                </a:pathLst>
              </a:custGeom>
              <a:noFill/>
              <a:ln w="47625" cap="rnd">
                <a:solidFill>
                  <a:srgbClr val="34C759"/>
                </a:solidFill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66" name="Group 66"/>
              <p:cNvGrpSpPr/>
              <p:nvPr/>
            </p:nvGrpSpPr>
            <p:grpSpPr>
              <a:xfrm>
                <a:off x="9449323" y="4115323"/>
                <a:ext cx="284704" cy="284704"/>
                <a:chOff x="9449323" y="4115323"/>
                <a:chExt cx="284704" cy="284704"/>
              </a:xfrm>
            </p:grpSpPr>
            <p:sp>
              <p:nvSpPr>
                <p:cNvPr id="64" name="Freeform 64"/>
                <p:cNvSpPr/>
                <p:nvPr/>
              </p:nvSpPr>
              <p:spPr>
                <a:xfrm>
                  <a:off x="9449323" y="4115323"/>
                  <a:ext cx="284704" cy="2847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4704" h="284704">
                      <a:moveTo>
                        <a:pt x="117091" y="26483"/>
                      </a:moveTo>
                      <a:cubicBezTo>
                        <a:pt x="123515" y="0"/>
                        <a:pt x="161188" y="0"/>
                        <a:pt x="167613" y="26483"/>
                      </a:cubicBezTo>
                      <a:cubicBezTo>
                        <a:pt x="169568" y="34552"/>
                        <a:pt x="175260" y="41202"/>
                        <a:pt x="182930" y="44380"/>
                      </a:cubicBezTo>
                      <a:cubicBezTo>
                        <a:pt x="190601" y="47558"/>
                        <a:pt x="199328" y="46882"/>
                        <a:pt x="206417" y="42559"/>
                      </a:cubicBezTo>
                      <a:cubicBezTo>
                        <a:pt x="229687" y="28383"/>
                        <a:pt x="256336" y="55016"/>
                        <a:pt x="242160" y="78302"/>
                      </a:cubicBezTo>
                      <a:cubicBezTo>
                        <a:pt x="237844" y="85388"/>
                        <a:pt x="237169" y="94108"/>
                        <a:pt x="240343" y="101774"/>
                      </a:cubicBezTo>
                      <a:cubicBezTo>
                        <a:pt x="243517" y="109440"/>
                        <a:pt x="250159" y="115130"/>
                        <a:pt x="258221" y="117091"/>
                      </a:cubicBezTo>
                      <a:cubicBezTo>
                        <a:pt x="284704" y="123515"/>
                        <a:pt x="284704" y="161188"/>
                        <a:pt x="258221" y="167613"/>
                      </a:cubicBezTo>
                      <a:cubicBezTo>
                        <a:pt x="250152" y="169568"/>
                        <a:pt x="243501" y="175260"/>
                        <a:pt x="240324" y="182930"/>
                      </a:cubicBezTo>
                      <a:cubicBezTo>
                        <a:pt x="237146" y="190601"/>
                        <a:pt x="237822" y="199328"/>
                        <a:pt x="242145" y="206417"/>
                      </a:cubicBezTo>
                      <a:cubicBezTo>
                        <a:pt x="256321" y="229687"/>
                        <a:pt x="229687" y="256336"/>
                        <a:pt x="206402" y="242160"/>
                      </a:cubicBezTo>
                      <a:cubicBezTo>
                        <a:pt x="199316" y="237844"/>
                        <a:pt x="190596" y="237169"/>
                        <a:pt x="182930" y="240343"/>
                      </a:cubicBezTo>
                      <a:cubicBezTo>
                        <a:pt x="175264" y="243517"/>
                        <a:pt x="169574" y="250159"/>
                        <a:pt x="167613" y="258221"/>
                      </a:cubicBezTo>
                      <a:cubicBezTo>
                        <a:pt x="161188" y="284704"/>
                        <a:pt x="123515" y="284704"/>
                        <a:pt x="117091" y="258221"/>
                      </a:cubicBezTo>
                      <a:cubicBezTo>
                        <a:pt x="115136" y="250152"/>
                        <a:pt x="109444" y="243501"/>
                        <a:pt x="101774" y="240324"/>
                      </a:cubicBezTo>
                      <a:cubicBezTo>
                        <a:pt x="94103" y="237146"/>
                        <a:pt x="85376" y="237822"/>
                        <a:pt x="78287" y="242145"/>
                      </a:cubicBezTo>
                      <a:cubicBezTo>
                        <a:pt x="55016" y="256321"/>
                        <a:pt x="28368" y="229687"/>
                        <a:pt x="42544" y="206402"/>
                      </a:cubicBezTo>
                      <a:cubicBezTo>
                        <a:pt x="46860" y="199316"/>
                        <a:pt x="47535" y="190596"/>
                        <a:pt x="44361" y="182930"/>
                      </a:cubicBezTo>
                      <a:cubicBezTo>
                        <a:pt x="41187" y="175264"/>
                        <a:pt x="34545" y="169574"/>
                        <a:pt x="26483" y="167613"/>
                      </a:cubicBezTo>
                      <a:cubicBezTo>
                        <a:pt x="0" y="161188"/>
                        <a:pt x="0" y="123515"/>
                        <a:pt x="26483" y="117091"/>
                      </a:cubicBezTo>
                      <a:cubicBezTo>
                        <a:pt x="34552" y="115136"/>
                        <a:pt x="41202" y="109444"/>
                        <a:pt x="44380" y="101774"/>
                      </a:cubicBezTo>
                      <a:cubicBezTo>
                        <a:pt x="47558" y="94103"/>
                        <a:pt x="46882" y="85376"/>
                        <a:pt x="42559" y="78287"/>
                      </a:cubicBezTo>
                      <a:cubicBezTo>
                        <a:pt x="28383" y="55016"/>
                        <a:pt x="55016" y="28368"/>
                        <a:pt x="78302" y="42544"/>
                      </a:cubicBezTo>
                      <a:cubicBezTo>
                        <a:pt x="93383" y="51714"/>
                        <a:pt x="112928" y="43600"/>
                        <a:pt x="117091" y="26483"/>
                      </a:cubicBezTo>
                    </a:path>
                  </a:pathLst>
                </a:custGeom>
                <a:noFill/>
                <a:ln w="19050">
                  <a:solidFill>
                    <a:srgbClr val="34C759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65" name="Freeform 65"/>
                <p:cNvSpPr/>
                <p:nvPr/>
              </p:nvSpPr>
              <p:spPr>
                <a:xfrm>
                  <a:off x="9561512" y="4212431"/>
                  <a:ext cx="75406" cy="904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06" h="90488">
                      <a:moveTo>
                        <a:pt x="0" y="0"/>
                      </a:moveTo>
                      <a:lnTo>
                        <a:pt x="0" y="90488"/>
                      </a:lnTo>
                      <a:lnTo>
                        <a:pt x="75406" y="45244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19050">
                  <a:solidFill>
                    <a:srgbClr val="34C759"/>
                  </a:solidFill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67" name="TextBox 67"/>
              <p:cNvSpPr txBox="1"/>
              <p:nvPr/>
            </p:nvSpPr>
            <p:spPr>
              <a:xfrm>
                <a:off x="9390698" y="4554379"/>
                <a:ext cx="807913" cy="24237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altLang="en-US" sz="1575" b="1" dirty="0">
                    <a:solidFill>
                      <a:srgbClr val="1D1D1F"/>
                    </a:solidFill>
                    <a:latin typeface="Arial"/>
                    <a:ea typeface="Microsoft YaHei"/>
                    <a:cs typeface="Arial"/>
                  </a:rPr>
                  <a:t>环保清洁</a:t>
                </a:r>
                <a:endParaRPr lang="zh-CN" sz="1575" b="1" dirty="0">
                  <a:solidFill>
                    <a:srgbClr val="1D1D1F"/>
                  </a:solidFill>
                  <a:latin typeface="Arial"/>
                  <a:ea typeface="Microsoft YaHei"/>
                  <a:cs typeface="Arial"/>
                </a:endParaRPr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9396412" y="4945856"/>
                <a:ext cx="1009892" cy="1731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altLang="en-US" sz="1125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智能识别废弃物</a:t>
                </a:r>
                <a:endPara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endParaRPr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9396412" y="5174456"/>
                <a:ext cx="1442703" cy="1731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altLang="en-US" sz="1125" dirty="0">
                    <a:solidFill>
                      <a:srgbClr val="6E6E73"/>
                    </a:solidFill>
                    <a:latin typeface="Arial"/>
                    <a:ea typeface="Microsoft YaHei"/>
                    <a:cs typeface="Arial"/>
                  </a:rPr>
                  <a:t>自规划路径与主动抓取</a:t>
                </a:r>
                <a:endParaRPr lang="zh-CN" sz="1125" dirty="0">
                  <a:solidFill>
                    <a:srgbClr val="6E6E73"/>
                  </a:solidFill>
                  <a:latin typeface="Arial"/>
                  <a:ea typeface="Microsoft YaHei"/>
                  <a:cs typeface="Arial"/>
                </a:endParaRPr>
              </a:p>
            </p:txBody>
          </p:sp>
        </p:grpSp>
      </p:grpSp>
      <p:sp>
        <p:nvSpPr>
          <p:cNvPr id="74" name="TextBox 74"/>
          <p:cNvSpPr txBox="1"/>
          <p:nvPr/>
        </p:nvSpPr>
        <p:spPr>
          <a:xfrm>
            <a:off x="11202257" y="6494145"/>
            <a:ext cx="1248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A1A1A6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pic>
        <p:nvPicPr>
          <p:cNvPr id="79" name="图片 78">
            <a:extLst>
              <a:ext uri="{FF2B5EF4-FFF2-40B4-BE49-F238E27FC236}">
                <a16:creationId xmlns:a16="http://schemas.microsoft.com/office/drawing/2014/main" id="{36B9D94D-D250-5FB8-DB1C-558383DC4D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548"/>
          <a:stretch>
            <a:fillRect/>
          </a:stretch>
        </p:blipFill>
        <p:spPr>
          <a:xfrm>
            <a:off x="7922799" y="392826"/>
            <a:ext cx="3149328" cy="34622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7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</TotalTime>
  <Words>2423</Words>
  <Application>Microsoft Office PowerPoint</Application>
  <PresentationFormat>宽屏</PresentationFormat>
  <Paragraphs>278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8" baseType="lpstr"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Chris Green</cp:lastModifiedBy>
  <cp:revision>6</cp:revision>
  <dcterms:created xsi:type="dcterms:W3CDTF">2013-01-27T09:14:16Z</dcterms:created>
  <dcterms:modified xsi:type="dcterms:W3CDTF">2026-07-06T17:21:36Z</dcterms:modified>
  <cp:category/>
</cp:coreProperties>
</file>